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9" roundtripDataSignature="AMtx7mjn8ZrZVTtvRjhHKkDf57/8DTbg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9DFDF7-8922-47BE-BCB8-30E375196ABB}">
  <a:tblStyle styleId="{D39DFDF7-8922-47BE-BCB8-30E375196AB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ff48d289a990e8d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ff48d289a990e8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06bcc2102ac049b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06bcc2102ac049b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4c0b0267f767c5b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4c0b0267f767c5b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4c0b0267f767c5b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4c0b0267f767c5b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4c0b0267f767c5b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4c0b0267f767c5b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7af169dfc50c3245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7af169dfc50c324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7af169dfc50c3245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7af169dfc50c324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7af169dfc50c3245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7af169dfc50c324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7af169dfc50c3245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7af169dfc50c3245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7af169dfc50c3245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7af169dfc50c3245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7af169dfc50c3245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7af169dfc50c3245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7af169dfc50c3245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7af169dfc50c3245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7af169dfc50c3245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7af169dfc50c3245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4c0b0267f767c5b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4c0b0267f767c5b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7af169dfc50c3245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7af169dfc50c3245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7af169dfc50c3245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7af169dfc50c3245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7af169dfc50c3245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7af169dfc50c3245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a4bc53d5f5dde08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a4bc53d5f5dde08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7af169dfc50c3245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7af169dfc50c3245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a4bc53d5f5dde08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a4bc53d5f5dde0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4c0b0267f767c5b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4c0b0267f767c5b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a4bc53d5f5dde08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a4bc53d5f5dde08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a4bc53d5f5dde08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a4bc53d5f5dde08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4c0b0267f767c5b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4c0b0267f767c5b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4c0b0267f767c5b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4c0b0267f767c5b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7af169dfc50c3245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7af169dfc50c3245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a4bc53d5f5dde08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a4bc53d5f5dde08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7af169dfc50c3245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7af169dfc50c3245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7af169dfc50c3245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7af169dfc50c3245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7af169dfc50c3245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7af169dfc50c3245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7af169dfc50c3245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7af169dfc50c3245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a4bc53d5f5dde08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a4bc53d5f5dde08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a4bc53d5f5dde08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a4bc53d5f5dde08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g2ff48d289a990e8d_0"/>
          <p:cNvPicPr preferRelativeResize="0"/>
          <p:nvPr/>
        </p:nvPicPr>
        <p:blipFill>
          <a:blip r:embed="rId3">
            <a:alphaModFix/>
          </a:blip>
          <a:stretch>
            <a:fillRect/>
          </a:stretch>
        </p:blipFill>
        <p:spPr>
          <a:xfrm>
            <a:off x="0" y="0"/>
            <a:ext cx="9144000" cy="7045050"/>
          </a:xfrm>
          <a:prstGeom prst="rect">
            <a:avLst/>
          </a:prstGeom>
          <a:noFill/>
          <a:ln>
            <a:noFill/>
          </a:ln>
        </p:spPr>
      </p:pic>
      <p:pic>
        <p:nvPicPr>
          <p:cNvPr id="85" name="Google Shape;85;g2ff48d289a990e8d_0"/>
          <p:cNvPicPr preferRelativeResize="0"/>
          <p:nvPr/>
        </p:nvPicPr>
        <p:blipFill>
          <a:blip r:embed="rId4">
            <a:alphaModFix/>
          </a:blip>
          <a:stretch>
            <a:fillRect/>
          </a:stretch>
        </p:blipFill>
        <p:spPr>
          <a:xfrm>
            <a:off x="6972975" y="216450"/>
            <a:ext cx="1688000" cy="14447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706bcc2102ac049b_0"/>
          <p:cNvSpPr txBox="1"/>
          <p:nvPr>
            <p:ph type="title"/>
          </p:nvPr>
        </p:nvSpPr>
        <p:spPr>
          <a:xfrm>
            <a:off x="457200" y="352125"/>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Team </a:t>
            </a:r>
            <a:endParaRPr/>
          </a:p>
          <a:p>
            <a:pPr indent="0" lvl="0" marL="0" rtl="0" algn="ctr">
              <a:spcBef>
                <a:spcPts val="0"/>
              </a:spcBef>
              <a:spcAft>
                <a:spcPts val="0"/>
              </a:spcAft>
              <a:buNone/>
            </a:pPr>
            <a:r>
              <a:rPr lang="en-US"/>
              <a:t>Members </a:t>
            </a:r>
            <a:endParaRPr/>
          </a:p>
        </p:txBody>
      </p:sp>
      <p:sp>
        <p:nvSpPr>
          <p:cNvPr id="91" name="Google Shape;91;g706bcc2102ac049b_0"/>
          <p:cNvSpPr txBox="1"/>
          <p:nvPr>
            <p:ph idx="1" type="body"/>
          </p:nvPr>
        </p:nvSpPr>
        <p:spPr>
          <a:xfrm>
            <a:off x="1991410" y="2793366"/>
            <a:ext cx="8422200" cy="3113700"/>
          </a:xfrm>
          <a:prstGeom prst="rect">
            <a:avLst/>
          </a:prstGeom>
        </p:spPr>
        <p:txBody>
          <a:bodyPr anchorCtr="0" anchor="t" bIns="45700" lIns="91425" spcFirstLastPara="1" rIns="91425" wrap="square" tIns="45700">
            <a:normAutofit lnSpcReduction="20000"/>
          </a:bodyPr>
          <a:lstStyle/>
          <a:p>
            <a:pPr indent="0" lvl="0" marL="0" rtl="0" algn="l">
              <a:spcBef>
                <a:spcPts val="360"/>
              </a:spcBef>
              <a:spcAft>
                <a:spcPts val="0"/>
              </a:spcAft>
              <a:buNone/>
            </a:pPr>
            <a:r>
              <a:rPr lang="en-US"/>
              <a:t>24KD1A0220 - B.PRAVEEN</a:t>
            </a:r>
            <a:endParaRPr/>
          </a:p>
          <a:p>
            <a:pPr indent="0" lvl="0" marL="0" rtl="0" algn="l">
              <a:spcBef>
                <a:spcPts val="360"/>
              </a:spcBef>
              <a:spcAft>
                <a:spcPts val="0"/>
              </a:spcAft>
              <a:buNone/>
            </a:pPr>
            <a:r>
              <a:rPr lang="en-US"/>
              <a:t>24KD1A0223 - B.DILEEP</a:t>
            </a:r>
            <a:endParaRPr/>
          </a:p>
          <a:p>
            <a:pPr indent="0" lvl="0" marL="0" rtl="0" algn="l">
              <a:spcBef>
                <a:spcPts val="360"/>
              </a:spcBef>
              <a:spcAft>
                <a:spcPts val="0"/>
              </a:spcAft>
              <a:buNone/>
            </a:pPr>
            <a:r>
              <a:rPr lang="en-US"/>
              <a:t>24KD1A0229 - CH.ROHITH</a:t>
            </a:r>
            <a:endParaRPr/>
          </a:p>
          <a:p>
            <a:pPr indent="0" lvl="0" marL="0" rtl="0" algn="l">
              <a:spcBef>
                <a:spcPts val="360"/>
              </a:spcBef>
              <a:spcAft>
                <a:spcPts val="0"/>
              </a:spcAft>
              <a:buNone/>
            </a:pPr>
            <a:r>
              <a:rPr lang="en-US"/>
              <a:t>24KD1A0231 - D.LOKEASWARI</a:t>
            </a:r>
            <a:endParaRPr/>
          </a:p>
          <a:p>
            <a:pPr indent="0" lvl="0" marL="0" rtl="0" algn="l">
              <a:spcBef>
                <a:spcPts val="360"/>
              </a:spcBef>
              <a:spcAft>
                <a:spcPts val="0"/>
              </a:spcAft>
              <a:buNone/>
            </a:pPr>
            <a:r>
              <a:rPr lang="en-US"/>
              <a:t>24KD1A0232 - D.KRISHNA KUMAR</a:t>
            </a:r>
            <a:endParaRPr/>
          </a:p>
          <a:p>
            <a:pPr indent="0" lvl="0" marL="0" rtl="0" algn="l">
              <a:spcBef>
                <a:spcPts val="360"/>
              </a:spcBef>
              <a:spcAft>
                <a:spcPts val="0"/>
              </a:spcAft>
              <a:buNone/>
            </a:pPr>
            <a:r>
              <a:rPr lang="en-US"/>
              <a:t>24KD1A0233 - D.SAI KUMAR</a:t>
            </a:r>
            <a:endParaRPr/>
          </a:p>
          <a:p>
            <a:pPr indent="0" lvl="0" marL="0" rtl="0" algn="l">
              <a:spcBef>
                <a:spcPts val="360"/>
              </a:spcBef>
              <a:spcAft>
                <a:spcPts val="0"/>
              </a:spcAft>
              <a:buNone/>
            </a:pPr>
            <a:r>
              <a:rPr lang="en-US"/>
              <a:t>24KD1A0238 - G.LAVANYA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24c0b0267f767c5b_0"/>
          <p:cNvSpPr txBox="1"/>
          <p:nvPr>
            <p:ph type="ctrTitle"/>
          </p:nvPr>
        </p:nvSpPr>
        <p:spPr>
          <a:xfrm>
            <a:off x="-3" y="494919"/>
            <a:ext cx="5875200" cy="2461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“Fault detection in</a:t>
            </a:r>
            <a:endParaRPr/>
          </a:p>
          <a:p>
            <a:pPr indent="0" lvl="0" marL="0" rtl="0" algn="ctr">
              <a:spcBef>
                <a:spcPts val="0"/>
              </a:spcBef>
              <a:spcAft>
                <a:spcPts val="0"/>
              </a:spcAft>
              <a:buNone/>
            </a:pPr>
            <a:r>
              <a:rPr lang="en-US"/>
              <a:t> transmission lines </a:t>
            </a:r>
            <a:endParaRPr/>
          </a:p>
          <a:p>
            <a:pPr indent="0" lvl="0" marL="0" rtl="0" algn="ctr">
              <a:spcBef>
                <a:spcPts val="0"/>
              </a:spcBef>
              <a:spcAft>
                <a:spcPts val="0"/>
              </a:spcAft>
              <a:buNone/>
            </a:pPr>
            <a:r>
              <a:rPr lang="en-US"/>
              <a:t>with IOT “</a:t>
            </a:r>
            <a:endParaRPr/>
          </a:p>
        </p:txBody>
      </p:sp>
      <p:pic>
        <p:nvPicPr>
          <p:cNvPr id="97" name="Google Shape;97;g24c0b0267f767c5b_0"/>
          <p:cNvPicPr preferRelativeResize="0"/>
          <p:nvPr/>
        </p:nvPicPr>
        <p:blipFill>
          <a:blip r:embed="rId3">
            <a:alphaModFix/>
          </a:blip>
          <a:stretch>
            <a:fillRect/>
          </a:stretch>
        </p:blipFill>
        <p:spPr>
          <a:xfrm>
            <a:off x="3073775" y="2956425"/>
            <a:ext cx="5307725" cy="3650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24c0b0267f767c5b_9"/>
          <p:cNvSpPr txBox="1"/>
          <p:nvPr>
            <p:ph type="ctrTitle"/>
          </p:nvPr>
        </p:nvSpPr>
        <p:spPr>
          <a:xfrm>
            <a:off x="572699" y="421327"/>
            <a:ext cx="3999300" cy="17526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CONTENTS</a:t>
            </a:r>
            <a:endParaRPr/>
          </a:p>
        </p:txBody>
      </p:sp>
      <p:sp>
        <p:nvSpPr>
          <p:cNvPr id="103" name="Google Shape;103;g24c0b0267f767c5b_9"/>
          <p:cNvSpPr txBox="1"/>
          <p:nvPr>
            <p:ph idx="1" type="subTitle"/>
          </p:nvPr>
        </p:nvSpPr>
        <p:spPr>
          <a:xfrm>
            <a:off x="572700" y="2173925"/>
            <a:ext cx="6400800" cy="3334500"/>
          </a:xfrm>
          <a:prstGeom prst="rect">
            <a:avLst/>
          </a:prstGeom>
        </p:spPr>
        <p:txBody>
          <a:bodyPr anchorCtr="0" anchor="t" bIns="45700" lIns="91425" spcFirstLastPara="1" rIns="91425" wrap="square" tIns="45700">
            <a:normAutofit fontScale="85000" lnSpcReduction="20000"/>
          </a:bodyPr>
          <a:lstStyle/>
          <a:p>
            <a:pPr indent="-401320" lvl="0" marL="457200" rtl="0" algn="just">
              <a:spcBef>
                <a:spcPts val="640"/>
              </a:spcBef>
              <a:spcAft>
                <a:spcPts val="0"/>
              </a:spcAft>
              <a:buSzPct val="100000"/>
              <a:buAutoNum type="arabicPeriod"/>
            </a:pPr>
            <a:r>
              <a:rPr lang="en-US"/>
              <a:t>Introduction to design thinking</a:t>
            </a:r>
            <a:endParaRPr/>
          </a:p>
          <a:p>
            <a:pPr indent="-401320" lvl="0" marL="457200" rtl="0" algn="just">
              <a:spcBef>
                <a:spcPts val="0"/>
              </a:spcBef>
              <a:spcAft>
                <a:spcPts val="0"/>
              </a:spcAft>
              <a:buSzPct val="100000"/>
              <a:buAutoNum type="arabicPeriod"/>
            </a:pPr>
            <a:r>
              <a:rPr lang="en-US"/>
              <a:t>Problem statement </a:t>
            </a:r>
            <a:endParaRPr/>
          </a:p>
          <a:p>
            <a:pPr indent="-401320" lvl="0" marL="457200" rtl="0" algn="just">
              <a:spcBef>
                <a:spcPts val="0"/>
              </a:spcBef>
              <a:spcAft>
                <a:spcPts val="0"/>
              </a:spcAft>
              <a:buSzPct val="100000"/>
              <a:buAutoNum type="arabicPeriod"/>
            </a:pPr>
            <a:r>
              <a:rPr lang="en-US"/>
              <a:t>Empathy </a:t>
            </a:r>
            <a:endParaRPr/>
          </a:p>
          <a:p>
            <a:pPr indent="-401320" lvl="0" marL="457200" rtl="0" algn="just">
              <a:spcBef>
                <a:spcPts val="0"/>
              </a:spcBef>
              <a:spcAft>
                <a:spcPts val="0"/>
              </a:spcAft>
              <a:buSzPct val="100000"/>
              <a:buAutoNum type="arabicPeriod"/>
            </a:pPr>
            <a:r>
              <a:rPr lang="en-US"/>
              <a:t>Define </a:t>
            </a:r>
            <a:endParaRPr/>
          </a:p>
          <a:p>
            <a:pPr indent="-401320" lvl="0" marL="457200" rtl="0" algn="just">
              <a:spcBef>
                <a:spcPts val="0"/>
              </a:spcBef>
              <a:spcAft>
                <a:spcPts val="0"/>
              </a:spcAft>
              <a:buSzPct val="100000"/>
              <a:buAutoNum type="arabicPeriod"/>
            </a:pPr>
            <a:r>
              <a:rPr lang="en-US"/>
              <a:t>Ideate </a:t>
            </a:r>
            <a:endParaRPr/>
          </a:p>
          <a:p>
            <a:pPr indent="-401320" lvl="0" marL="457200" rtl="0" algn="just">
              <a:spcBef>
                <a:spcPts val="0"/>
              </a:spcBef>
              <a:spcAft>
                <a:spcPts val="0"/>
              </a:spcAft>
              <a:buSzPct val="100000"/>
              <a:buAutoNum type="arabicPeriod"/>
            </a:pPr>
            <a:r>
              <a:rPr lang="en-US"/>
              <a:t>Story boarding </a:t>
            </a:r>
            <a:endParaRPr/>
          </a:p>
          <a:p>
            <a:pPr indent="-401320" lvl="0" marL="457200" rtl="0" algn="just">
              <a:spcBef>
                <a:spcPts val="0"/>
              </a:spcBef>
              <a:spcAft>
                <a:spcPts val="0"/>
              </a:spcAft>
              <a:buSzPct val="100000"/>
              <a:buAutoNum type="arabicPeriod"/>
            </a:pPr>
            <a:r>
              <a:rPr lang="en-US"/>
              <a:t>Prototype </a:t>
            </a:r>
            <a:endParaRPr/>
          </a:p>
          <a:p>
            <a:pPr indent="-401320" lvl="0" marL="457200" rtl="0" algn="just">
              <a:spcBef>
                <a:spcPts val="0"/>
              </a:spcBef>
              <a:spcAft>
                <a:spcPts val="0"/>
              </a:spcAft>
              <a:buSzPct val="100000"/>
              <a:buAutoNum type="arabicPeriod"/>
            </a:pPr>
            <a:r>
              <a:rPr lang="en-US"/>
              <a:t>Prototype expl</a:t>
            </a:r>
            <a:r>
              <a:rPr lang="en-US"/>
              <a:t>aining story </a:t>
            </a:r>
            <a:endParaRPr/>
          </a:p>
          <a:p>
            <a:pPr indent="-401320" lvl="0" marL="457200" rtl="0" algn="just">
              <a:spcBef>
                <a:spcPts val="0"/>
              </a:spcBef>
              <a:spcAft>
                <a:spcPts val="0"/>
              </a:spcAft>
              <a:buSzPct val="100000"/>
              <a:buAutoNum type="arabicPeriod"/>
            </a:pPr>
            <a:r>
              <a:rPr lang="en-US"/>
              <a:t>Conclusion.         </a:t>
            </a:r>
            <a:endParaRPr/>
          </a:p>
        </p:txBody>
      </p:sp>
      <p:sp>
        <p:nvSpPr>
          <p:cNvPr id="104" name="Google Shape;104;g24c0b0267f767c5b_9"/>
          <p:cNvSpPr txBox="1"/>
          <p:nvPr/>
        </p:nvSpPr>
        <p:spPr>
          <a:xfrm>
            <a:off x="-4575" y="4724420"/>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
          <p:cNvSpPr txBox="1"/>
          <p:nvPr>
            <p:ph type="title"/>
          </p:nvPr>
        </p:nvSpPr>
        <p:spPr>
          <a:xfrm>
            <a:off x="278700" y="3"/>
            <a:ext cx="8586600" cy="722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1. Introduction to Design Thinking</a:t>
            </a:r>
            <a:endParaRPr/>
          </a:p>
        </p:txBody>
      </p:sp>
      <p:sp>
        <p:nvSpPr>
          <p:cNvPr id="110" name="Google Shape;110;p2"/>
          <p:cNvSpPr txBox="1"/>
          <p:nvPr>
            <p:ph idx="1" type="body"/>
          </p:nvPr>
        </p:nvSpPr>
        <p:spPr>
          <a:xfrm>
            <a:off x="581200" y="3999000"/>
            <a:ext cx="8586600" cy="2859000"/>
          </a:xfrm>
          <a:prstGeom prst="rect">
            <a:avLst/>
          </a:prstGeom>
          <a:noFill/>
          <a:ln>
            <a:noFill/>
          </a:ln>
        </p:spPr>
        <p:txBody>
          <a:bodyPr anchorCtr="0" anchor="t" bIns="45700" lIns="91425" spcFirstLastPara="1" rIns="91425" wrap="square" tIns="45700">
            <a:normAutofit fontScale="85000" lnSpcReduction="20000"/>
          </a:bodyPr>
          <a:lstStyle/>
          <a:p>
            <a:pPr indent="-312420" lvl="0" marL="342900" rtl="0" algn="l">
              <a:lnSpc>
                <a:spcPct val="100000"/>
              </a:lnSpc>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Design thinking is a problem‑solving approach that focuses on understanding user needs and developing innovative solutions.</a:t>
            </a:r>
            <a:endParaRPr/>
          </a:p>
          <a:p>
            <a:pPr indent="-312420" lvl="0" marL="342900" rtl="0" algn="l">
              <a:lnSpc>
                <a:spcPct val="100000"/>
              </a:lnSpc>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Steps include Empathy, Define, Ideate, Prototype, and Test.</a:t>
            </a:r>
            <a:endParaRPr/>
          </a:p>
          <a:p>
            <a:pPr indent="-312420" lvl="0" marL="342900" rtl="0" algn="l">
              <a:lnSpc>
                <a:spcPct val="100000"/>
              </a:lnSpc>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In this project, design thinking is used to develop an effective fault detection system for transmission lines.</a:t>
            </a:r>
            <a:endParaRPr/>
          </a:p>
        </p:txBody>
      </p:sp>
      <p:pic>
        <p:nvPicPr>
          <p:cNvPr id="111" name="Google Shape;111;p2"/>
          <p:cNvPicPr preferRelativeResize="0"/>
          <p:nvPr/>
        </p:nvPicPr>
        <p:blipFill>
          <a:blip r:embed="rId3">
            <a:alphaModFix/>
          </a:blip>
          <a:stretch>
            <a:fillRect/>
          </a:stretch>
        </p:blipFill>
        <p:spPr>
          <a:xfrm>
            <a:off x="2114541" y="722400"/>
            <a:ext cx="4914919" cy="3276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g24c0b0267f767c5b_18"/>
          <p:cNvPicPr preferRelativeResize="0"/>
          <p:nvPr/>
        </p:nvPicPr>
        <p:blipFill>
          <a:blip r:embed="rId3">
            <a:alphaModFix/>
          </a:blip>
          <a:stretch>
            <a:fillRect/>
          </a:stretch>
        </p:blipFill>
        <p:spPr>
          <a:xfrm>
            <a:off x="152400" y="152400"/>
            <a:ext cx="8819850" cy="67055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2. Problem Statement</a:t>
            </a:r>
            <a:endParaRPr/>
          </a:p>
        </p:txBody>
      </p:sp>
      <p:sp>
        <p:nvSpPr>
          <p:cNvPr id="122" name="Google Shape;122;p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Transmission lines carry electrical power over long distances.</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Faults such as short circuits, line breaks, or insulation failure can interrupt power supply.</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The problem is to quickly detect and locate faults in transmission lines to reduce power outages and improve system reliability.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457200" y="274650"/>
            <a:ext cx="3581700" cy="1325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3. Empathy</a:t>
            </a:r>
            <a:endParaRPr/>
          </a:p>
        </p:txBody>
      </p:sp>
      <p:pic>
        <p:nvPicPr>
          <p:cNvPr id="128" name="Google Shape;128;p5"/>
          <p:cNvPicPr preferRelativeResize="0"/>
          <p:nvPr/>
        </p:nvPicPr>
        <p:blipFill>
          <a:blip r:embed="rId3">
            <a:alphaModFix/>
          </a:blip>
          <a:stretch>
            <a:fillRect/>
          </a:stretch>
        </p:blipFill>
        <p:spPr>
          <a:xfrm>
            <a:off x="4572000" y="978051"/>
            <a:ext cx="4326300" cy="4826905"/>
          </a:xfrm>
          <a:prstGeom prst="rect">
            <a:avLst/>
          </a:prstGeom>
          <a:noFill/>
          <a:ln>
            <a:noFill/>
          </a:ln>
        </p:spPr>
      </p:pic>
      <p:sp>
        <p:nvSpPr>
          <p:cNvPr id="129" name="Google Shape;129;p5"/>
          <p:cNvSpPr txBox="1"/>
          <p:nvPr/>
        </p:nvSpPr>
        <p:spPr>
          <a:xfrm>
            <a:off x="457203" y="1908327"/>
            <a:ext cx="9144000" cy="3128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1.5 why's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2.Interview questions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3.Persona's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4.Empathy map</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5.Experience map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7af169dfc50c3245_1"/>
          <p:cNvSpPr txBox="1"/>
          <p:nvPr>
            <p:ph idx="4294967295" type="ctrTitle"/>
          </p:nvPr>
        </p:nvSpPr>
        <p:spPr>
          <a:xfrm>
            <a:off x="342569" y="-268373"/>
            <a:ext cx="7772400" cy="1470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5 WHY’S ?</a:t>
            </a:r>
            <a:endParaRPr/>
          </a:p>
        </p:txBody>
      </p:sp>
      <p:sp>
        <p:nvSpPr>
          <p:cNvPr id="135" name="Google Shape;135;g7af169dfc50c3245_1"/>
          <p:cNvSpPr txBox="1"/>
          <p:nvPr/>
        </p:nvSpPr>
        <p:spPr>
          <a:xfrm>
            <a:off x="167250" y="1201615"/>
            <a:ext cx="8809500" cy="520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latin typeface="Calibri"/>
                <a:ea typeface="Calibri"/>
                <a:cs typeface="Calibri"/>
                <a:sym typeface="Calibri"/>
              </a:rPr>
              <a:t>1. Why do faults occur in transmission lines?</a:t>
            </a:r>
            <a:endParaRPr sz="3600">
              <a:solidFill>
                <a:schemeClr val="dk1"/>
              </a:solidFill>
              <a:latin typeface="Calibri"/>
              <a:ea typeface="Calibri"/>
              <a:cs typeface="Calibri"/>
              <a:sym typeface="Calibri"/>
            </a:endParaRPr>
          </a:p>
          <a:p>
            <a:pPr indent="0" lvl="0" marL="0" rtl="0" algn="l">
              <a:spcBef>
                <a:spcPts val="0"/>
              </a:spcBef>
              <a:spcAft>
                <a:spcPts val="0"/>
              </a:spcAft>
              <a:buNone/>
            </a:pPr>
            <a:r>
              <a:rPr lang="en-US" sz="3600">
                <a:solidFill>
                  <a:schemeClr val="dk1"/>
                </a:solidFill>
                <a:latin typeface="Calibri"/>
                <a:ea typeface="Calibri"/>
                <a:cs typeface="Calibri"/>
                <a:sym typeface="Calibri"/>
              </a:rPr>
              <a:t>2. Why is fault detection important in power systems?</a:t>
            </a:r>
            <a:endParaRPr sz="3600">
              <a:solidFill>
                <a:schemeClr val="dk1"/>
              </a:solidFill>
              <a:latin typeface="Calibri"/>
              <a:ea typeface="Calibri"/>
              <a:cs typeface="Calibri"/>
              <a:sym typeface="Calibri"/>
            </a:endParaRPr>
          </a:p>
          <a:p>
            <a:pPr indent="0" lvl="0" marL="0" rtl="0" algn="l">
              <a:spcBef>
                <a:spcPts val="0"/>
              </a:spcBef>
              <a:spcAft>
                <a:spcPts val="0"/>
              </a:spcAft>
              <a:buNone/>
            </a:pPr>
            <a:r>
              <a:rPr lang="en-US" sz="3600">
                <a:solidFill>
                  <a:schemeClr val="dk1"/>
                </a:solidFill>
                <a:latin typeface="Calibri"/>
                <a:ea typeface="Calibri"/>
                <a:cs typeface="Calibri"/>
                <a:sym typeface="Calibri"/>
              </a:rPr>
              <a:t>3. Why are IoT devices used in transmission line fault detection?</a:t>
            </a:r>
            <a:endParaRPr sz="3600">
              <a:solidFill>
                <a:schemeClr val="dk1"/>
              </a:solidFill>
              <a:latin typeface="Calibri"/>
              <a:ea typeface="Calibri"/>
              <a:cs typeface="Calibri"/>
              <a:sym typeface="Calibri"/>
            </a:endParaRPr>
          </a:p>
          <a:p>
            <a:pPr indent="0" lvl="0" marL="0" rtl="0" algn="l">
              <a:spcBef>
                <a:spcPts val="0"/>
              </a:spcBef>
              <a:spcAft>
                <a:spcPts val="0"/>
              </a:spcAft>
              <a:buNone/>
            </a:pPr>
            <a:r>
              <a:rPr lang="en-US" sz="3600">
                <a:solidFill>
                  <a:schemeClr val="dk1"/>
                </a:solidFill>
                <a:latin typeface="Calibri"/>
                <a:ea typeface="Calibri"/>
                <a:cs typeface="Calibri"/>
                <a:sym typeface="Calibri"/>
              </a:rPr>
              <a:t>4. Why do transmission lines get damaged during bad weather conditions?</a:t>
            </a:r>
            <a:endParaRPr sz="3600">
              <a:solidFill>
                <a:schemeClr val="dk1"/>
              </a:solidFill>
              <a:latin typeface="Calibri"/>
              <a:ea typeface="Calibri"/>
              <a:cs typeface="Calibri"/>
              <a:sym typeface="Calibri"/>
            </a:endParaRPr>
          </a:p>
          <a:p>
            <a:pPr indent="0" lvl="0" marL="0" rtl="0" algn="l">
              <a:spcBef>
                <a:spcPts val="0"/>
              </a:spcBef>
              <a:spcAft>
                <a:spcPts val="0"/>
              </a:spcAft>
              <a:buNone/>
            </a:pPr>
            <a:r>
              <a:rPr lang="en-US" sz="3600">
                <a:solidFill>
                  <a:schemeClr val="dk1"/>
                </a:solidFill>
                <a:latin typeface="Calibri"/>
                <a:ea typeface="Calibri"/>
                <a:cs typeface="Calibri"/>
                <a:sym typeface="Calibri"/>
              </a:rPr>
              <a:t>5. Why is quick fault identification necessary to avoid power interruptions?</a:t>
            </a:r>
            <a:endParaRPr sz="36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7af169dfc50c3245_6"/>
          <p:cNvSpPr txBox="1"/>
          <p:nvPr>
            <p:ph type="title"/>
          </p:nvPr>
        </p:nvSpPr>
        <p:spPr>
          <a:xfrm>
            <a:off x="457200" y="-12"/>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Our thoughts on 5 why’s </a:t>
            </a:r>
            <a:endParaRPr/>
          </a:p>
        </p:txBody>
      </p:sp>
      <p:sp>
        <p:nvSpPr>
          <p:cNvPr id="141" name="Google Shape;141;g7af169dfc50c3245_6"/>
          <p:cNvSpPr txBox="1"/>
          <p:nvPr>
            <p:ph idx="1" type="body"/>
          </p:nvPr>
        </p:nvSpPr>
        <p:spPr>
          <a:xfrm>
            <a:off x="457200" y="2122654"/>
            <a:ext cx="8229600" cy="4526100"/>
          </a:xfrm>
          <a:prstGeom prst="rect">
            <a:avLst/>
          </a:prstGeom>
        </p:spPr>
        <p:txBody>
          <a:bodyPr anchorCtr="0" anchor="t" bIns="45700" lIns="91425" spcFirstLastPara="1" rIns="91425" wrap="square" tIns="45700">
            <a:normAutofit fontScale="70000" lnSpcReduction="10000"/>
          </a:bodyPr>
          <a:lstStyle/>
          <a:p>
            <a:pPr indent="0" lvl="0" marL="0" rtl="0" algn="l">
              <a:spcBef>
                <a:spcPts val="360"/>
              </a:spcBef>
              <a:spcAft>
                <a:spcPts val="0"/>
              </a:spcAft>
              <a:buNone/>
            </a:pPr>
            <a:r>
              <a:rPr lang="en-US"/>
              <a:t>Q1. Why faults occur in transmission lines?</a:t>
            </a:r>
            <a:endParaRPr/>
          </a:p>
          <a:p>
            <a:pPr indent="0" lvl="0" marL="0" rtl="0" algn="l">
              <a:spcBef>
                <a:spcPts val="360"/>
              </a:spcBef>
              <a:spcAft>
                <a:spcPts val="0"/>
              </a:spcAft>
              <a:buNone/>
            </a:pPr>
            <a:r>
              <a:rPr lang="en-US"/>
              <a:t>A: Faults occur due to insulation failure, lightning, or short circuits.</a:t>
            </a:r>
            <a:endParaRPr/>
          </a:p>
          <a:p>
            <a:pPr indent="0" lvl="0" marL="0" rtl="0" algn="l">
              <a:spcBef>
                <a:spcPts val="360"/>
              </a:spcBef>
              <a:spcAft>
                <a:spcPts val="0"/>
              </a:spcAft>
              <a:buNone/>
            </a:pPr>
            <a:r>
              <a:rPr lang="en-US"/>
              <a:t>Q2. Why is fault detection important in power systems?</a:t>
            </a:r>
            <a:endParaRPr/>
          </a:p>
          <a:p>
            <a:pPr indent="0" lvl="0" marL="0" rtl="0" algn="l">
              <a:spcBef>
                <a:spcPts val="360"/>
              </a:spcBef>
              <a:spcAft>
                <a:spcPts val="0"/>
              </a:spcAft>
              <a:buNone/>
            </a:pPr>
            <a:r>
              <a:rPr lang="en-US"/>
              <a:t>A: Fault detection helps maintain continuous power supply.</a:t>
            </a:r>
            <a:endParaRPr/>
          </a:p>
          <a:p>
            <a:pPr indent="0" lvl="0" marL="0" rtl="0" algn="l">
              <a:spcBef>
                <a:spcPts val="360"/>
              </a:spcBef>
              <a:spcAft>
                <a:spcPts val="0"/>
              </a:spcAft>
              <a:buNone/>
            </a:pPr>
            <a:r>
              <a:rPr lang="en-US"/>
              <a:t>Q3. Why are IoT devices used in transmission line fault detection?</a:t>
            </a:r>
            <a:endParaRPr/>
          </a:p>
          <a:p>
            <a:pPr indent="0" lvl="0" marL="0" rtl="0" algn="l">
              <a:spcBef>
                <a:spcPts val="360"/>
              </a:spcBef>
              <a:spcAft>
                <a:spcPts val="0"/>
              </a:spcAft>
              <a:buNone/>
            </a:pPr>
            <a:r>
              <a:rPr lang="en-US"/>
              <a:t>A: IoT devices provide real-time monitoring of transmission lines.</a:t>
            </a:r>
            <a:endParaRPr/>
          </a:p>
          <a:p>
            <a:pPr indent="0" lvl="0" marL="0" rtl="0" algn="l">
              <a:spcBef>
                <a:spcPts val="360"/>
              </a:spcBef>
              <a:spcAft>
                <a:spcPts val="0"/>
              </a:spcAft>
              <a:buNone/>
            </a:pPr>
            <a:r>
              <a:rPr lang="en-US"/>
              <a:t>Q4. Why do transmission lines get damaged during bad weather conditions?</a:t>
            </a:r>
            <a:endParaRPr/>
          </a:p>
          <a:p>
            <a:pPr indent="0" lvl="0" marL="0" rtl="0" algn="l">
              <a:spcBef>
                <a:spcPts val="360"/>
              </a:spcBef>
              <a:spcAft>
                <a:spcPts val="0"/>
              </a:spcAft>
              <a:buNone/>
            </a:pPr>
            <a:r>
              <a:rPr lang="en-US"/>
              <a:t>A: Bad weather weakens conductors and damages insulators.</a:t>
            </a:r>
            <a:endParaRPr/>
          </a:p>
          <a:p>
            <a:pPr indent="0" lvl="0" marL="0" rtl="0" algn="l">
              <a:spcBef>
                <a:spcPts val="360"/>
              </a:spcBef>
              <a:spcAft>
                <a:spcPts val="0"/>
              </a:spcAft>
              <a:buNone/>
            </a:pPr>
            <a:r>
              <a:rPr lang="en-US"/>
              <a:t>Q5. Why is quick fault identification necessary to avoid power interruptions?</a:t>
            </a:r>
            <a:endParaRPr/>
          </a:p>
          <a:p>
            <a:pPr indent="0" lvl="0" marL="0" rtl="0" algn="l">
              <a:spcBef>
                <a:spcPts val="360"/>
              </a:spcBef>
              <a:spcAft>
                <a:spcPts val="0"/>
              </a:spcAft>
              <a:buNone/>
            </a:pPr>
            <a:r>
              <a:rPr lang="en-US"/>
              <a:t>A: Quick identification reduces power loss and equipment damage.</a:t>
            </a:r>
            <a:endParaRPr/>
          </a:p>
        </p:txBody>
      </p:sp>
      <p:sp>
        <p:nvSpPr>
          <p:cNvPr id="142" name="Google Shape;142;g7af169dfc50c3245_6"/>
          <p:cNvSpPr txBox="1"/>
          <p:nvPr/>
        </p:nvSpPr>
        <p:spPr>
          <a:xfrm>
            <a:off x="457200" y="1417658"/>
            <a:ext cx="9144000" cy="7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latin typeface="Calibri"/>
                <a:ea typeface="Calibri"/>
                <a:cs typeface="Calibri"/>
                <a:sym typeface="Calibri"/>
              </a:rPr>
              <a:t>B.PRAVEEN-24KD1A0220</a:t>
            </a:r>
            <a:endParaRPr sz="2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7af169dfc50c3245_18"/>
          <p:cNvSpPr txBox="1"/>
          <p:nvPr/>
        </p:nvSpPr>
        <p:spPr>
          <a:xfrm>
            <a:off x="436147" y="454756"/>
            <a:ext cx="9144000" cy="7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latin typeface="Calibri"/>
                <a:ea typeface="Calibri"/>
                <a:cs typeface="Calibri"/>
                <a:sym typeface="Calibri"/>
              </a:rPr>
              <a:t>B.DILEEP - 24KD1A0223</a:t>
            </a:r>
            <a:endParaRPr sz="3600">
              <a:solidFill>
                <a:schemeClr val="dk1"/>
              </a:solidFill>
              <a:latin typeface="Calibri"/>
              <a:ea typeface="Calibri"/>
              <a:cs typeface="Calibri"/>
              <a:sym typeface="Calibri"/>
            </a:endParaRPr>
          </a:p>
        </p:txBody>
      </p:sp>
      <p:sp>
        <p:nvSpPr>
          <p:cNvPr id="148" name="Google Shape;148;g7af169dfc50c3245_18"/>
          <p:cNvSpPr txBox="1"/>
          <p:nvPr/>
        </p:nvSpPr>
        <p:spPr>
          <a:xfrm>
            <a:off x="4575" y="1197550"/>
            <a:ext cx="91440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 name="Google Shape;149;g7af169dfc50c3245_18"/>
          <p:cNvSpPr txBox="1"/>
          <p:nvPr/>
        </p:nvSpPr>
        <p:spPr>
          <a:xfrm>
            <a:off x="436150" y="1941751"/>
            <a:ext cx="9144000" cy="297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Q1. Why do faults occur in transmission lines?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A: Most faults happen because of aging equipment and poor maintenance.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Q2. Why is fault detection important in power systems?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A: Detecting faults early prevents major breakdowns.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Q3. Why are IoT devices used in transmission line fault detection?</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A: IoT helps engineers monitor systems remotely.</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Q4. Why do transmission lines get damaged during bad weather conditions?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A: Storms and heavy winds can break transmission wires.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Q5. Why is quick fault identification necessary to avoid power interruptions?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A: Fast fault detection saves repair time and cost.</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7af169dfc50c3245_28"/>
          <p:cNvSpPr txBox="1"/>
          <p:nvPr/>
        </p:nvSpPr>
        <p:spPr>
          <a:xfrm>
            <a:off x="328602" y="741749"/>
            <a:ext cx="9144000" cy="7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latin typeface="Calibri"/>
                <a:ea typeface="Calibri"/>
                <a:cs typeface="Calibri"/>
                <a:sym typeface="Calibri"/>
              </a:rPr>
              <a:t>CH.ROHITH - 24KD1A0229</a:t>
            </a:r>
            <a:endParaRPr sz="3600">
              <a:solidFill>
                <a:schemeClr val="dk1"/>
              </a:solidFill>
              <a:latin typeface="Calibri"/>
              <a:ea typeface="Calibri"/>
              <a:cs typeface="Calibri"/>
              <a:sym typeface="Calibri"/>
            </a:endParaRPr>
          </a:p>
        </p:txBody>
      </p:sp>
      <p:sp>
        <p:nvSpPr>
          <p:cNvPr id="155" name="Google Shape;155;g7af169dfc50c3245_28"/>
          <p:cNvSpPr txBox="1"/>
          <p:nvPr/>
        </p:nvSpPr>
        <p:spPr>
          <a:xfrm>
            <a:off x="4577" y="2899032"/>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56" name="Google Shape;156;g7af169dfc50c3245_28"/>
          <p:cNvSpPr txBox="1"/>
          <p:nvPr/>
        </p:nvSpPr>
        <p:spPr>
          <a:xfrm>
            <a:off x="328602" y="1886841"/>
            <a:ext cx="9144000" cy="457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Q1. Why do faults occur in transmission lines?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Overloading and voltage fluctuations mainly cause faults.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Q2. Why is fault detection important in power systems?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Fault detection improves system reliability and stability.</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Q3. Why are IoT devices used in transmission line fault detection?</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IoT sensors continuously collect electrical data.</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Q4. Why do transmission lines get damaged during bad weather conditions?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Rain and lightning create insulation problems.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Q5. Why is quick fault identification necessary to avoid power interruptions?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Rapid fault location prevents large-scale blackouts.</a:t>
            </a:r>
            <a:endParaRPr sz="2400">
              <a:solidFill>
                <a:schemeClr val="dk1"/>
              </a:solidFill>
              <a:latin typeface="Calibri"/>
              <a:ea typeface="Calibri"/>
              <a:cs typeface="Calibri"/>
              <a:sym typeface="Calibri"/>
            </a:endParaRPr>
          </a:p>
        </p:txBody>
      </p:sp>
      <p:sp>
        <p:nvSpPr>
          <p:cNvPr id="157" name="Google Shape;157;g7af169dfc50c3245_28"/>
          <p:cNvSpPr txBox="1"/>
          <p:nvPr/>
        </p:nvSpPr>
        <p:spPr>
          <a:xfrm>
            <a:off x="4577" y="2899033"/>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7af169dfc50c3245_35"/>
          <p:cNvSpPr txBox="1"/>
          <p:nvPr/>
        </p:nvSpPr>
        <p:spPr>
          <a:xfrm>
            <a:off x="2" y="1988428"/>
            <a:ext cx="9144000" cy="457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Q1. Why do faults occur in transmission lines?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Faults occur when abnormal current flows in the line.</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Q2. Why is fault detection important in power systems?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Detection systems protect electrical equipment from damage.</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Q3. Why are IoT devices used in transmission line fault detection?</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IoT enables automatic alerts and smart analysis.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Q4. Why do transmission lines get damaged during bad weather conditions?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Extreme weather affects signal transmission and hardware.</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Q5. Why is quick fault identification necessary to avoid power interruptions?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Early response minimizes downtime in the network.</a:t>
            </a:r>
            <a:endParaRPr sz="2400">
              <a:solidFill>
                <a:schemeClr val="dk1"/>
              </a:solidFill>
              <a:latin typeface="Calibri"/>
              <a:ea typeface="Calibri"/>
              <a:cs typeface="Calibri"/>
              <a:sym typeface="Calibri"/>
            </a:endParaRPr>
          </a:p>
        </p:txBody>
      </p:sp>
      <p:sp>
        <p:nvSpPr>
          <p:cNvPr id="163" name="Google Shape;163;g7af169dfc50c3245_35"/>
          <p:cNvSpPr txBox="1"/>
          <p:nvPr/>
        </p:nvSpPr>
        <p:spPr>
          <a:xfrm>
            <a:off x="170075" y="1014672"/>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D.LOKEASWARI - 24KD1A0231</a:t>
            </a:r>
            <a:endParaRPr sz="3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7af169dfc50c3245_38"/>
          <p:cNvSpPr txBox="1"/>
          <p:nvPr/>
        </p:nvSpPr>
        <p:spPr>
          <a:xfrm>
            <a:off x="2" y="1719429"/>
            <a:ext cx="9144000" cy="457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Q1. Why do faults occur in transmission lines?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Faults can happen because of tree contact or conductor failure.</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Q2. Why is fault detection important in power systems?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Detecting faults ensures public and worker safety.</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Q3. Why are IoT devices used in transmission line fault detection?</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IoT devices reduce the need for risky manual inspections.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Q4. Why do transmission lines get damaged during bad weather conditions?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Weather conditions increase chances of electrical accidents.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Q5. Why is quick fault identification necessary to avoid power interruptions?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Immediate detection avoids dangerous fire hazards.</a:t>
            </a:r>
            <a:endParaRPr sz="2400">
              <a:solidFill>
                <a:schemeClr val="dk1"/>
              </a:solidFill>
              <a:latin typeface="Calibri"/>
              <a:ea typeface="Calibri"/>
              <a:cs typeface="Calibri"/>
              <a:sym typeface="Calibri"/>
            </a:endParaRPr>
          </a:p>
        </p:txBody>
      </p:sp>
      <p:sp>
        <p:nvSpPr>
          <p:cNvPr id="169" name="Google Shape;169;g7af169dfc50c3245_38"/>
          <p:cNvSpPr txBox="1"/>
          <p:nvPr/>
        </p:nvSpPr>
        <p:spPr>
          <a:xfrm>
            <a:off x="236819" y="790187"/>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D.KRISHNA KUMAR - 24KD1A0232</a:t>
            </a: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7af169dfc50c3245_41"/>
          <p:cNvSpPr txBox="1"/>
          <p:nvPr/>
        </p:nvSpPr>
        <p:spPr>
          <a:xfrm>
            <a:off x="271393" y="1920902"/>
            <a:ext cx="9144000" cy="493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Q1. Why do faults occur in transmission lines?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Transmission line faults are caused by both natural and technical issues.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Q2. Why is fault detection important in power systems?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Fault detection improves efficiency of the power system.</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Q3. Why are IoT devices used in transmission line fault detection?</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IoT supports data collection for intelligent decision-making.</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Q4. Why do transmission lines get damaged during bad weather conditions?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Environmental conditions accelerate equipment wear and tear.</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Q5. Why is quick fault identification necessary to avoid power interruptions?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Faster detection helps restore electricity quickly.</a:t>
            </a:r>
            <a:endParaRPr sz="2400">
              <a:solidFill>
                <a:schemeClr val="dk1"/>
              </a:solidFill>
              <a:latin typeface="Calibri"/>
              <a:ea typeface="Calibri"/>
              <a:cs typeface="Calibri"/>
              <a:sym typeface="Calibri"/>
            </a:endParaRPr>
          </a:p>
        </p:txBody>
      </p:sp>
      <p:sp>
        <p:nvSpPr>
          <p:cNvPr id="175" name="Google Shape;175;g7af169dfc50c3245_41"/>
          <p:cNvSpPr txBox="1"/>
          <p:nvPr/>
        </p:nvSpPr>
        <p:spPr>
          <a:xfrm>
            <a:off x="601525" y="883765"/>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D.SAI KUMAR - 24KD1A0233</a:t>
            </a:r>
            <a:endParaRPr sz="3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7af169dfc50c3245_44"/>
          <p:cNvSpPr txBox="1"/>
          <p:nvPr/>
        </p:nvSpPr>
        <p:spPr>
          <a:xfrm>
            <a:off x="321737" y="721503"/>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G.LAVANYA - 24KD1A0238</a:t>
            </a:r>
            <a:endParaRPr sz="3200">
              <a:solidFill>
                <a:schemeClr val="dk1"/>
              </a:solidFill>
              <a:latin typeface="Calibri"/>
              <a:ea typeface="Calibri"/>
              <a:cs typeface="Calibri"/>
              <a:sym typeface="Calibri"/>
            </a:endParaRPr>
          </a:p>
        </p:txBody>
      </p:sp>
      <p:sp>
        <p:nvSpPr>
          <p:cNvPr id="181" name="Google Shape;181;g7af169dfc50c3245_44"/>
          <p:cNvSpPr txBox="1"/>
          <p:nvPr/>
        </p:nvSpPr>
        <p:spPr>
          <a:xfrm>
            <a:off x="2" y="1942600"/>
            <a:ext cx="9144000" cy="457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Q1. Why do faults occur in transmission lines?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Faults usually occur due to loose connections or damaged wires.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Q2. Why is fault detection important in power systems?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Finding faults quickly keeps consumers satisfied.</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Q3. Why are IoT devices used in transmission line fault detection?</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IoT devices make monitoring easier for technicians.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Q4. Why do transmission lines get damaged during bad weather conditions?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Heavy winds and falling branches often damage lines.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Q5. Why is quick fault identification necessary to avoid power interruptions?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A: Quick action reduces outage time in affected areas.</a:t>
            </a:r>
            <a:endParaRPr sz="24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4c0b0267f767c5b_55"/>
          <p:cNvSpPr txBox="1"/>
          <p:nvPr>
            <p:ph type="title"/>
          </p:nvPr>
        </p:nvSpPr>
        <p:spPr>
          <a:xfrm>
            <a:off x="201785" y="6"/>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Interview questions ⁉️ </a:t>
            </a:r>
            <a:endParaRPr/>
          </a:p>
        </p:txBody>
      </p:sp>
      <p:sp>
        <p:nvSpPr>
          <p:cNvPr id="187" name="Google Shape;187;g24c0b0267f767c5b_55"/>
          <p:cNvSpPr txBox="1"/>
          <p:nvPr/>
        </p:nvSpPr>
        <p:spPr>
          <a:xfrm>
            <a:off x="201774" y="1410033"/>
            <a:ext cx="9144000" cy="558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1. What is the main purpose of fault detection in transmission lines using IoT?</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2. Which components are mainly used in the IoT-based fault detection      system?</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3. How does the system identify a fault in the transmission line?</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4. What are the advantages of using IoT in transmission line monitoring?</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5. What happens when a fault is detected in the system?</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7af169dfc50c3245_55"/>
          <p:cNvSpPr txBox="1"/>
          <p:nvPr/>
        </p:nvSpPr>
        <p:spPr>
          <a:xfrm>
            <a:off x="3319842" y="217615"/>
            <a:ext cx="9144000" cy="7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latin typeface="Calibri"/>
                <a:ea typeface="Calibri"/>
                <a:cs typeface="Calibri"/>
                <a:sym typeface="Calibri"/>
              </a:rPr>
              <a:t>PERSONA’S</a:t>
            </a:r>
            <a:endParaRPr sz="3600">
              <a:solidFill>
                <a:schemeClr val="dk1"/>
              </a:solidFill>
              <a:latin typeface="Calibri"/>
              <a:ea typeface="Calibri"/>
              <a:cs typeface="Calibri"/>
              <a:sym typeface="Calibri"/>
            </a:endParaRPr>
          </a:p>
        </p:txBody>
      </p:sp>
      <p:sp>
        <p:nvSpPr>
          <p:cNvPr id="193" name="Google Shape;193;g7af169dfc50c3245_55"/>
          <p:cNvSpPr txBox="1"/>
          <p:nvPr/>
        </p:nvSpPr>
        <p:spPr>
          <a:xfrm>
            <a:off x="319850" y="2554329"/>
            <a:ext cx="3000000" cy="124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Name: Ravi Kumar</a:t>
            </a:r>
            <a:endParaRPr/>
          </a:p>
          <a:p>
            <a:pPr indent="0" lvl="0" marL="0" rtl="0" algn="l">
              <a:spcBef>
                <a:spcPts val="0"/>
              </a:spcBef>
              <a:spcAft>
                <a:spcPts val="0"/>
              </a:spcAft>
              <a:buNone/>
            </a:pPr>
            <a:r>
              <a:rPr lang="en-US"/>
              <a:t>Age: 24 Years</a:t>
            </a:r>
            <a:endParaRPr/>
          </a:p>
          <a:p>
            <a:pPr indent="0" lvl="0" marL="0" rtl="0" algn="l">
              <a:spcBef>
                <a:spcPts val="0"/>
              </a:spcBef>
              <a:spcAft>
                <a:spcPts val="0"/>
              </a:spcAft>
              <a:buNone/>
            </a:pPr>
            <a:r>
              <a:rPr lang="en-US"/>
              <a:t>Occupation</a:t>
            </a:r>
            <a:endParaRPr/>
          </a:p>
          <a:p>
            <a:pPr indent="0" lvl="0" marL="0" rtl="0" algn="l">
              <a:spcBef>
                <a:spcPts val="0"/>
              </a:spcBef>
              <a:spcAft>
                <a:spcPts val="0"/>
              </a:spcAft>
              <a:buNone/>
            </a:pPr>
            <a:r>
              <a:rPr lang="en-US"/>
              <a:t>Electrical Engineering Student / Junior Power System Engineer</a:t>
            </a:r>
            <a:endParaRPr/>
          </a:p>
        </p:txBody>
      </p:sp>
      <p:pic>
        <p:nvPicPr>
          <p:cNvPr id="194" name="Google Shape;194;g7af169dfc50c3245_55"/>
          <p:cNvPicPr preferRelativeResize="0"/>
          <p:nvPr/>
        </p:nvPicPr>
        <p:blipFill>
          <a:blip r:embed="rId3">
            <a:alphaModFix/>
          </a:blip>
          <a:stretch>
            <a:fillRect/>
          </a:stretch>
        </p:blipFill>
        <p:spPr>
          <a:xfrm>
            <a:off x="319850" y="217625"/>
            <a:ext cx="1854800" cy="2052076"/>
          </a:xfrm>
          <a:prstGeom prst="rect">
            <a:avLst/>
          </a:prstGeom>
          <a:noFill/>
          <a:ln>
            <a:noFill/>
          </a:ln>
        </p:spPr>
      </p:pic>
      <p:sp>
        <p:nvSpPr>
          <p:cNvPr id="195" name="Google Shape;195;g7af169dfc50c3245_55"/>
          <p:cNvSpPr txBox="1"/>
          <p:nvPr/>
        </p:nvSpPr>
        <p:spPr>
          <a:xfrm>
            <a:off x="319850" y="4678629"/>
            <a:ext cx="30000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Difficulty in locating faults manually</a:t>
            </a:r>
            <a:endParaRPr/>
          </a:p>
          <a:p>
            <a:pPr indent="0" lvl="0" marL="0" rtl="0" algn="l">
              <a:spcBef>
                <a:spcPts val="0"/>
              </a:spcBef>
              <a:spcAft>
                <a:spcPts val="0"/>
              </a:spcAft>
              <a:buNone/>
            </a:pPr>
            <a:r>
              <a:rPr lang="en-US"/>
              <a:t>Delay in maintenance and repair response</a:t>
            </a:r>
            <a:endParaRPr/>
          </a:p>
          <a:p>
            <a:pPr indent="0" lvl="0" marL="0" rtl="0" algn="l">
              <a:spcBef>
                <a:spcPts val="0"/>
              </a:spcBef>
              <a:spcAft>
                <a:spcPts val="0"/>
              </a:spcAft>
              <a:buNone/>
            </a:pPr>
            <a:r>
              <a:rPr lang="en-US"/>
              <a:t>Lack of continuous monitoring in remote locations</a:t>
            </a:r>
            <a:endParaRPr/>
          </a:p>
          <a:p>
            <a:pPr indent="0" lvl="0" marL="0" rtl="0" algn="l">
              <a:spcBef>
                <a:spcPts val="0"/>
              </a:spcBef>
              <a:spcAft>
                <a:spcPts val="0"/>
              </a:spcAft>
              <a:buNone/>
            </a:pPr>
            <a:r>
              <a:rPr lang="en-US"/>
              <a:t>High maintenance costs in traditional fault detection systems</a:t>
            </a:r>
            <a:endParaRPr/>
          </a:p>
        </p:txBody>
      </p:sp>
      <p:sp>
        <p:nvSpPr>
          <p:cNvPr id="196" name="Google Shape;196;g7af169dfc50c3245_55"/>
          <p:cNvSpPr txBox="1"/>
          <p:nvPr/>
        </p:nvSpPr>
        <p:spPr>
          <a:xfrm>
            <a:off x="319857" y="4128433"/>
            <a:ext cx="91440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Challenges</a:t>
            </a:r>
            <a:endParaRPr sz="2400">
              <a:solidFill>
                <a:schemeClr val="dk1"/>
              </a:solidFill>
              <a:latin typeface="Calibri"/>
              <a:ea typeface="Calibri"/>
              <a:cs typeface="Calibri"/>
              <a:sym typeface="Calibri"/>
            </a:endParaRPr>
          </a:p>
        </p:txBody>
      </p:sp>
      <p:sp>
        <p:nvSpPr>
          <p:cNvPr id="197" name="Google Shape;197;g7af169dfc50c3245_55"/>
          <p:cNvSpPr txBox="1"/>
          <p:nvPr/>
        </p:nvSpPr>
        <p:spPr>
          <a:xfrm>
            <a:off x="3918524" y="1219659"/>
            <a:ext cx="4308600" cy="547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1. Question: What is the main purpose of fault detection in transmission lines using IoT?</a:t>
            </a:r>
            <a:endParaRPr/>
          </a:p>
          <a:p>
            <a:pPr indent="0" lvl="0" marL="0" rtl="0" algn="l">
              <a:spcBef>
                <a:spcPts val="0"/>
              </a:spcBef>
              <a:spcAft>
                <a:spcPts val="0"/>
              </a:spcAft>
              <a:buNone/>
            </a:pPr>
            <a:r>
              <a:rPr lang="en-US"/>
              <a:t>Answer: The main purpose is to quickly detect faults, reduce power outages, and improve the reliability of the power system through real-time monitoring.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Question: Which components are mainly used in the IoT-based fault detection system?</a:t>
            </a:r>
            <a:endParaRPr/>
          </a:p>
          <a:p>
            <a:pPr indent="0" lvl="0" marL="0" rtl="0" algn="l">
              <a:spcBef>
                <a:spcPts val="0"/>
              </a:spcBef>
              <a:spcAft>
                <a:spcPts val="0"/>
              </a:spcAft>
              <a:buNone/>
            </a:pPr>
            <a:r>
              <a:rPr lang="en-US"/>
              <a:t>Answer: The system mainly uses sensors, a microcontroller, communication modules, and cloud technology for monitoring and alert generation.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Question: How does the system identify a fault in the transmission line?</a:t>
            </a:r>
            <a:endParaRPr/>
          </a:p>
          <a:p>
            <a:pPr indent="0" lvl="0" marL="0" rtl="0" algn="l">
              <a:spcBef>
                <a:spcPts val="0"/>
              </a:spcBef>
              <a:spcAft>
                <a:spcPts val="0"/>
              </a:spcAft>
              <a:buNone/>
            </a:pPr>
            <a:r>
              <a:rPr lang="en-US"/>
              <a:t>Answer: The system continuously monitors parameters like voltage, current, and temperature. Any abnormal change indicates a fault.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Question: What are the advantages of using IoT in transmission line monitoring?</a:t>
            </a:r>
            <a:endParaRPr/>
          </a:p>
          <a:p>
            <a:pPr indent="0" lvl="0" marL="0" rtl="0" algn="l">
              <a:spcBef>
                <a:spcPts val="0"/>
              </a:spcBef>
              <a:spcAft>
                <a:spcPts val="0"/>
              </a:spcAft>
              <a:buNone/>
            </a:pPr>
            <a:r>
              <a:rPr lang="en-US"/>
              <a:t>Answer: IoT provides real-time monitoring, remote access, faster fault detection, reduced maintenance time, and improved system efficiency.</a:t>
            </a:r>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7af169dfc50c3245_58"/>
          <p:cNvSpPr txBox="1"/>
          <p:nvPr/>
        </p:nvSpPr>
        <p:spPr>
          <a:xfrm>
            <a:off x="3710700" y="585300"/>
            <a:ext cx="5433300" cy="568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1. Question: What is the main purpose of fault detection in transmission lines using IoT?</a:t>
            </a:r>
            <a:endParaRPr/>
          </a:p>
          <a:p>
            <a:pPr indent="0" lvl="0" marL="0" rtl="0" algn="l">
              <a:spcBef>
                <a:spcPts val="0"/>
              </a:spcBef>
              <a:spcAft>
                <a:spcPts val="0"/>
              </a:spcAft>
              <a:buNone/>
            </a:pPr>
            <a:r>
              <a:rPr lang="en-US"/>
              <a:t>Answer: The purpose of the system is to identify transmission line faults instantly and help engineers take quick corrective action to maintain continuous power supply.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Question: Which components are mainly used in the IoT-based fault detection system?</a:t>
            </a:r>
            <a:endParaRPr/>
          </a:p>
          <a:p>
            <a:pPr indent="0" lvl="0" marL="0" rtl="0" algn="l">
              <a:spcBef>
                <a:spcPts val="0"/>
              </a:spcBef>
              <a:spcAft>
                <a:spcPts val="0"/>
              </a:spcAft>
              <a:buNone/>
            </a:pPr>
            <a:r>
              <a:rPr lang="en-US"/>
              <a:t>Answer: The project uses current and voltage sensors, IoT modules, controllers like Arduino or Raspberry Pi, and internet connectivity for data transfer.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Question: How does the system identify a fault in the transmission line?</a:t>
            </a:r>
            <a:endParaRPr/>
          </a:p>
          <a:p>
            <a:pPr indent="0" lvl="0" marL="0" rtl="0" algn="l">
              <a:spcBef>
                <a:spcPts val="0"/>
              </a:spcBef>
              <a:spcAft>
                <a:spcPts val="0"/>
              </a:spcAft>
              <a:buNone/>
            </a:pPr>
            <a:r>
              <a:rPr lang="en-US"/>
              <a:t>Answer: The system compares normal electrical values with real-time readings, and when unusual variations occur, it recognizes them as faults.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Question: What are the advantages of using IoT in transmission line monitoring?</a:t>
            </a:r>
            <a:endParaRPr/>
          </a:p>
          <a:p>
            <a:pPr indent="0" lvl="0" marL="0" rtl="0" algn="l">
              <a:spcBef>
                <a:spcPts val="0"/>
              </a:spcBef>
              <a:spcAft>
                <a:spcPts val="0"/>
              </a:spcAft>
              <a:buNone/>
            </a:pPr>
            <a:r>
              <a:rPr lang="en-US"/>
              <a:t>Answer: IoT technology helps in automatic monitoring, quick fault location, reduced human effort, and better protection of electrical equipment.</a:t>
            </a:r>
            <a:endParaRPr/>
          </a:p>
        </p:txBody>
      </p:sp>
      <p:sp>
        <p:nvSpPr>
          <p:cNvPr id="203" name="Google Shape;203;g7af169dfc50c3245_58"/>
          <p:cNvSpPr txBox="1"/>
          <p:nvPr/>
        </p:nvSpPr>
        <p:spPr>
          <a:xfrm>
            <a:off x="347374" y="2807562"/>
            <a:ext cx="3000000" cy="124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Name: Sneha Reddy</a:t>
            </a:r>
            <a:endParaRPr/>
          </a:p>
          <a:p>
            <a:pPr indent="0" lvl="0" marL="0" rtl="0" algn="l">
              <a:spcBef>
                <a:spcPts val="0"/>
              </a:spcBef>
              <a:spcAft>
                <a:spcPts val="0"/>
              </a:spcAft>
              <a:buNone/>
            </a:pPr>
            <a:r>
              <a:rPr lang="en-US"/>
              <a:t>Age: 22 Years</a:t>
            </a:r>
            <a:endParaRPr/>
          </a:p>
          <a:p>
            <a:pPr indent="0" lvl="0" marL="0" rtl="0" algn="l">
              <a:spcBef>
                <a:spcPts val="0"/>
              </a:spcBef>
              <a:spcAft>
                <a:spcPts val="0"/>
              </a:spcAft>
              <a:buNone/>
            </a:pPr>
            <a:r>
              <a:rPr lang="en-US"/>
              <a:t>Occupation</a:t>
            </a:r>
            <a:endParaRPr/>
          </a:p>
          <a:p>
            <a:pPr indent="0" lvl="0" marL="0" rtl="0" algn="l">
              <a:spcBef>
                <a:spcPts val="0"/>
              </a:spcBef>
              <a:spcAft>
                <a:spcPts val="0"/>
              </a:spcAft>
              <a:buNone/>
            </a:pPr>
            <a:r>
              <a:rPr lang="en-US"/>
              <a:t>Final Year Electrical Engineering Student</a:t>
            </a:r>
            <a:endParaRPr/>
          </a:p>
        </p:txBody>
      </p:sp>
      <p:pic>
        <p:nvPicPr>
          <p:cNvPr id="204" name="Google Shape;204;g7af169dfc50c3245_58"/>
          <p:cNvPicPr preferRelativeResize="0"/>
          <p:nvPr/>
        </p:nvPicPr>
        <p:blipFill>
          <a:blip r:embed="rId3">
            <a:alphaModFix/>
          </a:blip>
          <a:stretch>
            <a:fillRect/>
          </a:stretch>
        </p:blipFill>
        <p:spPr>
          <a:xfrm>
            <a:off x="347375" y="262763"/>
            <a:ext cx="1736050" cy="2319675"/>
          </a:xfrm>
          <a:prstGeom prst="rect">
            <a:avLst/>
          </a:prstGeom>
          <a:noFill/>
          <a:ln>
            <a:noFill/>
          </a:ln>
        </p:spPr>
      </p:pic>
      <p:sp>
        <p:nvSpPr>
          <p:cNvPr id="205" name="Google Shape;205;g7af169dfc50c3245_58"/>
          <p:cNvSpPr txBox="1"/>
          <p:nvPr/>
        </p:nvSpPr>
        <p:spPr>
          <a:xfrm>
            <a:off x="347375" y="4606500"/>
            <a:ext cx="3000000" cy="166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Traditional fault detection methods take more time</a:t>
            </a:r>
            <a:endParaRPr/>
          </a:p>
          <a:p>
            <a:pPr indent="0" lvl="0" marL="0" rtl="0" algn="l">
              <a:spcBef>
                <a:spcPts val="0"/>
              </a:spcBef>
              <a:spcAft>
                <a:spcPts val="0"/>
              </a:spcAft>
              <a:buNone/>
            </a:pPr>
            <a:r>
              <a:rPr lang="en-US"/>
              <a:t>Difficulty in monitoring transmission lines in remote areas</a:t>
            </a:r>
            <a:endParaRPr/>
          </a:p>
          <a:p>
            <a:pPr indent="0" lvl="0" marL="0" rtl="0" algn="l">
              <a:spcBef>
                <a:spcPts val="0"/>
              </a:spcBef>
              <a:spcAft>
                <a:spcPts val="0"/>
              </a:spcAft>
              <a:buNone/>
            </a:pPr>
            <a:r>
              <a:rPr lang="en-US"/>
              <a:t>Delay in receiving fault information</a:t>
            </a:r>
            <a:endParaRPr/>
          </a:p>
          <a:p>
            <a:pPr indent="0" lvl="0" marL="0" rtl="0" algn="l">
              <a:spcBef>
                <a:spcPts val="0"/>
              </a:spcBef>
              <a:spcAft>
                <a:spcPts val="0"/>
              </a:spcAft>
              <a:buNone/>
            </a:pPr>
            <a:r>
              <a:rPr lang="en-US"/>
              <a:t>Increased maintenance costs due to manual inspection</a:t>
            </a:r>
            <a:endParaRPr/>
          </a:p>
        </p:txBody>
      </p:sp>
      <p:sp>
        <p:nvSpPr>
          <p:cNvPr id="206" name="Google Shape;206;g7af169dfc50c3245_58"/>
          <p:cNvSpPr txBox="1"/>
          <p:nvPr/>
        </p:nvSpPr>
        <p:spPr>
          <a:xfrm>
            <a:off x="347379" y="4050458"/>
            <a:ext cx="91440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Challanges </a:t>
            </a:r>
            <a:endParaRPr sz="24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7af169dfc50c3245_61"/>
          <p:cNvSpPr txBox="1"/>
          <p:nvPr/>
        </p:nvSpPr>
        <p:spPr>
          <a:xfrm>
            <a:off x="377825" y="2568038"/>
            <a:ext cx="2783400" cy="124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Name: Suresh Rao</a:t>
            </a:r>
            <a:endParaRPr/>
          </a:p>
          <a:p>
            <a:pPr indent="0" lvl="0" marL="0" rtl="0" algn="l">
              <a:spcBef>
                <a:spcPts val="0"/>
              </a:spcBef>
              <a:spcAft>
                <a:spcPts val="0"/>
              </a:spcAft>
              <a:buNone/>
            </a:pPr>
            <a:r>
              <a:rPr lang="en-US"/>
              <a:t>Age: 61 Years</a:t>
            </a:r>
            <a:endParaRPr/>
          </a:p>
          <a:p>
            <a:pPr indent="0" lvl="0" marL="0" rtl="0" algn="l">
              <a:spcBef>
                <a:spcPts val="0"/>
              </a:spcBef>
              <a:spcAft>
                <a:spcPts val="0"/>
              </a:spcAft>
              <a:buNone/>
            </a:pPr>
            <a:r>
              <a:rPr lang="en-US"/>
              <a:t>Occupation</a:t>
            </a:r>
            <a:endParaRPr/>
          </a:p>
          <a:p>
            <a:pPr indent="0" lvl="0" marL="0" rtl="0" algn="l">
              <a:spcBef>
                <a:spcPts val="0"/>
              </a:spcBef>
              <a:spcAft>
                <a:spcPts val="0"/>
              </a:spcAft>
              <a:buNone/>
            </a:pPr>
            <a:r>
              <a:rPr lang="en-US"/>
              <a:t>Retired Electrical Department Supervisor</a:t>
            </a:r>
            <a:endParaRPr/>
          </a:p>
        </p:txBody>
      </p:sp>
      <p:sp>
        <p:nvSpPr>
          <p:cNvPr id="212" name="Google Shape;212;g7af169dfc50c3245_61"/>
          <p:cNvSpPr txBox="1"/>
          <p:nvPr/>
        </p:nvSpPr>
        <p:spPr>
          <a:xfrm>
            <a:off x="377827" y="3905449"/>
            <a:ext cx="91440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Challanges </a:t>
            </a:r>
            <a:endParaRPr sz="2400">
              <a:solidFill>
                <a:schemeClr val="dk1"/>
              </a:solidFill>
              <a:latin typeface="Calibri"/>
              <a:ea typeface="Calibri"/>
              <a:cs typeface="Calibri"/>
              <a:sym typeface="Calibri"/>
            </a:endParaRPr>
          </a:p>
        </p:txBody>
      </p:sp>
      <p:pic>
        <p:nvPicPr>
          <p:cNvPr id="213" name="Google Shape;213;g7af169dfc50c3245_61"/>
          <p:cNvPicPr preferRelativeResize="0"/>
          <p:nvPr/>
        </p:nvPicPr>
        <p:blipFill>
          <a:blip r:embed="rId3">
            <a:alphaModFix/>
          </a:blip>
          <a:stretch>
            <a:fillRect/>
          </a:stretch>
        </p:blipFill>
        <p:spPr>
          <a:xfrm>
            <a:off x="377825" y="0"/>
            <a:ext cx="1934124" cy="2473551"/>
          </a:xfrm>
          <a:prstGeom prst="rect">
            <a:avLst/>
          </a:prstGeom>
          <a:noFill/>
          <a:ln>
            <a:noFill/>
          </a:ln>
        </p:spPr>
      </p:pic>
      <p:sp>
        <p:nvSpPr>
          <p:cNvPr id="214" name="Google Shape;214;g7af169dfc50c3245_61"/>
          <p:cNvSpPr txBox="1"/>
          <p:nvPr/>
        </p:nvSpPr>
        <p:spPr>
          <a:xfrm>
            <a:off x="134825" y="4550150"/>
            <a:ext cx="32694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Traditional fault detection methods take more time</a:t>
            </a:r>
            <a:endParaRPr/>
          </a:p>
          <a:p>
            <a:pPr indent="0" lvl="0" marL="0" rtl="0" algn="l">
              <a:spcBef>
                <a:spcPts val="0"/>
              </a:spcBef>
              <a:spcAft>
                <a:spcPts val="0"/>
              </a:spcAft>
              <a:buNone/>
            </a:pPr>
            <a:r>
              <a:rPr lang="en-US"/>
              <a:t>Manual inspection requires more manpower</a:t>
            </a:r>
            <a:endParaRPr/>
          </a:p>
          <a:p>
            <a:pPr indent="0" lvl="0" marL="0" rtl="0" algn="l">
              <a:spcBef>
                <a:spcPts val="0"/>
              </a:spcBef>
              <a:spcAft>
                <a:spcPts val="0"/>
              </a:spcAft>
              <a:buNone/>
            </a:pPr>
            <a:r>
              <a:rPr lang="en-US"/>
              <a:t>Remote transmission lines are difficult to monitor</a:t>
            </a:r>
            <a:endParaRPr/>
          </a:p>
          <a:p>
            <a:pPr indent="0" lvl="0" marL="0" rtl="0" algn="l">
              <a:spcBef>
                <a:spcPts val="0"/>
              </a:spcBef>
              <a:spcAft>
                <a:spcPts val="0"/>
              </a:spcAft>
              <a:buNone/>
            </a:pPr>
            <a:r>
              <a:rPr lang="en-US"/>
              <a:t>Delayed fault detection increases repair costs</a:t>
            </a:r>
            <a:endParaRPr/>
          </a:p>
        </p:txBody>
      </p:sp>
      <p:sp>
        <p:nvSpPr>
          <p:cNvPr id="215" name="Google Shape;215;g7af169dfc50c3245_61"/>
          <p:cNvSpPr txBox="1"/>
          <p:nvPr/>
        </p:nvSpPr>
        <p:spPr>
          <a:xfrm>
            <a:off x="3996520" y="535500"/>
            <a:ext cx="4455900" cy="632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1. Question: What is the main purpose of fault detection in transmission lines using IoT?</a:t>
            </a:r>
            <a:endParaRPr/>
          </a:p>
          <a:p>
            <a:pPr indent="0" lvl="0" marL="0" rtl="0" algn="l">
              <a:spcBef>
                <a:spcPts val="0"/>
              </a:spcBef>
              <a:spcAft>
                <a:spcPts val="0"/>
              </a:spcAft>
              <a:buNone/>
            </a:pPr>
            <a:r>
              <a:rPr lang="en-US"/>
              <a:t>Answer: The main aim is to monitor transmission lines continuously and detect faults at an early stage to avoid major power system failures.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Question: Which components are mainly used in the IoT-based fault detection system?</a:t>
            </a:r>
            <a:endParaRPr/>
          </a:p>
          <a:p>
            <a:pPr indent="0" lvl="0" marL="0" rtl="0" algn="l">
              <a:spcBef>
                <a:spcPts val="0"/>
              </a:spcBef>
              <a:spcAft>
                <a:spcPts val="0"/>
              </a:spcAft>
              <a:buNone/>
            </a:pPr>
            <a:r>
              <a:rPr lang="en-US"/>
              <a:t>Answer: The system includes sensors, microcontrollers, Wi-Fi or GSM modules, cloud storage, and display units for monitoring and communication.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Question: How does the system identify a fault in the transmission line?</a:t>
            </a:r>
            <a:endParaRPr/>
          </a:p>
          <a:p>
            <a:pPr indent="0" lvl="0" marL="0" rtl="0" algn="l">
              <a:spcBef>
                <a:spcPts val="0"/>
              </a:spcBef>
              <a:spcAft>
                <a:spcPts val="0"/>
              </a:spcAft>
              <a:buNone/>
            </a:pPr>
            <a:r>
              <a:rPr lang="en-US"/>
              <a:t>Answer: The system detects faults by analyzing changes in electrical parameters and identifying conditions that exceed safe operating limits.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Question: What are the advantages of using IoT in transmission line monitoring?</a:t>
            </a:r>
            <a:endParaRPr/>
          </a:p>
          <a:p>
            <a:pPr indent="0" lvl="0" marL="0" rtl="0" algn="l">
              <a:spcBef>
                <a:spcPts val="0"/>
              </a:spcBef>
              <a:spcAft>
                <a:spcPts val="0"/>
              </a:spcAft>
              <a:buNone/>
            </a:pPr>
            <a:r>
              <a:rPr lang="en-US"/>
              <a:t>Answer: IoT improves transmission line safety, enables remote supervision, minimizes downtime, and supports faster maintenance operations.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g2a4bc53d5f5dde08_4"/>
          <p:cNvPicPr preferRelativeResize="0"/>
          <p:nvPr/>
        </p:nvPicPr>
        <p:blipFill>
          <a:blip r:embed="rId3">
            <a:alphaModFix/>
          </a:blip>
          <a:stretch>
            <a:fillRect/>
          </a:stretch>
        </p:blipFill>
        <p:spPr>
          <a:xfrm flipH="1">
            <a:off x="391583" y="214689"/>
            <a:ext cx="1847150" cy="2419025"/>
          </a:xfrm>
          <a:prstGeom prst="rect">
            <a:avLst/>
          </a:prstGeom>
          <a:noFill/>
          <a:ln>
            <a:noFill/>
          </a:ln>
        </p:spPr>
      </p:pic>
      <p:sp>
        <p:nvSpPr>
          <p:cNvPr id="221" name="Google Shape;221;g2a4bc53d5f5dde08_4"/>
          <p:cNvSpPr txBox="1"/>
          <p:nvPr/>
        </p:nvSpPr>
        <p:spPr>
          <a:xfrm>
            <a:off x="196106" y="2633725"/>
            <a:ext cx="3000000" cy="1685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a:solidFill>
                  <a:srgbClr val="0D0D0D"/>
                </a:solidFill>
                <a:latin typeface="Times New Roman"/>
                <a:ea typeface="Times New Roman"/>
                <a:cs typeface="Times New Roman"/>
                <a:sym typeface="Times New Roman"/>
              </a:rPr>
              <a:t>Name:Priya Sharma</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800"/>
              </a:spcBef>
              <a:spcAft>
                <a:spcPts val="0"/>
              </a:spcAft>
              <a:buNone/>
            </a:pPr>
            <a:r>
              <a:rPr b="1" lang="en-US">
                <a:solidFill>
                  <a:srgbClr val="0D0D0D"/>
                </a:solidFill>
                <a:latin typeface="Times New Roman"/>
                <a:ea typeface="Times New Roman"/>
                <a:cs typeface="Times New Roman"/>
                <a:sym typeface="Times New Roman"/>
              </a:rPr>
              <a:t>Age:29 Years</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800"/>
              </a:spcBef>
              <a:spcAft>
                <a:spcPts val="800"/>
              </a:spcAft>
              <a:buNone/>
            </a:pPr>
            <a:r>
              <a:rPr b="1" lang="en-US">
                <a:solidFill>
                  <a:srgbClr val="0D0D0D"/>
                </a:solidFill>
                <a:latin typeface="Times New Roman"/>
                <a:ea typeface="Times New Roman"/>
                <a:cs typeface="Times New Roman"/>
                <a:sym typeface="Times New Roman"/>
              </a:rPr>
              <a:t>Occupation:PowerSystem Maintenance Engineer</a:t>
            </a:r>
            <a:endParaRPr b="1">
              <a:solidFill>
                <a:srgbClr val="0D0D0D"/>
              </a:solidFill>
              <a:latin typeface="Times New Roman"/>
              <a:ea typeface="Times New Roman"/>
              <a:cs typeface="Times New Roman"/>
              <a:sym typeface="Times New Roman"/>
            </a:endParaRPr>
          </a:p>
        </p:txBody>
      </p:sp>
      <p:sp>
        <p:nvSpPr>
          <p:cNvPr id="222" name="Google Shape;222;g2a4bc53d5f5dde08_4"/>
          <p:cNvSpPr txBox="1"/>
          <p:nvPr/>
        </p:nvSpPr>
        <p:spPr>
          <a:xfrm>
            <a:off x="391580" y="4319132"/>
            <a:ext cx="91440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Challanges </a:t>
            </a:r>
            <a:endParaRPr sz="2400">
              <a:solidFill>
                <a:schemeClr val="dk1"/>
              </a:solidFill>
              <a:latin typeface="Calibri"/>
              <a:ea typeface="Calibri"/>
              <a:cs typeface="Calibri"/>
              <a:sym typeface="Calibri"/>
            </a:endParaRPr>
          </a:p>
        </p:txBody>
      </p:sp>
      <p:sp>
        <p:nvSpPr>
          <p:cNvPr id="223" name="Google Shape;223;g2a4bc53d5f5dde08_4"/>
          <p:cNvSpPr txBox="1"/>
          <p:nvPr/>
        </p:nvSpPr>
        <p:spPr>
          <a:xfrm>
            <a:off x="196100" y="4869325"/>
            <a:ext cx="5709600" cy="1781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a:solidFill>
                  <a:srgbClr val="0D0D0D"/>
                </a:solidFill>
                <a:latin typeface="Times New Roman"/>
                <a:ea typeface="Times New Roman"/>
                <a:cs typeface="Times New Roman"/>
                <a:sym typeface="Times New Roman"/>
              </a:rPr>
              <a:t>Difficulty in identifying faults in remote areas</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800"/>
              </a:spcBef>
              <a:spcAft>
                <a:spcPts val="0"/>
              </a:spcAft>
              <a:buNone/>
            </a:pPr>
            <a:r>
              <a:rPr b="1" lang="en-US">
                <a:solidFill>
                  <a:srgbClr val="0D0D0D"/>
                </a:solidFill>
                <a:latin typeface="Times New Roman"/>
                <a:ea typeface="Times New Roman"/>
                <a:cs typeface="Times New Roman"/>
                <a:sym typeface="Times New Roman"/>
              </a:rPr>
              <a:t>Delays in manual fault inspection</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800"/>
              </a:spcBef>
              <a:spcAft>
                <a:spcPts val="0"/>
              </a:spcAft>
              <a:buNone/>
            </a:pPr>
            <a:r>
              <a:rPr b="1" lang="en-US">
                <a:solidFill>
                  <a:srgbClr val="0D0D0D"/>
                </a:solidFill>
                <a:latin typeface="Times New Roman"/>
                <a:ea typeface="Times New Roman"/>
                <a:cs typeface="Times New Roman"/>
                <a:sym typeface="Times New Roman"/>
              </a:rPr>
              <a:t>High maintenance workload during emergencies</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800"/>
              </a:spcBef>
              <a:spcAft>
                <a:spcPts val="800"/>
              </a:spcAft>
              <a:buNone/>
            </a:pPr>
            <a:r>
              <a:rPr b="1" lang="en-US">
                <a:solidFill>
                  <a:srgbClr val="0D0D0D"/>
                </a:solidFill>
                <a:latin typeface="Times New Roman"/>
                <a:ea typeface="Times New Roman"/>
                <a:cs typeface="Times New Roman"/>
                <a:sym typeface="Times New Roman"/>
              </a:rPr>
              <a:t>Power interruptions affecting consumers</a:t>
            </a:r>
            <a:endParaRPr/>
          </a:p>
        </p:txBody>
      </p:sp>
      <p:sp>
        <p:nvSpPr>
          <p:cNvPr id="224" name="Google Shape;224;g2a4bc53d5f5dde08_4"/>
          <p:cNvSpPr txBox="1"/>
          <p:nvPr/>
        </p:nvSpPr>
        <p:spPr>
          <a:xfrm>
            <a:off x="4950900" y="315175"/>
            <a:ext cx="4193100" cy="632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1. Question: What is the main purpose of fault detection in transmission lines using IoT?</a:t>
            </a:r>
            <a:endParaRPr/>
          </a:p>
          <a:p>
            <a:pPr indent="0" lvl="0" marL="0" rtl="0" algn="l">
              <a:spcBef>
                <a:spcPts val="0"/>
              </a:spcBef>
              <a:spcAft>
                <a:spcPts val="0"/>
              </a:spcAft>
              <a:buNone/>
            </a:pPr>
            <a:r>
              <a:rPr lang="en-US"/>
              <a:t>Answer: The system is designed to improve power transmission reliability by detecting faults quickly and preventing long-duration power interruptions.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Question: Which components are mainly used in the IoT-based fault detection system?</a:t>
            </a:r>
            <a:endParaRPr/>
          </a:p>
          <a:p>
            <a:pPr indent="0" lvl="0" marL="0" rtl="0" algn="l">
              <a:spcBef>
                <a:spcPts val="0"/>
              </a:spcBef>
              <a:spcAft>
                <a:spcPts val="0"/>
              </a:spcAft>
              <a:buNone/>
            </a:pPr>
            <a:r>
              <a:rPr lang="en-US"/>
              <a:t>Answer: The project uses monitoring sensors, processing units, communication devices, and cloud-based platforms to collect and share transmission line data.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Question: How does the system identify a fault in the transmission line?</a:t>
            </a:r>
            <a:endParaRPr/>
          </a:p>
          <a:p>
            <a:pPr indent="0" lvl="0" marL="0" rtl="0" algn="l">
              <a:spcBef>
                <a:spcPts val="0"/>
              </a:spcBef>
              <a:spcAft>
                <a:spcPts val="0"/>
              </a:spcAft>
              <a:buNone/>
            </a:pPr>
            <a:r>
              <a:rPr lang="en-US"/>
              <a:t>Answer: Faults are identified when the monitored values differ from predefined normal operating conditions of the transmission line.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Question: What are the advantages of using IoT in transmission line monitoring?</a:t>
            </a:r>
            <a:endParaRPr/>
          </a:p>
          <a:p>
            <a:pPr indent="0" lvl="0" marL="0" rtl="0" algn="l">
              <a:spcBef>
                <a:spcPts val="0"/>
              </a:spcBef>
              <a:spcAft>
                <a:spcPts val="0"/>
              </a:spcAft>
              <a:buNone/>
            </a:pPr>
            <a:r>
              <a:rPr lang="en-US"/>
              <a:t>Answer: IoT allows continuous data collection, instant fault reporting, reduced manual inspection, and better management of power systems.</a:t>
            </a:r>
            <a:endParaRPr/>
          </a:p>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graphicFrame>
        <p:nvGraphicFramePr>
          <p:cNvPr id="229" name="Google Shape;229;g7af169dfc50c3245_64"/>
          <p:cNvGraphicFramePr/>
          <p:nvPr/>
        </p:nvGraphicFramePr>
        <p:xfrm>
          <a:off x="114271" y="647106"/>
          <a:ext cx="3000000" cy="3000000"/>
        </p:xfrm>
        <a:graphic>
          <a:graphicData uri="http://schemas.openxmlformats.org/drawingml/2006/table">
            <a:tbl>
              <a:tblPr>
                <a:noFill/>
                <a:tableStyleId>{D39DFDF7-8922-47BE-BCB8-30E375196ABB}</a:tableStyleId>
              </a:tblPr>
              <a:tblGrid>
                <a:gridCol w="4457725"/>
                <a:gridCol w="4457725"/>
              </a:tblGrid>
              <a:tr h="3289825">
                <a:tc>
                  <a:txBody>
                    <a:bodyPr/>
                    <a:lstStyle/>
                    <a:p>
                      <a:pPr indent="0" lvl="0" marL="0" rtl="0" algn="l">
                        <a:spcBef>
                          <a:spcPts val="0"/>
                        </a:spcBef>
                        <a:spcAft>
                          <a:spcPts val="0"/>
                        </a:spcAft>
                        <a:buNone/>
                      </a:pPr>
                      <a:r>
                        <a:rPr lang="en-US" sz="1800"/>
                        <a:t>1. Says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“Faults should be detected quickly to avoid power cuts.”</a:t>
                      </a:r>
                      <a:endParaRPr sz="1800"/>
                    </a:p>
                    <a:p>
                      <a:pPr indent="0" lvl="0" marL="0" rtl="0" algn="l">
                        <a:spcBef>
                          <a:spcPts val="0"/>
                        </a:spcBef>
                        <a:spcAft>
                          <a:spcPts val="0"/>
                        </a:spcAft>
                        <a:buNone/>
                      </a:pPr>
                      <a:r>
                        <a:rPr lang="en-US" sz="1800"/>
                        <a:t>“Manual inspection takes too much time.”</a:t>
                      </a:r>
                      <a:endParaRPr sz="1800"/>
                    </a:p>
                    <a:p>
                      <a:pPr indent="0" lvl="0" marL="0" rtl="0" algn="l">
                        <a:spcBef>
                          <a:spcPts val="0"/>
                        </a:spcBef>
                        <a:spcAft>
                          <a:spcPts val="0"/>
                        </a:spcAft>
                        <a:buNone/>
                      </a:pPr>
                      <a:r>
                        <a:rPr lang="en-US" sz="1800"/>
                        <a:t>“Real-time monitoring can improve power system reliability.”</a:t>
                      </a:r>
                      <a:endParaRPr sz="1800"/>
                    </a:p>
                    <a:p>
                      <a:pPr indent="0" lvl="0" marL="0" rtl="0" algn="l">
                        <a:spcBef>
                          <a:spcPts val="0"/>
                        </a:spcBef>
                        <a:spcAft>
                          <a:spcPts val="0"/>
                        </a:spcAft>
                        <a:buNone/>
                      </a:pPr>
                      <a:r>
                        <a:rPr lang="en-US" sz="1800"/>
                        <a:t>“IoT technology makes maintenance easier and faster.”</a:t>
                      </a:r>
                      <a:endParaRPr sz="1800"/>
                    </a:p>
                    <a:p>
                      <a:pPr indent="0" lvl="0" marL="0" rtl="0" algn="l">
                        <a:spcBef>
                          <a:spcPts val="0"/>
                        </a:spcBef>
                        <a:spcAft>
                          <a:spcPts val="0"/>
                        </a:spcAft>
                        <a:buNone/>
                      </a:pPr>
                      <a:r>
                        <a:t/>
                      </a:r>
                      <a:endParaRPr sz="1800"/>
                    </a:p>
                  </a:txBody>
                  <a:tcPr marT="91425" marB="91425" marR="91425" marL="91425">
                    <a:lnR cap="flat" cmpd="sng" w="6350">
                      <a:solidFill>
                        <a:srgbClr val="000000"/>
                      </a:solidFill>
                      <a:prstDash val="solid"/>
                      <a:round/>
                      <a:headEnd len="sm" w="sm" type="none"/>
                      <a:tailEnd len="sm" w="sm" type="none"/>
                    </a:lnR>
                  </a:tcPr>
                </a:tc>
                <a:tc>
                  <a:txBody>
                    <a:bodyPr/>
                    <a:lstStyle/>
                    <a:p>
                      <a:pPr indent="0" lvl="0" marL="0" rtl="0" algn="just">
                        <a:lnSpc>
                          <a:spcPct val="150000"/>
                        </a:lnSpc>
                        <a:spcBef>
                          <a:spcPts val="0"/>
                        </a:spcBef>
                        <a:spcAft>
                          <a:spcPts val="0"/>
                        </a:spcAft>
                        <a:buNone/>
                      </a:pPr>
                      <a:r>
                        <a:rPr b="1" lang="en-US">
                          <a:solidFill>
                            <a:srgbClr val="0D0D0D"/>
                          </a:solidFill>
                          <a:latin typeface="Times New Roman"/>
                          <a:ea typeface="Times New Roman"/>
                          <a:cs typeface="Times New Roman"/>
                          <a:sym typeface="Times New Roman"/>
                        </a:rPr>
                        <a:t>3. Does</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US">
                          <a:solidFill>
                            <a:srgbClr val="0D0D0D"/>
                          </a:solidFill>
                          <a:latin typeface="Times New Roman"/>
                          <a:ea typeface="Times New Roman"/>
                          <a:cs typeface="Times New Roman"/>
                          <a:sym typeface="Times New Roman"/>
                        </a:rPr>
                        <a:t>Monitors transmission line parameters like voltage and current.</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US">
                          <a:solidFill>
                            <a:srgbClr val="0D0D0D"/>
                          </a:solidFill>
                          <a:latin typeface="Times New Roman"/>
                          <a:ea typeface="Times New Roman"/>
                          <a:cs typeface="Times New Roman"/>
                          <a:sym typeface="Times New Roman"/>
                        </a:rPr>
                        <a:t>Uses sensors and IoT devices for data collection.</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US">
                          <a:solidFill>
                            <a:srgbClr val="0D0D0D"/>
                          </a:solidFill>
                          <a:latin typeface="Times New Roman"/>
                          <a:ea typeface="Times New Roman"/>
                          <a:cs typeface="Times New Roman"/>
                          <a:sym typeface="Times New Roman"/>
                        </a:rPr>
                        <a:t>Checks system alerts and responds to faults quickly.</a:t>
                      </a:r>
                      <a:endParaRPr b="1">
                        <a:solidFill>
                          <a:srgbClr val="0D0D0D"/>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US">
                          <a:solidFill>
                            <a:srgbClr val="0D0D0D"/>
                          </a:solidFill>
                          <a:latin typeface="Times New Roman"/>
                          <a:ea typeface="Times New Roman"/>
                          <a:cs typeface="Times New Roman"/>
                          <a:sym typeface="Times New Roman"/>
                        </a:rPr>
                        <a:t>Maintains and repairs damaged transmission lines.</a:t>
                      </a:r>
                      <a:endParaRPr b="1">
                        <a:solidFill>
                          <a:srgbClr val="0D0D0D"/>
                        </a:solidFill>
                        <a:latin typeface="Times New Roman"/>
                        <a:ea typeface="Times New Roman"/>
                        <a:cs typeface="Times New Roman"/>
                        <a:sym typeface="Times New Roman"/>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289825">
                <a:tc>
                  <a:txBody>
                    <a:bodyPr/>
                    <a:lstStyle/>
                    <a:p>
                      <a:pPr indent="0" lvl="0" marL="0" rtl="0" algn="l">
                        <a:spcBef>
                          <a:spcPts val="0"/>
                        </a:spcBef>
                        <a:spcAft>
                          <a:spcPts val="0"/>
                        </a:spcAft>
                        <a:buNone/>
                      </a:pPr>
                      <a:r>
                        <a:rPr lang="en-US" sz="1800"/>
                        <a:t>2. Thinks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Needs a smarter and automated monitoring system.</a:t>
                      </a:r>
                      <a:endParaRPr sz="1800"/>
                    </a:p>
                    <a:p>
                      <a:pPr indent="0" lvl="0" marL="0" rtl="0" algn="l">
                        <a:spcBef>
                          <a:spcPts val="0"/>
                        </a:spcBef>
                        <a:spcAft>
                          <a:spcPts val="0"/>
                        </a:spcAft>
                        <a:buNone/>
                      </a:pPr>
                      <a:r>
                        <a:rPr lang="en-US" sz="1800"/>
                        <a:t>Wants to reduce maintenance costs and downtime.</a:t>
                      </a:r>
                      <a:endParaRPr sz="1800"/>
                    </a:p>
                    <a:p>
                      <a:pPr indent="0" lvl="0" marL="0" rtl="0" algn="l">
                        <a:spcBef>
                          <a:spcPts val="0"/>
                        </a:spcBef>
                        <a:spcAft>
                          <a:spcPts val="0"/>
                        </a:spcAft>
                        <a:buNone/>
                      </a:pPr>
                      <a:r>
                        <a:rPr lang="en-US" sz="1800"/>
                        <a:t>Thinks continuous monitoring can prevent major failures.</a:t>
                      </a:r>
                      <a:endParaRPr sz="1800"/>
                    </a:p>
                    <a:p>
                      <a:pPr indent="0" lvl="0" marL="0" rtl="0" algn="l">
                        <a:spcBef>
                          <a:spcPts val="0"/>
                        </a:spcBef>
                        <a:spcAft>
                          <a:spcPts val="0"/>
                        </a:spcAft>
                        <a:buNone/>
                      </a:pPr>
                      <a:r>
                        <a:rPr lang="en-US" sz="1800"/>
                        <a:t>Believes quick alerts can improve safety and efficiency.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US" sz="1800"/>
                        <a:t>4. Feels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Worried about unexpected power failures.</a:t>
                      </a:r>
                      <a:endParaRPr sz="1800"/>
                    </a:p>
                    <a:p>
                      <a:pPr indent="0" lvl="0" marL="0" rtl="0" algn="l">
                        <a:spcBef>
                          <a:spcPts val="0"/>
                        </a:spcBef>
                        <a:spcAft>
                          <a:spcPts val="0"/>
                        </a:spcAft>
                        <a:buNone/>
                      </a:pPr>
                      <a:r>
                        <a:rPr lang="en-US" sz="1800"/>
                        <a:t>Frustrated with delays in traditional fault detection methods.</a:t>
                      </a:r>
                      <a:endParaRPr sz="1800"/>
                    </a:p>
                    <a:p>
                      <a:pPr indent="0" lvl="0" marL="0" rtl="0" algn="l">
                        <a:spcBef>
                          <a:spcPts val="0"/>
                        </a:spcBef>
                        <a:spcAft>
                          <a:spcPts val="0"/>
                        </a:spcAft>
                        <a:buNone/>
                      </a:pPr>
                      <a:r>
                        <a:rPr lang="en-US" sz="1800"/>
                        <a:t>Confident when using automated monitoring systems.</a:t>
                      </a:r>
                      <a:endParaRPr sz="1800"/>
                    </a:p>
                    <a:p>
                      <a:pPr indent="0" lvl="0" marL="0" rtl="0" algn="l">
                        <a:spcBef>
                          <a:spcPts val="0"/>
                        </a:spcBef>
                        <a:spcAft>
                          <a:spcPts val="0"/>
                        </a:spcAft>
                        <a:buNone/>
                      </a:pPr>
                      <a:r>
                        <a:rPr lang="en-US" sz="1800"/>
                        <a:t>Satisfied when faults are detected and solved quickly.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txBody>
                  <a:tcPr marT="91425" marB="91425" marR="91425" marL="91425">
                    <a:lnT cap="flat" cmpd="sng" w="6350">
                      <a:solidFill>
                        <a:srgbClr val="000000"/>
                      </a:solidFill>
                      <a:prstDash val="solid"/>
                      <a:round/>
                      <a:headEnd len="sm" w="sm" type="none"/>
                      <a:tailEnd len="sm" w="sm" type="none"/>
                    </a:lnT>
                  </a:tcPr>
                </a:tc>
              </a:tr>
              <a:tr h="32898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30" name="Google Shape;230;g7af169dfc50c3245_64"/>
          <p:cNvSpPr txBox="1"/>
          <p:nvPr/>
        </p:nvSpPr>
        <p:spPr>
          <a:xfrm>
            <a:off x="2472691" y="7"/>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Empathy mapping </a:t>
            </a:r>
            <a:endParaRPr sz="3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g2a4bc53d5f5dde08_0"/>
          <p:cNvPicPr preferRelativeResize="0"/>
          <p:nvPr/>
        </p:nvPicPr>
        <p:blipFill>
          <a:blip r:embed="rId3">
            <a:alphaModFix/>
          </a:blip>
          <a:stretch>
            <a:fillRect/>
          </a:stretch>
        </p:blipFill>
        <p:spPr>
          <a:xfrm>
            <a:off x="0" y="866225"/>
            <a:ext cx="9144002" cy="5991775"/>
          </a:xfrm>
          <a:prstGeom prst="rect">
            <a:avLst/>
          </a:prstGeom>
          <a:noFill/>
          <a:ln>
            <a:noFill/>
          </a:ln>
        </p:spPr>
      </p:pic>
      <p:sp>
        <p:nvSpPr>
          <p:cNvPr id="236" name="Google Shape;236;g2a4bc53d5f5dde08_0"/>
          <p:cNvSpPr txBox="1"/>
          <p:nvPr/>
        </p:nvSpPr>
        <p:spPr>
          <a:xfrm>
            <a:off x="2905508" y="8"/>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Experience map </a:t>
            </a:r>
            <a:endParaRPr sz="3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24c0b0267f767c5b_41"/>
          <p:cNvSpPr txBox="1"/>
          <p:nvPr/>
        </p:nvSpPr>
        <p:spPr>
          <a:xfrm>
            <a:off x="2658275" y="-9"/>
            <a:ext cx="9144000" cy="7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latin typeface="Calibri"/>
                <a:ea typeface="Calibri"/>
                <a:cs typeface="Calibri"/>
                <a:sym typeface="Calibri"/>
              </a:rPr>
              <a:t>Understanding </a:t>
            </a:r>
            <a:endParaRPr sz="3600">
              <a:solidFill>
                <a:schemeClr val="dk1"/>
              </a:solidFill>
              <a:latin typeface="Calibri"/>
              <a:ea typeface="Calibri"/>
              <a:cs typeface="Calibri"/>
              <a:sym typeface="Calibri"/>
            </a:endParaRPr>
          </a:p>
        </p:txBody>
      </p:sp>
      <p:sp>
        <p:nvSpPr>
          <p:cNvPr id="242" name="Google Shape;242;g24c0b0267f767c5b_41"/>
          <p:cNvSpPr txBox="1"/>
          <p:nvPr/>
        </p:nvSpPr>
        <p:spPr>
          <a:xfrm>
            <a:off x="503401" y="1321518"/>
            <a:ext cx="81372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chemeClr val="dk1"/>
                </a:solidFill>
                <a:latin typeface="Calibri"/>
                <a:ea typeface="Calibri"/>
                <a:cs typeface="Calibri"/>
                <a:sym typeface="Calibri"/>
              </a:rPr>
              <a:t> The electrician travels to the transmission line location and manually checks the line and equipment to find the damaged area. After locating the fault, the damaged parts are repaired or replaced, and the transmission line is tested to ensure proper functioning. then the power supply is restored, the maintenance work is reported as completed. </a:t>
            </a:r>
            <a:endParaRPr sz="30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4. Define</a:t>
            </a:r>
            <a:endParaRPr/>
          </a:p>
        </p:txBody>
      </p:sp>
      <p:sp>
        <p:nvSpPr>
          <p:cNvPr id="248" name="Google Shape;248;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Goal: Design a system that can detect faults in transmission lines quickly and accurately.</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The system should monitor line parameters such as current and voltage.</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When abnormal conditions occur, the system identifies and reports the fault.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7"/>
          <p:cNvSpPr txBox="1"/>
          <p:nvPr>
            <p:ph type="title"/>
          </p:nvPr>
        </p:nvSpPr>
        <p:spPr>
          <a:xfrm>
            <a:off x="457200" y="267213"/>
            <a:ext cx="8229600" cy="945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5. Ideat</a:t>
            </a:r>
            <a:r>
              <a:rPr lang="en-US"/>
              <a:t>ion </a:t>
            </a:r>
            <a:endParaRPr/>
          </a:p>
        </p:txBody>
      </p:sp>
      <p:pic>
        <p:nvPicPr>
          <p:cNvPr id="254" name="Google Shape;254;p7"/>
          <p:cNvPicPr preferRelativeResize="0"/>
          <p:nvPr/>
        </p:nvPicPr>
        <p:blipFill>
          <a:blip r:embed="rId3">
            <a:alphaModFix/>
          </a:blip>
          <a:stretch>
            <a:fillRect/>
          </a:stretch>
        </p:blipFill>
        <p:spPr>
          <a:xfrm>
            <a:off x="3665350" y="1583575"/>
            <a:ext cx="5021449" cy="4554016"/>
          </a:xfrm>
          <a:prstGeom prst="rect">
            <a:avLst/>
          </a:prstGeom>
          <a:noFill/>
          <a:ln>
            <a:noFill/>
          </a:ln>
        </p:spPr>
      </p:pic>
      <p:sp>
        <p:nvSpPr>
          <p:cNvPr id="255" name="Google Shape;255;p7"/>
          <p:cNvSpPr txBox="1"/>
          <p:nvPr/>
        </p:nvSpPr>
        <p:spPr>
          <a:xfrm>
            <a:off x="457200" y="2355450"/>
            <a:ext cx="4011900" cy="21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1.brain writing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2.brain stroming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3.dot voting </a:t>
            </a:r>
            <a:endParaRPr sz="32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2a4bc53d5f5dde08_20"/>
          <p:cNvSpPr txBox="1"/>
          <p:nvPr>
            <p:ph type="title"/>
          </p:nvPr>
        </p:nvSpPr>
        <p:spPr>
          <a:xfrm>
            <a:off x="-2209290" y="-11"/>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Brain writing </a:t>
            </a:r>
            <a:endParaRPr/>
          </a:p>
        </p:txBody>
      </p:sp>
      <p:sp>
        <p:nvSpPr>
          <p:cNvPr id="261" name="Google Shape;261;g2a4bc53d5f5dde08_20"/>
          <p:cNvSpPr txBox="1"/>
          <p:nvPr>
            <p:ph idx="1" type="body"/>
          </p:nvPr>
        </p:nvSpPr>
        <p:spPr>
          <a:xfrm>
            <a:off x="457200" y="1143000"/>
            <a:ext cx="8229600" cy="1828800"/>
          </a:xfrm>
          <a:prstGeom prst="rect">
            <a:avLst/>
          </a:prstGeom>
        </p:spPr>
        <p:txBody>
          <a:bodyPr anchorCtr="0" anchor="t" bIns="45700" lIns="91425" spcFirstLastPara="1" rIns="91425" wrap="square" tIns="45700">
            <a:normAutofit fontScale="92500" lnSpcReduction="10000"/>
          </a:bodyPr>
          <a:lstStyle/>
          <a:p>
            <a:pPr indent="0" lvl="0" marL="0" rtl="0" algn="l">
              <a:spcBef>
                <a:spcPts val="360"/>
              </a:spcBef>
              <a:spcAft>
                <a:spcPts val="0"/>
              </a:spcAft>
              <a:buNone/>
            </a:pPr>
            <a:r>
              <a:rPr lang="en-US"/>
              <a:t>Brainwriting is a silent idea-generation technique where each person writes ideas and passes them to others to build on. Here are strong, practical ideas you can use for your project:</a:t>
            </a:r>
            <a:endParaRPr/>
          </a:p>
        </p:txBody>
      </p:sp>
      <p:sp>
        <p:nvSpPr>
          <p:cNvPr id="262" name="Google Shape;262;g2a4bc53d5f5dde08_20"/>
          <p:cNvSpPr txBox="1"/>
          <p:nvPr/>
        </p:nvSpPr>
        <p:spPr>
          <a:xfrm>
            <a:off x="457190" y="3429008"/>
            <a:ext cx="9144000" cy="92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Brain storming </a:t>
            </a:r>
            <a:endParaRPr sz="4800">
              <a:solidFill>
                <a:schemeClr val="dk1"/>
              </a:solidFill>
              <a:latin typeface="Calibri"/>
              <a:ea typeface="Calibri"/>
              <a:cs typeface="Calibri"/>
              <a:sym typeface="Calibri"/>
            </a:endParaRPr>
          </a:p>
        </p:txBody>
      </p:sp>
      <p:sp>
        <p:nvSpPr>
          <p:cNvPr id="263" name="Google Shape;263;g2a4bc53d5f5dde08_20"/>
          <p:cNvSpPr txBox="1"/>
          <p:nvPr/>
        </p:nvSpPr>
        <p:spPr>
          <a:xfrm flipH="1">
            <a:off x="457203" y="4571732"/>
            <a:ext cx="7121700" cy="128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Brainstorming focuses on generating many ideas quickly without judging them. Here are creative and practical ideas for your project:</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2a4bc53d5f5dde08_14"/>
          <p:cNvSpPr txBox="1"/>
          <p:nvPr/>
        </p:nvSpPr>
        <p:spPr>
          <a:xfrm>
            <a:off x="1614556" y="8"/>
            <a:ext cx="9144000" cy="92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Brain storming sessions </a:t>
            </a:r>
            <a:endParaRPr sz="4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24c0b0267f767c5b_32"/>
          <p:cNvSpPr txBox="1"/>
          <p:nvPr/>
        </p:nvSpPr>
        <p:spPr>
          <a:xfrm>
            <a:off x="77800" y="2104368"/>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74" name="Google Shape;274;g24c0b0267f767c5b_32"/>
          <p:cNvSpPr txBox="1"/>
          <p:nvPr/>
        </p:nvSpPr>
        <p:spPr>
          <a:xfrm>
            <a:off x="-4578" y="2899032"/>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75" name="Google Shape;275;g24c0b0267f767c5b_32"/>
          <p:cNvSpPr txBox="1"/>
          <p:nvPr/>
        </p:nvSpPr>
        <p:spPr>
          <a:xfrm>
            <a:off x="963856" y="585203"/>
            <a:ext cx="9144000" cy="92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The solutions</a:t>
            </a:r>
            <a:endParaRPr sz="4800">
              <a:solidFill>
                <a:schemeClr val="dk1"/>
              </a:solidFill>
              <a:latin typeface="Calibri"/>
              <a:ea typeface="Calibri"/>
              <a:cs typeface="Calibri"/>
              <a:sym typeface="Calibri"/>
            </a:endParaRPr>
          </a:p>
        </p:txBody>
      </p:sp>
      <p:sp>
        <p:nvSpPr>
          <p:cNvPr id="276" name="Google Shape;276;g24c0b0267f767c5b_32"/>
          <p:cNvSpPr txBox="1"/>
          <p:nvPr/>
        </p:nvSpPr>
        <p:spPr>
          <a:xfrm>
            <a:off x="963839" y="1510695"/>
            <a:ext cx="7371900" cy="462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a:t>
            </a:r>
            <a:r>
              <a:rPr lang="en-US"/>
              <a:t>IoT-Based Monitoring System</a:t>
            </a:r>
            <a:endParaRPr/>
          </a:p>
          <a:p>
            <a:pPr indent="0" lvl="0" marL="0" rtl="0" algn="l">
              <a:spcBef>
                <a:spcPts val="0"/>
              </a:spcBef>
              <a:spcAft>
                <a:spcPts val="0"/>
              </a:spcAft>
              <a:buNone/>
            </a:pPr>
            <a:r>
              <a:rPr lang="en-US"/>
              <a:t>Uses sensors and internet technology to monitor transmission lines in real time and detect faults quickly.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Protective Relays and Circuit Breakers</a:t>
            </a:r>
            <a:endParaRPr/>
          </a:p>
          <a:p>
            <a:pPr indent="0" lvl="0" marL="0" rtl="0" algn="l">
              <a:spcBef>
                <a:spcPts val="0"/>
              </a:spcBef>
              <a:spcAft>
                <a:spcPts val="0"/>
              </a:spcAft>
              <a:buNone/>
            </a:pPr>
            <a:r>
              <a:rPr lang="en-US"/>
              <a:t>Automatically identify faulty sections and disconnect them to protect the power system.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SCADA Remote Monitoring System</a:t>
            </a:r>
            <a:endParaRPr/>
          </a:p>
          <a:p>
            <a:pPr indent="0" lvl="0" marL="0" rtl="0" algn="l">
              <a:spcBef>
                <a:spcPts val="0"/>
              </a:spcBef>
              <a:spcAft>
                <a:spcPts val="0"/>
              </a:spcAft>
              <a:buNone/>
            </a:pPr>
            <a:r>
              <a:rPr lang="en-US"/>
              <a:t>Enables continuous remote supervision and control of transmission lines for faster fault detection.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Drone and Thermal Imaging Inspection</a:t>
            </a:r>
            <a:endParaRPr/>
          </a:p>
          <a:p>
            <a:pPr indent="0" lvl="0" marL="0" rtl="0" algn="l">
              <a:spcBef>
                <a:spcPts val="0"/>
              </a:spcBef>
              <a:spcAft>
                <a:spcPts val="0"/>
              </a:spcAft>
              <a:buNone/>
            </a:pPr>
            <a:r>
              <a:rPr lang="en-US"/>
              <a:t>Helps locate damaged or overheated components in transmission lines, especially in remote areas.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g24c0b0267f767c5b_65"/>
          <p:cNvPicPr preferRelativeResize="0"/>
          <p:nvPr/>
        </p:nvPicPr>
        <p:blipFill>
          <a:blip r:embed="rId3">
            <a:alphaModFix/>
          </a:blip>
          <a:stretch>
            <a:fillRect/>
          </a:stretch>
        </p:blipFill>
        <p:spPr>
          <a:xfrm>
            <a:off x="0" y="-110928"/>
            <a:ext cx="9144000" cy="70798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7af169dfc50c3245_151"/>
          <p:cNvSpPr txBox="1"/>
          <p:nvPr>
            <p:ph type="title"/>
          </p:nvPr>
        </p:nvSpPr>
        <p:spPr>
          <a:xfrm>
            <a:off x="457200" y="-243337"/>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The proposed solution </a:t>
            </a:r>
            <a:endParaRPr/>
          </a:p>
        </p:txBody>
      </p:sp>
      <p:sp>
        <p:nvSpPr>
          <p:cNvPr id="287" name="Google Shape;287;g7af169dfc50c3245_151"/>
          <p:cNvSpPr txBox="1"/>
          <p:nvPr/>
        </p:nvSpPr>
        <p:spPr>
          <a:xfrm>
            <a:off x="2" y="1574983"/>
            <a:ext cx="91440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Fault detection in transmission lines with IoT is used to identify faults such as short circuits, line breaks, and overloads quickly and accurately. Sensors placed on the transmission line collect real-time data like voltage and current, and send it through the Internet to monitoring systems. This helps electricity departments detect problems early, reduce power outages, improve safety, and maintain a reliable power supply.</a:t>
            </a:r>
            <a:endParaRPr sz="24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8" name="Google Shape;288;g7af169dfc50c3245_151"/>
          <p:cNvSpPr txBox="1"/>
          <p:nvPr/>
        </p:nvSpPr>
        <p:spPr>
          <a:xfrm>
            <a:off x="0" y="899664"/>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Fault detection in transmission lines with IOT </a:t>
            </a:r>
            <a:endParaRPr sz="3200">
              <a:solidFill>
                <a:schemeClr val="dk1"/>
              </a:solidFill>
              <a:latin typeface="Calibri"/>
              <a:ea typeface="Calibri"/>
              <a:cs typeface="Calibri"/>
              <a:sym typeface="Calibri"/>
            </a:endParaRPr>
          </a:p>
        </p:txBody>
      </p:sp>
      <p:pic>
        <p:nvPicPr>
          <p:cNvPr id="289" name="Google Shape;289;g7af169dfc50c3245_151"/>
          <p:cNvPicPr preferRelativeResize="0"/>
          <p:nvPr/>
        </p:nvPicPr>
        <p:blipFill>
          <a:blip r:embed="rId3">
            <a:alphaModFix/>
          </a:blip>
          <a:stretch>
            <a:fillRect/>
          </a:stretch>
        </p:blipFill>
        <p:spPr>
          <a:xfrm>
            <a:off x="3629136" y="4053079"/>
            <a:ext cx="4665421" cy="2804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2a4bc53d5f5dde08_43"/>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 Required </a:t>
            </a:r>
            <a:endParaRPr/>
          </a:p>
          <a:p>
            <a:pPr indent="0" lvl="0" marL="0" rtl="0" algn="ctr">
              <a:spcBef>
                <a:spcPts val="0"/>
              </a:spcBef>
              <a:spcAft>
                <a:spcPts val="0"/>
              </a:spcAft>
              <a:buNone/>
            </a:pPr>
            <a:r>
              <a:rPr lang="en-US"/>
              <a:t>Components </a:t>
            </a:r>
            <a:endParaRPr/>
          </a:p>
        </p:txBody>
      </p:sp>
      <p:sp>
        <p:nvSpPr>
          <p:cNvPr id="295" name="Google Shape;295;g2a4bc53d5f5dde08_43"/>
          <p:cNvSpPr txBox="1"/>
          <p:nvPr>
            <p:ph idx="1" type="body"/>
          </p:nvPr>
        </p:nvSpPr>
        <p:spPr>
          <a:xfrm>
            <a:off x="457200" y="187525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1.ESP-32 with 12C back </a:t>
            </a:r>
            <a:endParaRPr/>
          </a:p>
          <a:p>
            <a:pPr indent="0" lvl="0" marL="0" rtl="0" algn="l">
              <a:spcBef>
                <a:spcPts val="360"/>
              </a:spcBef>
              <a:spcAft>
                <a:spcPts val="0"/>
              </a:spcAft>
              <a:buNone/>
            </a:pPr>
            <a:r>
              <a:rPr lang="en-US"/>
              <a:t>2.current sensor </a:t>
            </a:r>
            <a:endParaRPr/>
          </a:p>
          <a:p>
            <a:pPr indent="0" lvl="0" marL="0" rtl="0" algn="l">
              <a:spcBef>
                <a:spcPts val="360"/>
              </a:spcBef>
              <a:spcAft>
                <a:spcPts val="0"/>
              </a:spcAft>
              <a:buNone/>
            </a:pPr>
            <a:r>
              <a:rPr lang="en-US"/>
              <a:t>3.voltage sensor </a:t>
            </a:r>
            <a:endParaRPr/>
          </a:p>
          <a:p>
            <a:pPr indent="0" lvl="0" marL="0" rtl="0" algn="l">
              <a:spcBef>
                <a:spcPts val="360"/>
              </a:spcBef>
              <a:spcAft>
                <a:spcPts val="0"/>
              </a:spcAft>
              <a:buNone/>
            </a:pPr>
            <a:r>
              <a:rPr lang="en-US"/>
              <a:t>4.display</a:t>
            </a:r>
            <a:endParaRPr/>
          </a:p>
          <a:p>
            <a:pPr indent="0" lvl="0" marL="0" rtl="0" algn="l">
              <a:spcBef>
                <a:spcPts val="360"/>
              </a:spcBef>
              <a:spcAft>
                <a:spcPts val="0"/>
              </a:spcAft>
              <a:buNone/>
            </a:pPr>
            <a:r>
              <a:rPr lang="en-US"/>
              <a:t>5.wifi module </a:t>
            </a:r>
            <a:endParaRPr/>
          </a:p>
          <a:p>
            <a:pPr indent="0" lvl="0" marL="0" rtl="0" algn="l">
              <a:spcBef>
                <a:spcPts val="360"/>
              </a:spcBef>
              <a:spcAft>
                <a:spcPts val="0"/>
              </a:spcAft>
              <a:buNone/>
            </a:pPr>
            <a:r>
              <a:rPr lang="en-US"/>
              <a:t>6.battery supply </a:t>
            </a:r>
            <a:endParaRPr/>
          </a:p>
          <a:p>
            <a:pPr indent="0" lvl="0" marL="0" rtl="0" algn="l">
              <a:spcBef>
                <a:spcPts val="360"/>
              </a:spcBef>
              <a:spcAft>
                <a:spcPts val="0"/>
              </a:spcAft>
              <a:buNone/>
            </a:pPr>
            <a:r>
              <a:rPr lang="en-US"/>
              <a:t>7.required jumper wires</a:t>
            </a:r>
            <a:endParaRPr/>
          </a:p>
          <a:p>
            <a:pPr indent="0" lvl="0" marL="0" rtl="0" algn="l">
              <a:spcBef>
                <a:spcPts val="36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g7af169dfc50c3245_164"/>
          <p:cNvPicPr preferRelativeResize="0"/>
          <p:nvPr/>
        </p:nvPicPr>
        <p:blipFill>
          <a:blip r:embed="rId3">
            <a:alphaModFix/>
          </a:blip>
          <a:stretch>
            <a:fillRect/>
          </a:stretch>
        </p:blipFill>
        <p:spPr>
          <a:xfrm>
            <a:off x="354800" y="1445875"/>
            <a:ext cx="3192099" cy="3768951"/>
          </a:xfrm>
          <a:prstGeom prst="rect">
            <a:avLst/>
          </a:prstGeom>
          <a:noFill/>
          <a:ln>
            <a:noFill/>
          </a:ln>
        </p:spPr>
      </p:pic>
      <p:sp>
        <p:nvSpPr>
          <p:cNvPr id="301" name="Google Shape;301;g7af169dfc50c3245_164"/>
          <p:cNvSpPr txBox="1"/>
          <p:nvPr/>
        </p:nvSpPr>
        <p:spPr>
          <a:xfrm>
            <a:off x="2714536" y="337669"/>
            <a:ext cx="9144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6000">
                <a:solidFill>
                  <a:schemeClr val="dk1"/>
                </a:solidFill>
                <a:latin typeface="Calibri"/>
                <a:ea typeface="Calibri"/>
                <a:cs typeface="Calibri"/>
                <a:sym typeface="Calibri"/>
              </a:rPr>
              <a:t>ESP-32 D</a:t>
            </a:r>
            <a:endParaRPr sz="6000">
              <a:solidFill>
                <a:schemeClr val="dk1"/>
              </a:solidFill>
              <a:latin typeface="Calibri"/>
              <a:ea typeface="Calibri"/>
              <a:cs typeface="Calibri"/>
              <a:sym typeface="Calibri"/>
            </a:endParaRPr>
          </a:p>
        </p:txBody>
      </p:sp>
      <p:sp>
        <p:nvSpPr>
          <p:cNvPr id="302" name="Google Shape;302;g7af169dfc50c3245_164"/>
          <p:cNvSpPr txBox="1"/>
          <p:nvPr/>
        </p:nvSpPr>
        <p:spPr>
          <a:xfrm>
            <a:off x="3886495" y="1874400"/>
            <a:ext cx="49866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ESP32 is a low-cost and powerful microcontroller with built-in Wi-Fi and Bluetooth features. It is widely used in IoT projects for connecting devices to the internet, collecting sensor data, and controlling systems remotely. ESP32 is popular because it is fast, energy efficient, and easy to program.</a:t>
            </a:r>
            <a:endParaRPr sz="24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7af169dfc50c3245_167"/>
          <p:cNvSpPr txBox="1"/>
          <p:nvPr/>
        </p:nvSpPr>
        <p:spPr>
          <a:xfrm>
            <a:off x="1082852" y="331846"/>
            <a:ext cx="9144000" cy="92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Current sensor ACS712 5A</a:t>
            </a:r>
            <a:endParaRPr sz="3600">
              <a:solidFill>
                <a:schemeClr val="dk1"/>
              </a:solidFill>
              <a:latin typeface="Calibri"/>
              <a:ea typeface="Calibri"/>
              <a:cs typeface="Calibri"/>
              <a:sym typeface="Calibri"/>
            </a:endParaRPr>
          </a:p>
        </p:txBody>
      </p:sp>
      <p:pic>
        <p:nvPicPr>
          <p:cNvPr id="308" name="Google Shape;308;g7af169dfc50c3245_167"/>
          <p:cNvPicPr preferRelativeResize="0"/>
          <p:nvPr/>
        </p:nvPicPr>
        <p:blipFill>
          <a:blip r:embed="rId3">
            <a:alphaModFix/>
          </a:blip>
          <a:stretch>
            <a:fillRect/>
          </a:stretch>
        </p:blipFill>
        <p:spPr>
          <a:xfrm>
            <a:off x="-1" y="1668129"/>
            <a:ext cx="3650433" cy="2921374"/>
          </a:xfrm>
          <a:prstGeom prst="rect">
            <a:avLst/>
          </a:prstGeom>
          <a:noFill/>
          <a:ln>
            <a:noFill/>
          </a:ln>
        </p:spPr>
      </p:pic>
      <p:sp>
        <p:nvSpPr>
          <p:cNvPr id="309" name="Google Shape;309;g7af169dfc50c3245_167"/>
          <p:cNvSpPr txBox="1"/>
          <p:nvPr/>
        </p:nvSpPr>
        <p:spPr>
          <a:xfrm>
            <a:off x="3650424" y="1668126"/>
            <a:ext cx="5006100" cy="410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ACS712 Current Sensor Module is a current sensing module used to measure AC and DC current in electrical circuits. It is commonly used in IoT and electrical projects for monitoring current and detecting faults.</a:t>
            </a:r>
            <a:endParaRPr sz="32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7af169dfc50c3245_170"/>
          <p:cNvSpPr txBox="1"/>
          <p:nvPr/>
        </p:nvSpPr>
        <p:spPr>
          <a:xfrm>
            <a:off x="1077275" y="308122"/>
            <a:ext cx="9144000" cy="92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Voltage sensor ZMPT101B </a:t>
            </a:r>
            <a:endParaRPr sz="4800">
              <a:solidFill>
                <a:schemeClr val="dk1"/>
              </a:solidFill>
              <a:latin typeface="Calibri"/>
              <a:ea typeface="Calibri"/>
              <a:cs typeface="Calibri"/>
              <a:sym typeface="Calibri"/>
            </a:endParaRPr>
          </a:p>
        </p:txBody>
      </p:sp>
      <p:pic>
        <p:nvPicPr>
          <p:cNvPr id="315" name="Google Shape;315;g7af169dfc50c3245_170"/>
          <p:cNvPicPr preferRelativeResize="0"/>
          <p:nvPr/>
        </p:nvPicPr>
        <p:blipFill>
          <a:blip r:embed="rId3">
            <a:alphaModFix/>
          </a:blip>
          <a:stretch>
            <a:fillRect/>
          </a:stretch>
        </p:blipFill>
        <p:spPr>
          <a:xfrm>
            <a:off x="0" y="1722225"/>
            <a:ext cx="4023675" cy="3413550"/>
          </a:xfrm>
          <a:prstGeom prst="rect">
            <a:avLst/>
          </a:prstGeom>
          <a:noFill/>
          <a:ln>
            <a:noFill/>
          </a:ln>
        </p:spPr>
      </p:pic>
      <p:sp>
        <p:nvSpPr>
          <p:cNvPr id="316" name="Google Shape;316;g7af169dfc50c3245_170"/>
          <p:cNvSpPr txBox="1"/>
          <p:nvPr/>
        </p:nvSpPr>
        <p:spPr>
          <a:xfrm>
            <a:off x="3823199" y="1722225"/>
            <a:ext cx="5320800" cy="46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ZMPT101B Voltage Sensor Module is a voltage sensing module used to measure AC voltage in electrical circuits. It is commonly used in IoT and power monitoring projects for voltage measurement, fault detection, and system protection.</a:t>
            </a:r>
            <a:endParaRPr sz="32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g7af169dfc50c3245_173"/>
          <p:cNvPicPr preferRelativeResize="0"/>
          <p:nvPr/>
        </p:nvPicPr>
        <p:blipFill>
          <a:blip r:embed="rId3">
            <a:alphaModFix/>
          </a:blip>
          <a:stretch>
            <a:fillRect/>
          </a:stretch>
        </p:blipFill>
        <p:spPr>
          <a:xfrm>
            <a:off x="-11" y="2084627"/>
            <a:ext cx="4572000" cy="3467100"/>
          </a:xfrm>
          <a:prstGeom prst="rect">
            <a:avLst/>
          </a:prstGeom>
          <a:noFill/>
          <a:ln>
            <a:noFill/>
          </a:ln>
        </p:spPr>
      </p:pic>
      <p:sp>
        <p:nvSpPr>
          <p:cNvPr id="322" name="Google Shape;322;g7af169dfc50c3245_173"/>
          <p:cNvSpPr txBox="1"/>
          <p:nvPr/>
        </p:nvSpPr>
        <p:spPr>
          <a:xfrm>
            <a:off x="4572000" y="1027425"/>
            <a:ext cx="4572000" cy="558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16x2 LCD Display Module is an electronic display used to show text, sensor values, and system status in embedded and IoT projects. It is commonly connected with microcontrollers like ESP32 and Arduino for displaying real-time information.</a:t>
            </a:r>
            <a:endParaRPr sz="3200">
              <a:solidFill>
                <a:schemeClr val="dk1"/>
              </a:solidFill>
              <a:latin typeface="Calibri"/>
              <a:ea typeface="Calibri"/>
              <a:cs typeface="Calibri"/>
              <a:sym typeface="Calibri"/>
            </a:endParaRPr>
          </a:p>
        </p:txBody>
      </p:sp>
      <p:sp>
        <p:nvSpPr>
          <p:cNvPr id="323" name="Google Shape;323;g7af169dfc50c3245_173"/>
          <p:cNvSpPr txBox="1"/>
          <p:nvPr/>
        </p:nvSpPr>
        <p:spPr>
          <a:xfrm>
            <a:off x="2285989" y="8"/>
            <a:ext cx="9144000" cy="7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latin typeface="Calibri"/>
                <a:ea typeface="Calibri"/>
                <a:cs typeface="Calibri"/>
                <a:sym typeface="Calibri"/>
              </a:rPr>
              <a:t>16x2 LCD Display </a:t>
            </a:r>
            <a:endParaRPr sz="36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2a4bc53d5f5dde08_3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Ideation </a:t>
            </a:r>
            <a:endParaRPr/>
          </a:p>
        </p:txBody>
      </p:sp>
      <p:sp>
        <p:nvSpPr>
          <p:cNvPr id="329" name="Google Shape;329;g2a4bc53d5f5dde08_3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62500" lnSpcReduction="10000"/>
          </a:bodyPr>
          <a:lstStyle/>
          <a:p>
            <a:pPr indent="0" lvl="0" marL="0" rtl="0" algn="l">
              <a:spcBef>
                <a:spcPts val="360"/>
              </a:spcBef>
              <a:spcAft>
                <a:spcPts val="0"/>
              </a:spcAft>
              <a:buNone/>
            </a:pPr>
            <a:r>
              <a:rPr lang="en-US"/>
              <a:t>The solution: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practical solution for fault detection in transmission lines using IoT involves deploying smart sensor nodes along the power lines to continuously monitor parameters such as voltage, current, temperature, and line condition. These sensors are connected to microcontrollers that analyze the data in real time and detect abnormalities like short circuits, open circuits, or overloads. When a fault occurs, the system instantly sends alerts through communication technologies such as GSM, Wi-Fi, or cloud-based platforms to control centers and maintenance teams. This enables quick identification of the exact fault location, reducing downtime and improving system reliability. Additionally, IoT-based systems can store historical data for analysis, helping predict potential failures and support preventive maintenance. Overall, this approach enhances efficiency, ensures faster response, and minimizes power losses in transmission networks.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6. Story Boarding</a:t>
            </a:r>
            <a:endParaRPr/>
          </a:p>
        </p:txBody>
      </p:sp>
      <p:sp>
        <p:nvSpPr>
          <p:cNvPr id="335" name="Google Shape;335;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Step 1: Transmission line operates normally.</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Step 2: Fault occurs (short circuit or line break).</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Step 3: Sensors detect abnormal current.</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Step 4: Control unit processes the signal.</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Step 5: Fault indication or alarm is generated.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7. Prototype</a:t>
            </a:r>
            <a:endParaRPr/>
          </a:p>
        </p:txBody>
      </p:sp>
      <p:sp>
        <p:nvSpPr>
          <p:cNvPr id="341" name="Google Shape;341;p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Prototype components:</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 Transmission line model</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 Current sensor or relay</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 Microcontroller / control circuit</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 Indicator LEDs or buzzer</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The prototype simulates faults and demonstrates detection.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8. Prototype Explaining Story</a:t>
            </a:r>
            <a:endParaRPr/>
          </a:p>
        </p:txBody>
      </p:sp>
      <p:sp>
        <p:nvSpPr>
          <p:cNvPr id="347" name="Google Shape;34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When the transmission line operates normally, current flows within safe limits.</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If a fault occurs, the current increases suddenly.</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The sensor detects this change and sends a signal to the controller.</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The controller activates an indicator showing that a fault has occurred.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9. Conclusion</a:t>
            </a:r>
            <a:endParaRPr/>
          </a:p>
        </p:txBody>
      </p:sp>
      <p:sp>
        <p:nvSpPr>
          <p:cNvPr id="353" name="Google Shape;35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Fault detection systems improve power system reliability and safety.</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Using sensors and control circuits helps detect faults quickly.</a:t>
            </a:r>
            <a:endParaRPr/>
          </a:p>
          <a:p>
            <a:pPr indent="-342900" lvl="0" marL="342900" rtl="0" algn="l">
              <a:lnSpc>
                <a:spcPct val="100000"/>
              </a:lnSpc>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This project demonstrates a simple and effective method for transmission line fault detection.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2a4bc53d5f5dde08_8"/>
          <p:cNvSpPr txBox="1"/>
          <p:nvPr/>
        </p:nvSpPr>
        <p:spPr>
          <a:xfrm>
            <a:off x="4577" y="2899033"/>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359" name="Google Shape;359;g2a4bc53d5f5dde08_8"/>
          <p:cNvPicPr preferRelativeResize="0"/>
          <p:nvPr/>
        </p:nvPicPr>
        <p:blipFill>
          <a:blip r:embed="rId3">
            <a:alphaModFix/>
          </a:blip>
          <a:stretch>
            <a:fillRect/>
          </a:stretch>
        </p:blipFill>
        <p:spPr>
          <a:xfrm>
            <a:off x="869988" y="804337"/>
            <a:ext cx="7413176" cy="5249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