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ink/ink1.xml" ContentType="application/inkml+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6" r:id="rId1"/>
  </p:sldMasterIdLst>
  <p:notesMasterIdLst>
    <p:notesMasterId r:id="rId27"/>
  </p:notes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74" r:id="rId15"/>
    <p:sldId id="276" r:id="rId16"/>
    <p:sldId id="275" r:id="rId17"/>
    <p:sldId id="277" r:id="rId18"/>
    <p:sldId id="288" r:id="rId19"/>
    <p:sldId id="278" r:id="rId20"/>
    <p:sldId id="279" r:id="rId21"/>
    <p:sldId id="280" r:id="rId22"/>
    <p:sldId id="281" r:id="rId23"/>
    <p:sldId id="282" r:id="rId24"/>
    <p:sldId id="283" r:id="rId25"/>
    <p:sldId id="28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3E7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2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notesMaster" Target="notesMasters/notesMaster1.xml" /><Relationship Id="rId30" Type="http://schemas.openxmlformats.org/officeDocument/2006/relationships/theme" Target="theme/theme1.xml"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3T15:27:13.591"/>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85CD2-9EED-4151-AB51-33123FB981DC}" type="datetimeFigureOut">
              <a:rPr lang="en-IN" smtClean="0"/>
              <a:t>16-06-2026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E5569-5B1D-4EA1-A519-9351C5234FC5}" type="slidenum">
              <a:rPr lang="en-IN" smtClean="0"/>
              <a:t>‹#›</a:t>
            </a:fld>
            <a:endParaRPr lang="en-IN"/>
          </a:p>
        </p:txBody>
      </p:sp>
    </p:spTree>
    <p:extLst>
      <p:ext uri="{BB962C8B-B14F-4D97-AF65-F5344CB8AC3E}">
        <p14:creationId xmlns:p14="http://schemas.microsoft.com/office/powerpoint/2010/main" val="1522647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5E5569-5B1D-4EA1-A519-9351C5234FC5}" type="slidenum">
              <a:rPr lang="en-IN" smtClean="0"/>
              <a:t>24</a:t>
            </a:fld>
            <a:endParaRPr lang="en-IN"/>
          </a:p>
        </p:txBody>
      </p:sp>
    </p:spTree>
    <p:extLst>
      <p:ext uri="{BB962C8B-B14F-4D97-AF65-F5344CB8AC3E}">
        <p14:creationId xmlns:p14="http://schemas.microsoft.com/office/powerpoint/2010/main" val="416482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68433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76087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44900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3859845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44938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41672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5295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854426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25445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44593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08028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218648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3143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30730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26009877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30536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67040881"/>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 id="2147483818" r:id="rId12"/>
    <p:sldLayoutId id="2147483819" r:id="rId13"/>
    <p:sldLayoutId id="2147483820" r:id="rId14"/>
    <p:sldLayoutId id="2147483821" r:id="rId15"/>
    <p:sldLayoutId id="21474838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customXml" Target="../ink/ink1.xml" /><Relationship Id="rId1" Type="http://schemas.openxmlformats.org/officeDocument/2006/relationships/slideLayout" Target="../slideLayouts/slideLayout2.xml" /><Relationship Id="rId5" Type="http://schemas.openxmlformats.org/officeDocument/2006/relationships/image" Target="../media/image13.png" /><Relationship Id="rId4" Type="http://schemas.openxmlformats.org/officeDocument/2006/relationships/image" Target="../media/image12.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4.jp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18.jpeg" /><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19.jpeg" /><Relationship Id="rId2" Type="http://schemas.openxmlformats.org/officeDocument/2006/relationships/notesSlide" Target="../notesSlides/notesSlide1.xml" /><Relationship Id="rId1" Type="http://schemas.openxmlformats.org/officeDocument/2006/relationships/slideLayout" Target="../slideLayouts/slideLayout2.xml" /><Relationship Id="rId4" Type="http://schemas.openxmlformats.org/officeDocument/2006/relationships/image" Target="../media/image20.jpe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0A88B-5363-3C5E-780D-DB8891D8790A}"/>
              </a:ext>
            </a:extLst>
          </p:cNvPr>
          <p:cNvSpPr>
            <a:spLocks noGrp="1"/>
          </p:cNvSpPr>
          <p:nvPr>
            <p:ph type="ctrTitle"/>
          </p:nvPr>
        </p:nvSpPr>
        <p:spPr>
          <a:xfrm>
            <a:off x="-232270" y="578479"/>
            <a:ext cx="10536475" cy="1504335"/>
          </a:xfrm>
        </p:spPr>
        <p:txBody>
          <a:bodyPr>
            <a:noAutofit/>
          </a:bodyPr>
          <a:lstStyle/>
          <a:p>
            <a:pPr algn="ctr"/>
            <a:r>
              <a:rPr lang="en-IN" sz="3600" b="1" dirty="0">
                <a:solidFill>
                  <a:schemeClr val="tx1"/>
                </a:solidFill>
                <a:latin typeface="Times New Roman" panose="02020603050405020304" pitchFamily="18" charset="0"/>
                <a:ea typeface="Arial Rounded"/>
                <a:cs typeface="Times New Roman" panose="02020603050405020304" pitchFamily="18" charset="0"/>
                <a:sym typeface="Arial Rounded"/>
              </a:rPr>
              <a:t>DESIGN THINKING AND PRODUCT INNOVATION</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69CD576-3223-4F51-EAA8-BE50A25ED38C}"/>
              </a:ext>
            </a:extLst>
          </p:cNvPr>
          <p:cNvSpPr>
            <a:spLocks noGrp="1"/>
          </p:cNvSpPr>
          <p:nvPr>
            <p:ph type="subTitle" idx="1"/>
          </p:nvPr>
        </p:nvSpPr>
        <p:spPr>
          <a:xfrm>
            <a:off x="1297858" y="2448232"/>
            <a:ext cx="5279924" cy="3304735"/>
          </a:xfrm>
        </p:spPr>
        <p:txBody>
          <a:bodyPr>
            <a:normAutofit/>
          </a:bodyPr>
          <a:lstStyle/>
          <a:p>
            <a:pPr algn="just"/>
            <a:r>
              <a:rPr lang="en-US" sz="2300" b="1" dirty="0">
                <a:solidFill>
                  <a:schemeClr val="tx1"/>
                </a:solidFill>
                <a:latin typeface="Times New Roman" panose="02020603050405020304" pitchFamily="18" charset="0"/>
                <a:cs typeface="Times New Roman" panose="02020603050405020304" pitchFamily="18" charset="0"/>
              </a:rPr>
              <a:t>Presented by:</a:t>
            </a:r>
            <a:endParaRPr lang="en-IN" sz="2300" b="1"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effectLst/>
                <a:latin typeface="Times New Roman" panose="02020603050405020304" pitchFamily="18" charset="0"/>
                <a:cs typeface="Times New Roman" panose="02020603050405020304" pitchFamily="18" charset="0"/>
              </a:rPr>
              <a:t>B.MANOJ KUMAR- 25KD5A0202</a:t>
            </a:r>
          </a:p>
          <a:p>
            <a:pPr algn="just"/>
            <a:r>
              <a:rPr lang="en-IN" dirty="0">
                <a:solidFill>
                  <a:schemeClr val="tx1"/>
                </a:solidFill>
                <a:effectLst/>
                <a:latin typeface="Times New Roman" panose="02020603050405020304" pitchFamily="18" charset="0"/>
                <a:cs typeface="Times New Roman" panose="02020603050405020304" pitchFamily="18" charset="0"/>
              </a:rPr>
              <a:t>K.CHANDINI- 25KD5A0206</a:t>
            </a:r>
          </a:p>
          <a:p>
            <a:pPr algn="just"/>
            <a:r>
              <a:rPr lang="en-IN" dirty="0">
                <a:solidFill>
                  <a:schemeClr val="tx1"/>
                </a:solidFill>
                <a:effectLst/>
                <a:latin typeface="Times New Roman" panose="02020603050405020304" pitchFamily="18" charset="0"/>
                <a:cs typeface="Times New Roman" panose="02020603050405020304" pitchFamily="18" charset="0"/>
              </a:rPr>
              <a:t>B.SRIKAR- 25KD5A0201</a:t>
            </a:r>
          </a:p>
          <a:p>
            <a:pPr algn="just"/>
            <a:r>
              <a:rPr lang="en-IN" dirty="0">
                <a:solidFill>
                  <a:schemeClr val="tx1"/>
                </a:solidFill>
                <a:effectLst/>
                <a:latin typeface="Times New Roman" panose="02020603050405020304" pitchFamily="18" charset="0"/>
                <a:cs typeface="Times New Roman" panose="02020603050405020304" pitchFamily="18" charset="0"/>
              </a:rPr>
              <a:t>CH.NAVYA- 25KD5A0203</a:t>
            </a:r>
          </a:p>
          <a:p>
            <a:pPr algn="just"/>
            <a:r>
              <a:rPr lang="en-IN" dirty="0">
                <a:solidFill>
                  <a:schemeClr val="tx1"/>
                </a:solidFill>
                <a:effectLst/>
                <a:latin typeface="Times New Roman" panose="02020603050405020304" pitchFamily="18" charset="0"/>
                <a:cs typeface="Times New Roman" panose="02020603050405020304" pitchFamily="18" charset="0"/>
              </a:rPr>
              <a:t>G.MANISHA- 25KD5A0204</a:t>
            </a:r>
          </a:p>
          <a:p>
            <a:pPr algn="just"/>
            <a:r>
              <a:rPr lang="en-IN" dirty="0">
                <a:solidFill>
                  <a:schemeClr val="tx1"/>
                </a:solidFill>
                <a:effectLst/>
                <a:latin typeface="Times New Roman" panose="02020603050405020304" pitchFamily="18" charset="0"/>
                <a:cs typeface="Times New Roman" panose="02020603050405020304" pitchFamily="18" charset="0"/>
              </a:rPr>
              <a:t>V.JASWANTH- 24KD1A02C7</a:t>
            </a:r>
          </a:p>
          <a:p>
            <a:pPr algn="just"/>
            <a:r>
              <a:rPr lang="en-IN" dirty="0">
                <a:solidFill>
                  <a:schemeClr val="tx1"/>
                </a:solidFill>
                <a:effectLst/>
                <a:latin typeface="Times New Roman" panose="02020603050405020304" pitchFamily="18" charset="0"/>
                <a:cs typeface="Times New Roman" panose="02020603050405020304" pitchFamily="18" charset="0"/>
              </a:rPr>
              <a:t>Y.UDAYASRI- 24KD1A02C8</a:t>
            </a:r>
            <a:endParaRPr lang="en-US"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0809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ADB0-C418-6E2F-CCAE-33E6C61524AD}"/>
              </a:ext>
            </a:extLst>
          </p:cNvPr>
          <p:cNvSpPr>
            <a:spLocks noGrp="1"/>
          </p:cNvSpPr>
          <p:nvPr>
            <p:ph type="title"/>
          </p:nvPr>
        </p:nvSpPr>
        <p:spPr>
          <a:xfrm>
            <a:off x="929661" y="874324"/>
            <a:ext cx="9152612" cy="1543041"/>
          </a:xfrm>
        </p:spPr>
        <p:txBody>
          <a:bodyPr/>
          <a:lstStyle/>
          <a:p>
            <a:r>
              <a:rPr lang="en-IN" dirty="0">
                <a:solidFill>
                  <a:schemeClr val="tx1"/>
                </a:solidFill>
                <a:latin typeface="Times New Roman" panose="02020603050405020304" pitchFamily="18" charset="0"/>
                <a:cs typeface="Times New Roman" panose="02020603050405020304" pitchFamily="18" charset="0"/>
              </a:rPr>
              <a:t>“THE PATS TRANSFORMABLE WHEELS</a:t>
            </a:r>
            <a:r>
              <a:rPr lang="en-US" dirty="0">
                <a:solidFill>
                  <a:schemeClr val="tx1"/>
                </a:solidFill>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15B8FA1D-F153-44CB-FE36-F6DF298932FE}"/>
              </a:ext>
            </a:extLst>
          </p:cNvPr>
          <p:cNvPicPr>
            <a:picLocks noGrp="1" noChangeAspect="1"/>
          </p:cNvPicPr>
          <p:nvPr>
            <p:ph idx="1"/>
          </p:nvPr>
        </p:nvPicPr>
        <p:blipFill>
          <a:blip r:embed="rId2"/>
          <a:stretch>
            <a:fillRect/>
          </a:stretch>
        </p:blipFill>
        <p:spPr>
          <a:xfrm>
            <a:off x="2423579" y="1797393"/>
            <a:ext cx="5104880" cy="3675514"/>
          </a:xfrm>
          <a:prstGeom prst="rect">
            <a:avLst/>
          </a:prstGeom>
        </p:spPr>
      </p:pic>
    </p:spTree>
    <p:extLst>
      <p:ext uri="{BB962C8B-B14F-4D97-AF65-F5344CB8AC3E}">
        <p14:creationId xmlns:p14="http://schemas.microsoft.com/office/powerpoint/2010/main" val="340937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BFAE-974E-6737-F9B3-64BBEBB522CB}"/>
              </a:ext>
            </a:extLst>
          </p:cNvPr>
          <p:cNvSpPr>
            <a:spLocks noGrp="1"/>
          </p:cNvSpPr>
          <p:nvPr>
            <p:ph type="title"/>
          </p:nvPr>
        </p:nvSpPr>
        <p:spPr/>
        <p:txBody>
          <a:bodyPr>
            <a:normAutofit/>
          </a:bodyPr>
          <a:lstStyle/>
          <a:p>
            <a:pPr algn="ctr"/>
            <a:r>
              <a:rPr lang="en-IN" b="1" dirty="0">
                <a:solidFill>
                  <a:schemeClr val="tx1"/>
                </a:solidFill>
                <a:latin typeface="Times New Roman" panose="02020603050405020304" pitchFamily="18" charset="0"/>
                <a:ea typeface="Lato"/>
                <a:cs typeface="Times New Roman" panose="02020603050405020304" pitchFamily="18" charset="0"/>
                <a:sym typeface="Lato"/>
              </a:rPr>
              <a:t>CONTENTS</a:t>
            </a:r>
            <a:br>
              <a:rPr lang="en-IN" dirty="0">
                <a:solidFill>
                  <a:schemeClr val="lt1"/>
                </a:solidFill>
                <a:latin typeface="Lato"/>
                <a:ea typeface="Lato"/>
                <a:cs typeface="Lato"/>
                <a:sym typeface="Lato"/>
              </a:rPr>
            </a:br>
            <a:endParaRPr lang="en-IN" dirty="0"/>
          </a:p>
        </p:txBody>
      </p:sp>
      <p:sp>
        <p:nvSpPr>
          <p:cNvPr id="3" name="Content Placeholder 2">
            <a:extLst>
              <a:ext uri="{FF2B5EF4-FFF2-40B4-BE49-F238E27FC236}">
                <a16:creationId xmlns:a16="http://schemas.microsoft.com/office/drawing/2014/main" id="{9DA78F3A-9243-B8A5-00A7-F28D28B0296F}"/>
              </a:ext>
            </a:extLst>
          </p:cNvPr>
          <p:cNvSpPr>
            <a:spLocks noGrp="1"/>
          </p:cNvSpPr>
          <p:nvPr>
            <p:ph idx="1"/>
          </p:nvPr>
        </p:nvSpPr>
        <p:spPr>
          <a:xfrm>
            <a:off x="677334" y="1270000"/>
            <a:ext cx="8915400" cy="3777622"/>
          </a:xfrm>
        </p:spPr>
        <p:txBody>
          <a:bodyPr>
            <a:normAutofit lnSpcReduction="10000"/>
          </a:bodyPr>
          <a:lstStyle/>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INTRODUCTION TO DESIGN THINKING</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PROBLEM STATEMENT</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EMPATHY</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DEFINE</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IDEATE</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STORY BOARDING</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PROTOTYPE</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PROTOTYPE EXPLAINING STORY</a:t>
            </a:r>
          </a:p>
          <a:p>
            <a:pPr marL="457200" lvl="0">
              <a:lnSpc>
                <a:spcPct val="150000"/>
              </a:lnSpc>
              <a:spcBef>
                <a:spcPts val="0"/>
              </a:spcBef>
              <a:buClr>
                <a:schemeClr val="tx1"/>
              </a:buClr>
              <a:buSzPts val="1800"/>
              <a:buFont typeface="Lato"/>
              <a:buChar char="●"/>
            </a:pPr>
            <a:r>
              <a:rPr lang="en-US" dirty="0">
                <a:solidFill>
                  <a:schemeClr val="tx1"/>
                </a:solidFill>
                <a:latin typeface="Times New Roman" panose="02020603050405020304" pitchFamily="18" charset="0"/>
                <a:ea typeface="Lato"/>
                <a:cs typeface="Times New Roman" panose="02020603050405020304" pitchFamily="18" charset="0"/>
                <a:sym typeface="Lato"/>
              </a:rPr>
              <a:t>CONCLUSION</a:t>
            </a:r>
          </a:p>
          <a:p>
            <a:endParaRPr lang="en-IN" dirty="0"/>
          </a:p>
        </p:txBody>
      </p:sp>
    </p:spTree>
    <p:extLst>
      <p:ext uri="{BB962C8B-B14F-4D97-AF65-F5344CB8AC3E}">
        <p14:creationId xmlns:p14="http://schemas.microsoft.com/office/powerpoint/2010/main" val="4097525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6AECB13-0E98-62C0-2388-A4C8CAFEABB5}"/>
              </a:ext>
            </a:extLst>
          </p:cNvPr>
          <p:cNvGrpSpPr/>
          <p:nvPr/>
        </p:nvGrpSpPr>
        <p:grpSpPr>
          <a:xfrm>
            <a:off x="353961" y="2693285"/>
            <a:ext cx="8579284" cy="3333163"/>
            <a:chOff x="353961" y="2693285"/>
            <a:chExt cx="8579284" cy="3333163"/>
          </a:xfrm>
        </p:grpSpPr>
        <p:pic>
          <p:nvPicPr>
            <p:cNvPr id="2052" name="Picture 4" descr="How innovative companies use design thinking | EasyRetro">
              <a:extLst>
                <a:ext uri="{FF2B5EF4-FFF2-40B4-BE49-F238E27FC236}">
                  <a16:creationId xmlns:a16="http://schemas.microsoft.com/office/drawing/2014/main" id="{8DA741F6-6573-E8F9-D007-DD9EDE8804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48" t="2933" r="10906" b="3931"/>
            <a:stretch>
              <a:fillRect/>
            </a:stretch>
          </p:blipFill>
          <p:spPr bwMode="auto">
            <a:xfrm>
              <a:off x="353961" y="2988253"/>
              <a:ext cx="4832390" cy="303819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11C86C6-1644-6A7D-2444-3765EFBA0A25}"/>
                </a:ext>
              </a:extLst>
            </p:cNvPr>
            <p:cNvPicPr>
              <a:picLocks noChangeAspect="1"/>
            </p:cNvPicPr>
            <p:nvPr/>
          </p:nvPicPr>
          <p:blipFill>
            <a:blip r:embed="rId3"/>
            <a:stretch>
              <a:fillRect/>
            </a:stretch>
          </p:blipFill>
          <p:spPr>
            <a:xfrm>
              <a:off x="4975668" y="2693285"/>
              <a:ext cx="3957577" cy="3156909"/>
            </a:xfrm>
            <a:prstGeom prst="rect">
              <a:avLst/>
            </a:prstGeom>
            <a:solidFill>
              <a:schemeClr val="bg2">
                <a:alpha val="40000"/>
              </a:schemeClr>
            </a:solidFill>
          </p:spPr>
        </p:pic>
      </p:grpSp>
      <p:sp>
        <p:nvSpPr>
          <p:cNvPr id="2" name="Title 1">
            <a:extLst>
              <a:ext uri="{FF2B5EF4-FFF2-40B4-BE49-F238E27FC236}">
                <a16:creationId xmlns:a16="http://schemas.microsoft.com/office/drawing/2014/main" id="{577F533B-DD3D-3479-E85D-486CE9D7F535}"/>
              </a:ext>
            </a:extLst>
          </p:cNvPr>
          <p:cNvSpPr>
            <a:spLocks noGrp="1"/>
          </p:cNvSpPr>
          <p:nvPr>
            <p:ph type="title"/>
          </p:nvPr>
        </p:nvSpPr>
        <p:spPr/>
        <p:txBody>
          <a:bodyPr>
            <a:normAutofit/>
          </a:bodyPr>
          <a:lstStyle/>
          <a:p>
            <a:pPr algn="l"/>
            <a:r>
              <a:rPr lang="en-US" sz="2800" dirty="0">
                <a:solidFill>
                  <a:schemeClr val="tx1"/>
                </a:solidFill>
                <a:latin typeface="Times New Roman" panose="02020603050405020304" pitchFamily="18" charset="0"/>
                <a:ea typeface="Lato"/>
                <a:cs typeface="Times New Roman" panose="02020603050405020304" pitchFamily="18" charset="0"/>
                <a:sym typeface="Lato"/>
              </a:rPr>
              <a:t>What is design thinking and innovation?</a:t>
            </a:r>
            <a:br>
              <a:rPr lang="en-US" sz="2800" dirty="0">
                <a:solidFill>
                  <a:schemeClr val="lt1"/>
                </a:solidFill>
                <a:latin typeface="Times New Roman" panose="02020603050405020304" pitchFamily="18" charset="0"/>
                <a:ea typeface="Lato"/>
                <a:cs typeface="Times New Roman" panose="02020603050405020304" pitchFamily="18" charset="0"/>
                <a:sym typeface="Lato"/>
              </a:rPr>
            </a:br>
            <a:endParaRPr lang="en-IN" sz="2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5C8F67-50C1-E9A8-29E2-8E310277647B}"/>
              </a:ext>
            </a:extLst>
          </p:cNvPr>
          <p:cNvSpPr>
            <a:spLocks noGrp="1"/>
          </p:cNvSpPr>
          <p:nvPr>
            <p:ph idx="1"/>
          </p:nvPr>
        </p:nvSpPr>
        <p:spPr>
          <a:xfrm>
            <a:off x="794045" y="1270000"/>
            <a:ext cx="6363494" cy="3777622"/>
          </a:xfrm>
        </p:spPr>
        <p:txBody>
          <a:bodyPr/>
          <a:lstStyle/>
          <a:p>
            <a:pPr marL="0" indent="0" algn="just">
              <a:lnSpc>
                <a:spcPct val="150000"/>
              </a:lnSpc>
              <a:buNone/>
            </a:pPr>
            <a:r>
              <a:rPr lang="en-US" dirty="0">
                <a:solidFill>
                  <a:schemeClr val="tx1"/>
                </a:solidFill>
                <a:latin typeface="Times New Roman" panose="02020603050405020304" pitchFamily="18" charset="0"/>
                <a:ea typeface="Lato"/>
                <a:cs typeface="Times New Roman" panose="02020603050405020304" pitchFamily="18" charset="0"/>
                <a:sym typeface="Lato"/>
              </a:rPr>
              <a:t>Design Thinking is a human-centered, iterative process used to understand users, challenge assumptions, redefine problems, and create innovative solutions.</a:t>
            </a:r>
          </a:p>
        </p:txBody>
      </p:sp>
    </p:spTree>
    <p:extLst>
      <p:ext uri="{BB962C8B-B14F-4D97-AF65-F5344CB8AC3E}">
        <p14:creationId xmlns:p14="http://schemas.microsoft.com/office/powerpoint/2010/main" val="3304048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6FAA8B2-CA3B-D604-07D9-27134AA9B343}"/>
              </a:ext>
            </a:extLst>
          </p:cNvPr>
          <p:cNvPicPr>
            <a:picLocks noGrp="1" noChangeAspect="1"/>
          </p:cNvPicPr>
          <p:nvPr>
            <p:ph idx="1"/>
          </p:nvPr>
        </p:nvPicPr>
        <p:blipFill>
          <a:blip r:embed="rId2">
            <a:alphaModFix amt="70000"/>
          </a:blip>
          <a:stretch>
            <a:fillRect/>
          </a:stretch>
        </p:blipFill>
        <p:spPr>
          <a:xfrm>
            <a:off x="0" y="0"/>
            <a:ext cx="12191999"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58463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2E1A5-06F2-1AD0-3326-39B6C5F9FB2E}"/>
              </a:ext>
            </a:extLst>
          </p:cNvPr>
          <p:cNvSpPr>
            <a:spLocks noGrp="1"/>
          </p:cNvSpPr>
          <p:nvPr>
            <p:ph type="title"/>
          </p:nvPr>
        </p:nvSpPr>
        <p:spPr>
          <a:xfrm>
            <a:off x="836516" y="219387"/>
            <a:ext cx="8596668" cy="1320800"/>
          </a:xfrm>
        </p:spPr>
        <p:txBody>
          <a:bodyPr anchor="ctr">
            <a:normAutofit/>
          </a:bodyPr>
          <a:lstStyle/>
          <a:p>
            <a:pPr algn="ctr"/>
            <a:r>
              <a:rPr lang="en-US" b="1" dirty="0">
                <a:solidFill>
                  <a:schemeClr val="tx1"/>
                </a:solidFill>
                <a:latin typeface="Times New Roman" panose="02020603050405020304" pitchFamily="18" charset="0"/>
                <a:cs typeface="Times New Roman" panose="02020603050405020304" pitchFamily="18" charset="0"/>
              </a:rPr>
              <a:t>PROBLEM STATEMENT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A89518-258F-CEDF-393A-4FC9D937A26C}"/>
              </a:ext>
            </a:extLst>
          </p:cNvPr>
          <p:cNvSpPr>
            <a:spLocks noGrp="1"/>
          </p:cNvSpPr>
          <p:nvPr>
            <p:ph idx="1"/>
          </p:nvPr>
        </p:nvSpPr>
        <p:spPr>
          <a:xfrm>
            <a:off x="920133" y="740233"/>
            <a:ext cx="8596668" cy="3880773"/>
          </a:xfrm>
        </p:spPr>
        <p:txBody>
          <a:bodyPr anchor="ctr">
            <a:noAutofit/>
          </a:bodyPr>
          <a:lstStyle/>
          <a:p>
            <a:pPr marL="0" indent="0" algn="just">
              <a:lnSpc>
                <a:spcPct val="150000"/>
              </a:lnSpc>
              <a:buNone/>
            </a:pPr>
            <a:r>
              <a:rPr lang="en-US" dirty="0">
                <a:effectLst/>
                <a:latin typeface="Times New Roman" panose="02020603050405020304" pitchFamily="18" charset="0"/>
                <a:cs typeface="Times New Roman" panose="02020603050405020304" pitchFamily="18" charset="0"/>
              </a:rPr>
              <a:t>Traditional mobile robots use circular wheels, which work efficiently on smooth and flat surfaces. However, these wheels face serious limitations when the robot needs to move over stairs, uneven terrain, obstacles, or rough surfaces. In such situations, the robot may lose traction, get stuck, or fail to climb obstacles, which reduces its mobility and efficiency.</a:t>
            </a:r>
          </a:p>
          <a:p>
            <a:pPr marL="0" indent="0" algn="just">
              <a:lnSpc>
                <a:spcPct val="150000"/>
              </a:lnSpc>
              <a:buNone/>
            </a:pPr>
            <a:r>
              <a:rPr lang="en-US" dirty="0">
                <a:latin typeface="Times New Roman" panose="02020603050405020304" pitchFamily="18" charset="0"/>
                <a:cs typeface="Times New Roman" panose="02020603050405020304" pitchFamily="18" charset="0"/>
              </a:rPr>
              <a:t>The main problem addressed in this project is </a:t>
            </a:r>
            <a:r>
              <a:rPr lang="en-US" dirty="0">
                <a:effectLst/>
                <a:latin typeface="Times New Roman" panose="02020603050405020304" pitchFamily="18" charset="0"/>
                <a:cs typeface="Times New Roman" panose="02020603050405020304" pitchFamily="18" charset="0"/>
              </a:rPr>
              <a:t>how to improve robot mobility on different types of surfaces using a wheel mechanism that can transform between normal rolling mode and obstacle-climbing mode.</a:t>
            </a:r>
            <a:endParaRPr lang="en-IN"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6722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96687-56A3-2925-2C34-8868758EBF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520" y="1366684"/>
            <a:ext cx="4943401" cy="4237703"/>
          </a:xfrm>
          <a:prstGeom prst="rect">
            <a:avLst/>
          </a:prstGeom>
        </p:spPr>
      </p:pic>
      <p:sp>
        <p:nvSpPr>
          <p:cNvPr id="2" name="Title 1">
            <a:extLst>
              <a:ext uri="{FF2B5EF4-FFF2-40B4-BE49-F238E27FC236}">
                <a16:creationId xmlns:a16="http://schemas.microsoft.com/office/drawing/2014/main" id="{C942E27E-E7DA-0C2A-A133-5C632565F686}"/>
              </a:ext>
            </a:extLst>
          </p:cNvPr>
          <p:cNvSpPr>
            <a:spLocks noGrp="1"/>
          </p:cNvSpPr>
          <p:nvPr>
            <p:ph type="title"/>
          </p:nvPr>
        </p:nvSpPr>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EMPATHY</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70F26C-4B24-417A-19F5-CA0B9EA61FE4}"/>
              </a:ext>
            </a:extLst>
          </p:cNvPr>
          <p:cNvSpPr>
            <a:spLocks noGrp="1"/>
          </p:cNvSpPr>
          <p:nvPr>
            <p:ph idx="1"/>
          </p:nvPr>
        </p:nvSpPr>
        <p:spPr>
          <a:xfrm>
            <a:off x="1448470" y="2239083"/>
            <a:ext cx="3745084" cy="2623144"/>
          </a:xfrm>
        </p:spPr>
        <p:txBody>
          <a:bodyPr/>
          <a:lstStyle/>
          <a:p>
            <a:pPr algn="just">
              <a:buClr>
                <a:schemeClr val="tx1"/>
              </a:buClr>
            </a:pPr>
            <a:r>
              <a:rPr lang="en-IN" dirty="0">
                <a:solidFill>
                  <a:schemeClr val="tx1"/>
                </a:solidFill>
                <a:latin typeface="Times New Roman" panose="02020603050405020304" pitchFamily="18" charset="0"/>
                <a:cs typeface="Times New Roman" panose="02020603050405020304" pitchFamily="18" charset="0"/>
              </a:rPr>
              <a:t>5 WHY’ S</a:t>
            </a:r>
          </a:p>
          <a:p>
            <a:pPr algn="just">
              <a:buClr>
                <a:schemeClr val="tx1"/>
              </a:buClr>
            </a:pPr>
            <a:r>
              <a:rPr lang="en-IN" dirty="0">
                <a:solidFill>
                  <a:schemeClr val="tx1"/>
                </a:solidFill>
                <a:latin typeface="Times New Roman" panose="02020603050405020304" pitchFamily="18" charset="0"/>
                <a:cs typeface="Times New Roman" panose="02020603050405020304" pitchFamily="18" charset="0"/>
              </a:rPr>
              <a:t>PERSONA’ S</a:t>
            </a:r>
          </a:p>
          <a:p>
            <a:pPr algn="just">
              <a:buClr>
                <a:schemeClr val="tx1"/>
              </a:buClr>
            </a:pPr>
            <a:r>
              <a:rPr lang="en-IN" dirty="0">
                <a:solidFill>
                  <a:schemeClr val="tx1"/>
                </a:solidFill>
                <a:latin typeface="Times New Roman" panose="02020603050405020304" pitchFamily="18" charset="0"/>
                <a:cs typeface="Times New Roman" panose="02020603050405020304" pitchFamily="18" charset="0"/>
              </a:rPr>
              <a:t>INTERVIEW QUESTIONS</a:t>
            </a:r>
          </a:p>
          <a:p>
            <a:pPr algn="just">
              <a:buClr>
                <a:schemeClr val="tx1"/>
              </a:buClr>
            </a:pPr>
            <a:r>
              <a:rPr lang="en-IN" dirty="0">
                <a:solidFill>
                  <a:schemeClr val="tx1"/>
                </a:solidFill>
                <a:latin typeface="Times New Roman" panose="02020603050405020304" pitchFamily="18" charset="0"/>
                <a:cs typeface="Times New Roman" panose="02020603050405020304" pitchFamily="18" charset="0"/>
              </a:rPr>
              <a:t>EMPATHY MAP</a:t>
            </a:r>
          </a:p>
          <a:p>
            <a:pPr algn="just">
              <a:buClr>
                <a:schemeClr val="tx1"/>
              </a:buClr>
            </a:pPr>
            <a:r>
              <a:rPr lang="en-IN" dirty="0">
                <a:solidFill>
                  <a:schemeClr val="tx1"/>
                </a:solidFill>
                <a:latin typeface="Times New Roman" panose="02020603050405020304" pitchFamily="18" charset="0"/>
                <a:cs typeface="Times New Roman" panose="02020603050405020304" pitchFamily="18" charset="0"/>
              </a:rPr>
              <a:t>EXPERIENCE MAP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3530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988D-5405-1B04-D138-C39F7048901C}"/>
              </a:ext>
            </a:extLst>
          </p:cNvPr>
          <p:cNvSpPr>
            <a:spLocks noGrp="1"/>
          </p:cNvSpPr>
          <p:nvPr>
            <p:ph type="title"/>
          </p:nvPr>
        </p:nvSpPr>
        <p:spPr>
          <a:xfrm>
            <a:off x="1513504" y="1380736"/>
            <a:ext cx="8596668" cy="1320800"/>
          </a:xfrm>
        </p:spPr>
        <p:txBody>
          <a:bodyPr/>
          <a:lstStyle/>
          <a:p>
            <a:r>
              <a:rPr lang="en-IN" b="1" dirty="0">
                <a:solidFill>
                  <a:schemeClr val="tx1"/>
                </a:solidFill>
                <a:latin typeface="Times New Roman" panose="02020603050405020304" pitchFamily="18" charset="0"/>
                <a:cs typeface="Times New Roman" panose="02020603050405020304" pitchFamily="18" charset="0"/>
              </a:rPr>
              <a:t>5 WHY’S</a:t>
            </a:r>
            <a:r>
              <a:rPr lang="en-IN" dirty="0">
                <a:solidFill>
                  <a:schemeClr val="tx1"/>
                </a:solidFill>
                <a:latin typeface="Times New Roman" panose="02020603050405020304" pitchFamily="18" charset="0"/>
                <a:cs typeface="Times New Roman" panose="02020603050405020304" pitchFamily="18" charset="0"/>
              </a:rPr>
              <a:t> </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5489F3-9F85-F32E-E214-4F20856B07D8}"/>
              </a:ext>
            </a:extLst>
          </p:cNvPr>
          <p:cNvSpPr>
            <a:spLocks noGrp="1"/>
          </p:cNvSpPr>
          <p:nvPr>
            <p:ph idx="1"/>
          </p:nvPr>
        </p:nvSpPr>
        <p:spPr>
          <a:xfrm>
            <a:off x="4554002" y="1488613"/>
            <a:ext cx="4890471" cy="3880773"/>
          </a:xfrm>
        </p:spPr>
        <p:txBody>
          <a:bodyPr anchor="ctr">
            <a:normAutofit/>
          </a:bodyPr>
          <a:lstStyle/>
          <a:p>
            <a:pPr marL="0" indent="0" algn="ctr">
              <a:buNone/>
            </a:pPr>
            <a:r>
              <a:rPr lang="en-US" sz="2000" dirty="0">
                <a:latin typeface="Times New Roman" panose="02020603050405020304" pitchFamily="18" charset="0"/>
                <a:cs typeface="Times New Roman" panose="02020603050405020304" pitchFamily="18" charset="0"/>
              </a:rPr>
              <a:t>Why standard wheels perform poorly?</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↓(why?)</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Surface roughness &amp; obstacles</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↓(why?)</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Limited contact area &amp; slip</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↓(why?)</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Lack of terrain adaption</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↓(why?)</a:t>
            </a:r>
            <a:endParaRPr lang="en-IN"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Insufficient integrated sensing</a:t>
            </a:r>
          </a:p>
        </p:txBody>
      </p:sp>
      <p:pic>
        <p:nvPicPr>
          <p:cNvPr id="4" name="Picture 3">
            <a:extLst>
              <a:ext uri="{FF2B5EF4-FFF2-40B4-BE49-F238E27FC236}">
                <a16:creationId xmlns:a16="http://schemas.microsoft.com/office/drawing/2014/main" id="{BC70F2F8-DF7A-32C5-B67E-5CC7FC904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270883"/>
            <a:ext cx="3556454" cy="3660184"/>
          </a:xfrm>
          <a:prstGeom prst="rect">
            <a:avLst/>
          </a:prstGeom>
        </p:spPr>
      </p:pic>
    </p:spTree>
    <p:extLst>
      <p:ext uri="{BB962C8B-B14F-4D97-AF65-F5344CB8AC3E}">
        <p14:creationId xmlns:p14="http://schemas.microsoft.com/office/powerpoint/2010/main" val="1709233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19FB0-F446-81EA-E99D-22AB61FB23C2}"/>
              </a:ext>
            </a:extLst>
          </p:cNvPr>
          <p:cNvSpPr>
            <a:spLocks noGrp="1"/>
          </p:cNvSpPr>
          <p:nvPr>
            <p:ph type="title"/>
          </p:nvPr>
        </p:nvSpPr>
        <p:spPr>
          <a:xfrm>
            <a:off x="677334" y="412955"/>
            <a:ext cx="8596668" cy="796413"/>
          </a:xfrm>
        </p:spPr>
        <p:txBody>
          <a:bodyPr/>
          <a:lstStyle/>
          <a:p>
            <a:pPr algn="ctr"/>
            <a:r>
              <a:rPr lang="en-IN" b="1" dirty="0">
                <a:solidFill>
                  <a:schemeClr val="tx1"/>
                </a:solidFill>
              </a:rPr>
              <a:t> </a:t>
            </a:r>
            <a:r>
              <a:rPr lang="en-IN" b="1" dirty="0">
                <a:solidFill>
                  <a:schemeClr val="tx1"/>
                </a:solidFill>
                <a:latin typeface="Times New Roman" panose="02020603050405020304" pitchFamily="18" charset="0"/>
                <a:cs typeface="Times New Roman" panose="02020603050405020304" pitchFamily="18" charset="0"/>
              </a:rPr>
              <a:t>INTERVIEW QUESTIONS</a:t>
            </a:r>
          </a:p>
        </p:txBody>
      </p:sp>
      <p:sp>
        <p:nvSpPr>
          <p:cNvPr id="3" name="Content Placeholder 2">
            <a:extLst>
              <a:ext uri="{FF2B5EF4-FFF2-40B4-BE49-F238E27FC236}">
                <a16:creationId xmlns:a16="http://schemas.microsoft.com/office/drawing/2014/main" id="{57A1B8DE-990E-4ED8-B11A-6A7F0B9DA11F}"/>
              </a:ext>
            </a:extLst>
          </p:cNvPr>
          <p:cNvSpPr>
            <a:spLocks noGrp="1"/>
          </p:cNvSpPr>
          <p:nvPr>
            <p:ph idx="1"/>
          </p:nvPr>
        </p:nvSpPr>
        <p:spPr>
          <a:xfrm>
            <a:off x="677334" y="1381333"/>
            <a:ext cx="8596668" cy="4242719"/>
          </a:xfrm>
        </p:spPr>
        <p:txBody>
          <a:bodyPr>
            <a:normAutofit/>
          </a:bodyPr>
          <a:lstStyle/>
          <a:p>
            <a:pPr algn="just">
              <a:lnSpc>
                <a:spcPct val="150000"/>
              </a:lnSpc>
              <a:buClr>
                <a:schemeClr val="tx1">
                  <a:lumMod val="95000"/>
                  <a:lumOff val="5000"/>
                </a:schemeClr>
              </a:buClr>
              <a:buAutoNum type="arabicPeriod"/>
            </a:pPr>
            <a:r>
              <a:rPr lang="en-US" dirty="0">
                <a:solidFill>
                  <a:schemeClr val="tx1"/>
                </a:solidFill>
                <a:latin typeface="Times New Roman" panose="02020603050405020304" pitchFamily="18" charset="0"/>
                <a:cs typeface="Times New Roman" panose="02020603050405020304" pitchFamily="18" charset="0"/>
              </a:rPr>
              <a:t>Can you share what challenges you faced with your previous wheel design? </a:t>
            </a:r>
          </a:p>
          <a:p>
            <a:pPr algn="just">
              <a:lnSpc>
                <a:spcPct val="150000"/>
              </a:lnSpc>
              <a:buClr>
                <a:schemeClr val="tx1">
                  <a:lumMod val="95000"/>
                  <a:lumOff val="5000"/>
                </a:schemeClr>
              </a:buClr>
              <a:buAutoNum type="arabicPeriod"/>
            </a:pPr>
            <a:r>
              <a:rPr lang="en-US" dirty="0">
                <a:solidFill>
                  <a:schemeClr val="tx1"/>
                </a:solidFill>
                <a:latin typeface="Times New Roman" panose="02020603050405020304" pitchFamily="18" charset="0"/>
                <a:cs typeface="Times New Roman" panose="02020603050405020304" pitchFamily="18" charset="0"/>
              </a:rPr>
              <a:t>How has our reinvented smooth-climbing wheel impacted your daily life?</a:t>
            </a:r>
          </a:p>
          <a:p>
            <a:pPr algn="just">
              <a:lnSpc>
                <a:spcPct val="150000"/>
              </a:lnSpc>
              <a:buClr>
                <a:schemeClr val="tx1">
                  <a:lumMod val="95000"/>
                  <a:lumOff val="5000"/>
                </a:schemeClr>
              </a:buClr>
              <a:buAutoNum type="arabicPeriod"/>
            </a:pPr>
            <a:r>
              <a:rPr lang="en-US" dirty="0">
                <a:solidFill>
                  <a:schemeClr val="tx1"/>
                </a:solidFill>
                <a:latin typeface="Times New Roman" panose="02020603050405020304" pitchFamily="18" charset="0"/>
                <a:cs typeface="Times New Roman" panose="02020603050405020304" pitchFamily="18" charset="0"/>
              </a:rPr>
              <a:t>What specific circumstances did you test the wheel's stair-climbing feature?</a:t>
            </a:r>
          </a:p>
          <a:p>
            <a:pPr algn="just">
              <a:lnSpc>
                <a:spcPct val="150000"/>
              </a:lnSpc>
              <a:buClr>
                <a:schemeClr val="tx1">
                  <a:lumMod val="95000"/>
                  <a:lumOff val="5000"/>
                </a:schemeClr>
              </a:buClr>
              <a:buAutoNum type="arabicPeriod"/>
            </a:pPr>
            <a:r>
              <a:rPr lang="en-US" dirty="0">
                <a:solidFill>
                  <a:schemeClr val="tx1"/>
                </a:solidFill>
                <a:latin typeface="Times New Roman" panose="02020603050405020304" pitchFamily="18" charset="0"/>
                <a:cs typeface="Times New Roman" panose="02020603050405020304" pitchFamily="18" charset="0"/>
              </a:rPr>
              <a:t>Have you experienced any terrain that was difficult for the wheel?</a:t>
            </a:r>
          </a:p>
          <a:p>
            <a:pPr algn="just">
              <a:lnSpc>
                <a:spcPct val="150000"/>
              </a:lnSpc>
              <a:buClr>
                <a:schemeClr val="tx1">
                  <a:lumMod val="95000"/>
                  <a:lumOff val="5000"/>
                </a:schemeClr>
              </a:buClr>
              <a:buAutoNum type="arabicPeriod"/>
            </a:pPr>
            <a:r>
              <a:rPr lang="en-US" dirty="0">
                <a:solidFill>
                  <a:schemeClr val="tx1"/>
                </a:solidFill>
                <a:latin typeface="Times New Roman" panose="02020603050405020304" pitchFamily="18" charset="0"/>
                <a:cs typeface="Times New Roman" panose="02020603050405020304" pitchFamily="18" charset="0"/>
              </a:rPr>
              <a:t>What do you think could further enhance the wheel's performance or features?</a:t>
            </a:r>
          </a:p>
          <a:p>
            <a:pPr algn="just">
              <a:lnSpc>
                <a:spcPct val="150000"/>
              </a:lnSpc>
              <a:buClr>
                <a:schemeClr val="tx1">
                  <a:lumMod val="95000"/>
                  <a:lumOff val="5000"/>
                </a:schemeClr>
              </a:buClr>
              <a:buAutoNum type="arabicPeriod"/>
            </a:pPr>
            <a:r>
              <a:rPr lang="en-US" dirty="0">
                <a:solidFill>
                  <a:schemeClr val="tx1"/>
                </a:solidFill>
                <a:latin typeface="Times New Roman" panose="02020603050405020304" pitchFamily="18" charset="0"/>
                <a:cs typeface="Times New Roman" panose="02020603050405020304" pitchFamily="18" charset="0"/>
              </a:rPr>
              <a:t>What advice would you give to others considering this reinvented wheel design?</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616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817215-5AE5-F961-AEB4-640D0C4769C5}"/>
              </a:ext>
            </a:extLst>
          </p:cNvPr>
          <p:cNvSpPr>
            <a:spLocks noGrp="1"/>
          </p:cNvSpPr>
          <p:nvPr>
            <p:ph idx="1"/>
          </p:nvPr>
        </p:nvSpPr>
        <p:spPr>
          <a:xfrm>
            <a:off x="442453" y="408796"/>
            <a:ext cx="8662526" cy="6317144"/>
          </a:xfrm>
        </p:spPr>
        <p:txBody>
          <a:bodyPr>
            <a:normAutofit fontScale="92500" lnSpcReduction="10000"/>
          </a:bodyPr>
          <a:lstStyle/>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Person 1:</a:t>
            </a:r>
          </a:p>
          <a:p>
            <a:pPr marL="0" indent="0" algn="just">
              <a:lnSpc>
                <a:spcPct val="70000"/>
              </a:lnSpc>
              <a:buNone/>
            </a:pPr>
            <a:r>
              <a:rPr lang="en-US" dirty="0">
                <a:solidFill>
                  <a:schemeClr val="tx1"/>
                </a:solidFill>
                <a:latin typeface="Times New Roman" panose="02020603050405020304" pitchFamily="18" charset="0"/>
                <a:cs typeface="Times New Roman" panose="02020603050405020304" pitchFamily="18" charset="0"/>
              </a:rPr>
              <a:t>Name: Ramesh Kumar</a:t>
            </a:r>
          </a:p>
          <a:p>
            <a:pPr marL="0" indent="0" algn="just">
              <a:lnSpc>
                <a:spcPct val="70000"/>
              </a:lnSpc>
              <a:buNone/>
            </a:pPr>
            <a:r>
              <a:rPr lang="en-US" dirty="0">
                <a:solidFill>
                  <a:schemeClr val="tx1"/>
                </a:solidFill>
                <a:latin typeface="Times New Roman" panose="02020603050405020304" pitchFamily="18" charset="0"/>
                <a:cs typeface="Times New Roman" panose="02020603050405020304" pitchFamily="18" charset="0"/>
              </a:rPr>
              <a:t>Age: 35</a:t>
            </a:r>
          </a:p>
          <a:p>
            <a:pPr marL="0" indent="0" algn="just">
              <a:lnSpc>
                <a:spcPct val="70000"/>
              </a:lnSpc>
              <a:buNone/>
            </a:pPr>
            <a:r>
              <a:rPr lang="en-US" dirty="0">
                <a:solidFill>
                  <a:schemeClr val="tx1"/>
                </a:solidFill>
                <a:latin typeface="Times New Roman" panose="02020603050405020304" pitchFamily="18" charset="0"/>
                <a:cs typeface="Times New Roman" panose="02020603050405020304" pitchFamily="18" charset="0"/>
              </a:rPr>
              <a:t>Job: Delivery Driver</a:t>
            </a:r>
          </a:p>
          <a:p>
            <a:pPr marL="0" indent="0" algn="just">
              <a:lnSpc>
                <a:spcPct val="70000"/>
              </a:lnSpc>
              <a:buNone/>
            </a:pPr>
            <a:r>
              <a:rPr lang="en-US" dirty="0">
                <a:solidFill>
                  <a:schemeClr val="tx1"/>
                </a:solidFill>
                <a:latin typeface="Times New Roman" panose="02020603050405020304" pitchFamily="18" charset="0"/>
                <a:cs typeface="Times New Roman" panose="02020603050405020304" pitchFamily="18" charset="0"/>
              </a:rPr>
              <a:t>Hobbies: Listening to music</a:t>
            </a:r>
          </a:p>
          <a:p>
            <a:pPr marL="0" indent="0" algn="just">
              <a:lnSpc>
                <a:spcPct val="70000"/>
              </a:lnSpc>
              <a:buNone/>
            </a:pPr>
            <a:r>
              <a:rPr lang="en-US" dirty="0">
                <a:solidFill>
                  <a:schemeClr val="tx1"/>
                </a:solidFill>
                <a:latin typeface="Times New Roman" panose="02020603050405020304" pitchFamily="18" charset="0"/>
                <a:cs typeface="Times New Roman" panose="02020603050405020304" pitchFamily="18" charset="0"/>
              </a:rPr>
              <a:t>Habits: No drinking habit</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1.Can you share what challenges you faced with your previous wheel design?</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My previous wheel had difficulty climbing stairs and uneven surfaces. It often got stuck.</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2. How has our reinvented smooth-climbing wheel impacted your daily life?</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It made my daily movement much easier and smoother, especially on steps.</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3. What specific circumstances did you test the wheel’s stair-climbing feature?</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I tested it on stairs, small curbs, and rough roads.</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4. Have you experienced any terrain that was difficult for the wheel?</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Yes, slippery surfaces were a bit difficult.</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5. What do you think could further enhance the wheel’s performance or features?</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Adding better grip would improve performance.</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6. What advice would you give to others considering this reinvented wheel design?</a:t>
            </a:r>
          </a:p>
          <a:p>
            <a:pPr marL="0" indent="0" algn="just">
              <a:buClr>
                <a:schemeClr val="tx1">
                  <a:lumMod val="95000"/>
                  <a:lumOff val="5000"/>
                </a:schemeClr>
              </a:buClr>
              <a:buNone/>
            </a:pPr>
            <a:r>
              <a:rPr lang="en-US" dirty="0">
                <a:solidFill>
                  <a:schemeClr val="tx1"/>
                </a:solidFill>
                <a:latin typeface="Times New Roman" panose="02020603050405020304" pitchFamily="18" charset="0"/>
                <a:cs typeface="Times New Roman" panose="02020603050405020304" pitchFamily="18" charset="0"/>
              </a:rPr>
              <a:t>It is very useful, especially for rough and uneven areas.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0F4513C-CF9A-71F2-0BEB-31FEE46A98B4}"/>
              </a:ext>
            </a:extLst>
          </p:cNvPr>
          <p:cNvSpPr txBox="1"/>
          <p:nvPr/>
        </p:nvSpPr>
        <p:spPr>
          <a:xfrm>
            <a:off x="3334227" y="0"/>
            <a:ext cx="3048000" cy="646331"/>
          </a:xfrm>
          <a:prstGeom prst="rect">
            <a:avLst/>
          </a:prstGeom>
          <a:no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Answers</a:t>
            </a:r>
          </a:p>
        </p:txBody>
      </p:sp>
      <p:sp>
        <p:nvSpPr>
          <p:cNvPr id="5" name="TextBox 4">
            <a:extLst>
              <a:ext uri="{FF2B5EF4-FFF2-40B4-BE49-F238E27FC236}">
                <a16:creationId xmlns:a16="http://schemas.microsoft.com/office/drawing/2014/main" id="{FDC03015-F238-FBA6-F842-C1A5391FD351}"/>
              </a:ext>
            </a:extLst>
          </p:cNvPr>
          <p:cNvSpPr txBox="1"/>
          <p:nvPr/>
        </p:nvSpPr>
        <p:spPr>
          <a:xfrm>
            <a:off x="3654258" y="646331"/>
            <a:ext cx="2320413" cy="1477328"/>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Problems facing:</a:t>
            </a:r>
          </a:p>
          <a:p>
            <a:r>
              <a:rPr lang="en-US">
                <a:latin typeface="Times New Roman" panose="02020603050405020304" pitchFamily="18" charset="0"/>
                <a:cs typeface="Times New Roman" panose="02020603050405020304" pitchFamily="18" charset="0"/>
              </a:rPr>
              <a:t>Accidents due to poor road conditions Stress while driving long hours Traffic issues.</a:t>
            </a:r>
            <a:endParaRPr lang="en-IN" dirty="0"/>
          </a:p>
        </p:txBody>
      </p:sp>
      <p:pic>
        <p:nvPicPr>
          <p:cNvPr id="2" name="Picture 1">
            <a:extLst>
              <a:ext uri="{FF2B5EF4-FFF2-40B4-BE49-F238E27FC236}">
                <a16:creationId xmlns:a16="http://schemas.microsoft.com/office/drawing/2014/main" id="{99F7D952-EDA6-07EE-495E-CD4ECCE81A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2874" y="335803"/>
            <a:ext cx="2160312" cy="2005478"/>
          </a:xfrm>
          <a:prstGeom prst="rect">
            <a:avLst/>
          </a:prstGeom>
        </p:spPr>
      </p:pic>
    </p:spTree>
    <p:extLst>
      <p:ext uri="{BB962C8B-B14F-4D97-AF65-F5344CB8AC3E}">
        <p14:creationId xmlns:p14="http://schemas.microsoft.com/office/powerpoint/2010/main" val="4184305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CA08F0-3896-6DF9-F7CD-A81C62F88F56}"/>
              </a:ext>
            </a:extLst>
          </p:cNvPr>
          <p:cNvSpPr>
            <a:spLocks noGrp="1"/>
          </p:cNvSpPr>
          <p:nvPr>
            <p:ph idx="1"/>
          </p:nvPr>
        </p:nvSpPr>
        <p:spPr>
          <a:xfrm>
            <a:off x="412955" y="117987"/>
            <a:ext cx="8861047" cy="6740012"/>
          </a:xfrm>
        </p:spPr>
        <p:txBody>
          <a:bodyPr>
            <a:normAutofit/>
          </a:bodyPr>
          <a:lstStyle/>
          <a:p>
            <a:pPr marL="0" indent="0">
              <a:buNone/>
            </a:pPr>
            <a:r>
              <a:rPr lang="en-IN" sz="2400" dirty="0">
                <a:solidFill>
                  <a:schemeClr val="tx1"/>
                </a:solidFill>
                <a:latin typeface="Times New Roman" panose="02020603050405020304" pitchFamily="18" charset="0"/>
                <a:cs typeface="Times New Roman" panose="02020603050405020304" pitchFamily="18" charset="0"/>
              </a:rPr>
              <a:t>Person 2:</a:t>
            </a:r>
          </a:p>
          <a:p>
            <a:pPr marL="0" indent="0">
              <a:lnSpc>
                <a:spcPct val="50000"/>
              </a:lnSpc>
              <a:buNone/>
            </a:pPr>
            <a:r>
              <a:rPr lang="en-US" dirty="0">
                <a:solidFill>
                  <a:schemeClr val="tx1"/>
                </a:solidFill>
                <a:latin typeface="Times New Roman" panose="02020603050405020304" pitchFamily="18" charset="0"/>
                <a:cs typeface="Times New Roman" panose="02020603050405020304" pitchFamily="18" charset="0"/>
              </a:rPr>
              <a:t>Na</a:t>
            </a:r>
            <a:r>
              <a:rPr lang="en-IN" dirty="0">
                <a:solidFill>
                  <a:schemeClr val="tx1"/>
                </a:solidFill>
                <a:latin typeface="Times New Roman" panose="02020603050405020304" pitchFamily="18" charset="0"/>
                <a:cs typeface="Times New Roman" panose="02020603050405020304" pitchFamily="18" charset="0"/>
              </a:rPr>
              <a:t>me: </a:t>
            </a:r>
            <a:r>
              <a:rPr lang="en-IN" dirty="0" err="1">
                <a:solidFill>
                  <a:schemeClr val="tx1"/>
                </a:solidFill>
                <a:latin typeface="Times New Roman" panose="02020603050405020304" pitchFamily="18" charset="0"/>
                <a:cs typeface="Times New Roman" panose="02020603050405020304" pitchFamily="18" charset="0"/>
              </a:rPr>
              <a:t>varalaxmi</a:t>
            </a:r>
            <a:endParaRPr lang="en-US" dirty="0">
              <a:solidFill>
                <a:schemeClr val="tx1"/>
              </a:solidFill>
              <a:latin typeface="Times New Roman" panose="02020603050405020304" pitchFamily="18" charset="0"/>
              <a:cs typeface="Times New Roman" panose="02020603050405020304" pitchFamily="18" charset="0"/>
            </a:endParaRPr>
          </a:p>
          <a:p>
            <a:pPr marL="0" indent="0">
              <a:lnSpc>
                <a:spcPct val="50000"/>
              </a:lnSpc>
              <a:buNone/>
            </a:pPr>
            <a:r>
              <a:rPr lang="en-US" dirty="0">
                <a:solidFill>
                  <a:schemeClr val="tx1"/>
                </a:solidFill>
                <a:latin typeface="Times New Roman" panose="02020603050405020304" pitchFamily="18" charset="0"/>
                <a:cs typeface="Times New Roman" panose="02020603050405020304" pitchFamily="18" charset="0"/>
              </a:rPr>
              <a:t>Age: </a:t>
            </a:r>
            <a:r>
              <a:rPr lang="en-IN" dirty="0">
                <a:solidFill>
                  <a:schemeClr val="tx1"/>
                </a:solidFill>
                <a:latin typeface="Times New Roman" panose="02020603050405020304" pitchFamily="18" charset="0"/>
                <a:cs typeface="Times New Roman" panose="02020603050405020304" pitchFamily="18" charset="0"/>
              </a:rPr>
              <a:t>30</a:t>
            </a:r>
            <a:endParaRPr lang="en-US" dirty="0">
              <a:solidFill>
                <a:schemeClr val="tx1"/>
              </a:solidFill>
              <a:latin typeface="Times New Roman" panose="02020603050405020304" pitchFamily="18" charset="0"/>
              <a:cs typeface="Times New Roman" panose="02020603050405020304" pitchFamily="18" charset="0"/>
            </a:endParaRPr>
          </a:p>
          <a:p>
            <a:pPr marL="0" indent="0">
              <a:lnSpc>
                <a:spcPct val="50000"/>
              </a:lnSpc>
              <a:buNone/>
            </a:pPr>
            <a:r>
              <a:rPr lang="en-US" dirty="0">
                <a:solidFill>
                  <a:schemeClr val="tx1"/>
                </a:solidFill>
                <a:latin typeface="Times New Roman" panose="02020603050405020304" pitchFamily="18" charset="0"/>
                <a:cs typeface="Times New Roman" panose="02020603050405020304" pitchFamily="18" charset="0"/>
              </a:rPr>
              <a:t>Job: </a:t>
            </a:r>
            <a:r>
              <a:rPr lang="en-IN" dirty="0">
                <a:solidFill>
                  <a:schemeClr val="tx1"/>
                </a:solidFill>
                <a:latin typeface="Times New Roman" panose="02020603050405020304" pitchFamily="18" charset="0"/>
                <a:cs typeface="Times New Roman" panose="02020603050405020304" pitchFamily="18" charset="0"/>
              </a:rPr>
              <a:t>fruits seller</a:t>
            </a:r>
            <a:endParaRPr lang="en-US" dirty="0">
              <a:solidFill>
                <a:schemeClr val="tx1"/>
              </a:solidFill>
              <a:latin typeface="Times New Roman" panose="02020603050405020304" pitchFamily="18" charset="0"/>
              <a:cs typeface="Times New Roman" panose="02020603050405020304" pitchFamily="18" charset="0"/>
            </a:endParaRPr>
          </a:p>
          <a:p>
            <a:pPr marL="0" indent="0">
              <a:lnSpc>
                <a:spcPct val="50000"/>
              </a:lnSpc>
              <a:buNone/>
            </a:pPr>
            <a:r>
              <a:rPr lang="en-US" dirty="0">
                <a:solidFill>
                  <a:schemeClr val="tx1"/>
                </a:solidFill>
                <a:latin typeface="Times New Roman" panose="02020603050405020304" pitchFamily="18" charset="0"/>
                <a:cs typeface="Times New Roman" panose="02020603050405020304" pitchFamily="18" charset="0"/>
              </a:rPr>
              <a:t>Hobbies: Playing games</a:t>
            </a:r>
          </a:p>
          <a:p>
            <a:pPr marL="0" indent="0">
              <a:lnSpc>
                <a:spcPct val="50000"/>
              </a:lnSpc>
              <a:buNone/>
            </a:pPr>
            <a:r>
              <a:rPr lang="en-US" dirty="0">
                <a:solidFill>
                  <a:schemeClr val="tx1"/>
                </a:solidFill>
                <a:latin typeface="Times New Roman" panose="02020603050405020304" pitchFamily="18" charset="0"/>
                <a:cs typeface="Times New Roman" panose="02020603050405020304" pitchFamily="18" charset="0"/>
              </a:rPr>
              <a:t>Habits: Occasional drinking</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1.Can you share what challenges you faced with your previous wheel design?</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The old wheel could not handle obstacles like stairs properly.</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2. How has our reinvented smooth-climbing wheel impacted your daily life?</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It saved my time and reduced effort in daily movement.</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3. What specific circumstances did you test the wheel’s stair-climbing feature?</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I tested it on staircases and rocky paths.</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4. Have you experienced any terrain that was difficult for the wheel?</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Muddy areas were slightly difficult.</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5. What do you think could further enhance the wheel’s performance or features?</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Improving durability would help.</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6. What advice would you give to others considering this reinvented wheel design?</a:t>
            </a:r>
          </a:p>
          <a:p>
            <a:pPr marL="0" indent="0" algn="just">
              <a:buNone/>
            </a:pPr>
            <a:r>
              <a:rPr lang="en-US" dirty="0">
                <a:solidFill>
                  <a:schemeClr val="tx1"/>
                </a:solidFill>
                <a:latin typeface="Times New Roman" panose="02020603050405020304" pitchFamily="18" charset="0"/>
                <a:cs typeface="Times New Roman" panose="02020603050405020304" pitchFamily="18" charset="0"/>
              </a:rPr>
              <a:t>It is a good choice for better mobility.</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696130C-8EB5-6BC5-0F07-012BAAD4BA0D}"/>
              </a:ext>
            </a:extLst>
          </p:cNvPr>
          <p:cNvSpPr txBox="1"/>
          <p:nvPr/>
        </p:nvSpPr>
        <p:spPr>
          <a:xfrm>
            <a:off x="3683271" y="117987"/>
            <a:ext cx="2320413"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Problems facing:</a:t>
            </a:r>
          </a:p>
          <a:p>
            <a:r>
              <a:rPr lang="en-IN" dirty="0">
                <a:latin typeface="Times New Roman" panose="02020603050405020304" pitchFamily="18" charset="0"/>
                <a:cs typeface="Times New Roman" panose="02020603050405020304" pitchFamily="18" charset="0"/>
              </a:rPr>
              <a:t>Fruits selling cart</a:t>
            </a:r>
          </a:p>
          <a:p>
            <a:r>
              <a:rPr lang="en-IN" dirty="0">
                <a:latin typeface="Times New Roman" panose="02020603050405020304" pitchFamily="18" charset="0"/>
                <a:cs typeface="Times New Roman" panose="02020603050405020304" pitchFamily="18" charset="0"/>
              </a:rPr>
              <a:t>While moving it from one place to other she faces difficult </a:t>
            </a:r>
          </a:p>
        </p:txBody>
      </p:sp>
      <p:pic>
        <p:nvPicPr>
          <p:cNvPr id="7" name="Picture 6">
            <a:extLst>
              <a:ext uri="{FF2B5EF4-FFF2-40B4-BE49-F238E27FC236}">
                <a16:creationId xmlns:a16="http://schemas.microsoft.com/office/drawing/2014/main" id="{C4548913-B947-892E-ABBB-151DDC7B2B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31377" y="117986"/>
            <a:ext cx="2942623" cy="1854301"/>
          </a:xfrm>
          <a:prstGeom prst="rect">
            <a:avLst/>
          </a:prstGeom>
        </p:spPr>
      </p:pic>
    </p:spTree>
    <p:extLst>
      <p:ext uri="{BB962C8B-B14F-4D97-AF65-F5344CB8AC3E}">
        <p14:creationId xmlns:p14="http://schemas.microsoft.com/office/powerpoint/2010/main" val="1171606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3C975-3F60-7904-F97D-66595314D55B}"/>
              </a:ext>
            </a:extLst>
          </p:cNvPr>
          <p:cNvSpPr>
            <a:spLocks noGrp="1"/>
          </p:cNvSpPr>
          <p:nvPr>
            <p:ph type="title"/>
          </p:nvPr>
        </p:nvSpPr>
        <p:spPr>
          <a:xfrm>
            <a:off x="581743" y="0"/>
            <a:ext cx="8596668" cy="570271"/>
          </a:xfrm>
        </p:spPr>
        <p:txBody>
          <a:bodyPr>
            <a:normAutofit/>
          </a:bodyPr>
          <a:lstStyle/>
          <a:p>
            <a:pPr algn="ctr"/>
            <a:r>
              <a:rPr lang="en-IN" sz="2400" b="1" dirty="0">
                <a:solidFill>
                  <a:schemeClr val="tx1"/>
                </a:solidFill>
                <a:latin typeface="Times New Roman" panose="02020603050405020304" pitchFamily="18" charset="0"/>
                <a:cs typeface="Times New Roman" panose="02020603050405020304" pitchFamily="18" charset="0"/>
              </a:rPr>
              <a:t>User Journey</a:t>
            </a:r>
          </a:p>
        </p:txBody>
      </p:sp>
      <p:graphicFrame>
        <p:nvGraphicFramePr>
          <p:cNvPr id="7" name="Table 6">
            <a:extLst>
              <a:ext uri="{FF2B5EF4-FFF2-40B4-BE49-F238E27FC236}">
                <a16:creationId xmlns:a16="http://schemas.microsoft.com/office/drawing/2014/main" id="{4182B932-2DA1-1C0D-E94D-9ED04F4D1AD7}"/>
              </a:ext>
            </a:extLst>
          </p:cNvPr>
          <p:cNvGraphicFramePr>
            <a:graphicFrameLocks noGrp="1"/>
          </p:cNvGraphicFramePr>
          <p:nvPr>
            <p:extLst>
              <p:ext uri="{D42A27DB-BD31-4B8C-83A1-F6EECF244321}">
                <p14:modId xmlns:p14="http://schemas.microsoft.com/office/powerpoint/2010/main" val="3061712093"/>
              </p:ext>
            </p:extLst>
          </p:nvPr>
        </p:nvGraphicFramePr>
        <p:xfrm>
          <a:off x="581743" y="565356"/>
          <a:ext cx="8847392" cy="2336143"/>
        </p:xfrm>
        <a:graphic>
          <a:graphicData uri="http://schemas.openxmlformats.org/drawingml/2006/table">
            <a:tbl>
              <a:tblPr firstRow="1" bandRow="1">
                <a:tableStyleId>{5940675A-B579-460E-94D1-54222C63F5DA}</a:tableStyleId>
              </a:tblPr>
              <a:tblGrid>
                <a:gridCol w="2246284">
                  <a:extLst>
                    <a:ext uri="{9D8B030D-6E8A-4147-A177-3AD203B41FA5}">
                      <a16:colId xmlns:a16="http://schemas.microsoft.com/office/drawing/2014/main" val="3972327031"/>
                    </a:ext>
                  </a:extLst>
                </a:gridCol>
                <a:gridCol w="3651977">
                  <a:extLst>
                    <a:ext uri="{9D8B030D-6E8A-4147-A177-3AD203B41FA5}">
                      <a16:colId xmlns:a16="http://schemas.microsoft.com/office/drawing/2014/main" val="3788482163"/>
                    </a:ext>
                  </a:extLst>
                </a:gridCol>
                <a:gridCol w="2949131">
                  <a:extLst>
                    <a:ext uri="{9D8B030D-6E8A-4147-A177-3AD203B41FA5}">
                      <a16:colId xmlns:a16="http://schemas.microsoft.com/office/drawing/2014/main" val="1743053437"/>
                    </a:ext>
                  </a:extLst>
                </a:gridCol>
              </a:tblGrid>
              <a:tr h="318793">
                <a:tc>
                  <a:txBody>
                    <a:bodyPr/>
                    <a:lstStyle/>
                    <a:p>
                      <a:pPr algn="ctr"/>
                      <a:r>
                        <a:rPr lang="en-US" sz="2000" dirty="0">
                          <a:solidFill>
                            <a:schemeClr val="tx1"/>
                          </a:solidFill>
                          <a:latin typeface="Times New Roman" panose="02020603050405020304" pitchFamily="18" charset="0"/>
                          <a:cs typeface="Times New Roman" panose="02020603050405020304" pitchFamily="18" charset="0"/>
                        </a:rPr>
                        <a:t>Stage</a:t>
                      </a:r>
                    </a:p>
                  </a:txBody>
                  <a:tcPr/>
                </a:tc>
                <a:tc>
                  <a:txBody>
                    <a:bodyPr/>
                    <a:lstStyle/>
                    <a:p>
                      <a:pPr algn="ctr"/>
                      <a:r>
                        <a:rPr lang="en-IN" sz="2000" dirty="0">
                          <a:latin typeface="Times New Roman" panose="02020603050405020304" pitchFamily="18" charset="0"/>
                          <a:cs typeface="Times New Roman" panose="02020603050405020304" pitchFamily="18" charset="0"/>
                        </a:rPr>
                        <a:t>Action</a:t>
                      </a:r>
                    </a:p>
                  </a:txBody>
                  <a:tcPr/>
                </a:tc>
                <a:tc>
                  <a:txBody>
                    <a:bodyPr/>
                    <a:lstStyle/>
                    <a:p>
                      <a:pPr algn="ctr"/>
                      <a:r>
                        <a:rPr lang="en-US" dirty="0">
                          <a:latin typeface="Times New Roman" panose="02020603050405020304" pitchFamily="18" charset="0"/>
                          <a:cs typeface="Times New Roman" panose="02020603050405020304" pitchFamily="18" charset="0"/>
                        </a:rPr>
                        <a:t>Behavior</a:t>
                      </a:r>
                    </a:p>
                  </a:txBody>
                  <a:tcPr/>
                </a:tc>
                <a:extLst>
                  <a:ext uri="{0D108BD9-81ED-4DB2-BD59-A6C34878D82A}">
                    <a16:rowId xmlns:a16="http://schemas.microsoft.com/office/drawing/2014/main" val="4254395418"/>
                  </a:ext>
                </a:extLst>
              </a:tr>
              <a:tr h="650894">
                <a:tc>
                  <a:txBody>
                    <a:bodyPr/>
                    <a:lstStyle/>
                    <a:p>
                      <a:pPr algn="ctr"/>
                      <a:r>
                        <a:rPr lang="en-US" dirty="0">
                          <a:latin typeface="Times New Roman" panose="02020603050405020304" pitchFamily="18" charset="0"/>
                          <a:cs typeface="Times New Roman" panose="02020603050405020304" pitchFamily="18" charset="0"/>
                        </a:rPr>
                        <a:t>The Limitation</a:t>
                      </a:r>
                    </a:p>
                  </a:txBody>
                  <a:tcPr/>
                </a:tc>
                <a:tc>
                  <a:txBody>
                    <a:bodyPr/>
                    <a:lstStyle/>
                    <a:p>
                      <a:pPr algn="just"/>
                      <a:r>
                        <a:rPr lang="en-US" dirty="0">
                          <a:latin typeface="Times New Roman" panose="02020603050405020304" pitchFamily="18" charset="0"/>
                          <a:cs typeface="Times New Roman" panose="02020603050405020304" pitchFamily="18" charset="0"/>
                        </a:rPr>
                        <a:t>Traditional wheel struggles with obstacles taller than its radius.</a:t>
                      </a:r>
                    </a:p>
                  </a:txBody>
                  <a:tcPr/>
                </a:tc>
                <a:tc>
                  <a:txBody>
                    <a:bodyPr/>
                    <a:lstStyle/>
                    <a:p>
                      <a:pPr algn="just"/>
                      <a:r>
                        <a:rPr lang="en-US" dirty="0">
                          <a:latin typeface="Times New Roman" panose="02020603050405020304" pitchFamily="18" charset="0"/>
                          <a:cs typeface="Times New Roman" panose="02020603050405020304" pitchFamily="18" charset="0"/>
                        </a:rPr>
                        <a:t>Obstacle contact, limited mobility, vehicle stopped.</a:t>
                      </a:r>
                    </a:p>
                  </a:txBody>
                  <a:tcPr/>
                </a:tc>
                <a:extLst>
                  <a:ext uri="{0D108BD9-81ED-4DB2-BD59-A6C34878D82A}">
                    <a16:rowId xmlns:a16="http://schemas.microsoft.com/office/drawing/2014/main" val="2146740274"/>
                  </a:ext>
                </a:extLst>
              </a:tr>
              <a:tr h="648929">
                <a:tc>
                  <a:txBody>
                    <a:bodyPr/>
                    <a:lstStyle/>
                    <a:p>
                      <a:pPr algn="ctr"/>
                      <a:r>
                        <a:rPr lang="en-US" dirty="0">
                          <a:latin typeface="Times New Roman" panose="02020603050405020304" pitchFamily="18" charset="0"/>
                          <a:cs typeface="Times New Roman" panose="02020603050405020304" pitchFamily="18" charset="0"/>
                        </a:rPr>
                        <a:t>Transformation</a:t>
                      </a:r>
                    </a:p>
                  </a:txBody>
                  <a:tcPr/>
                </a:tc>
                <a:tc>
                  <a:txBody>
                    <a:bodyPr/>
                    <a:lstStyle/>
                    <a:p>
                      <a:pPr algn="just"/>
                      <a:r>
                        <a:rPr lang="en-US" dirty="0">
                          <a:latin typeface="Times New Roman" panose="02020603050405020304" pitchFamily="18" charset="0"/>
                          <a:cs typeface="Times New Roman" panose="02020603050405020304" pitchFamily="18" charset="0"/>
                        </a:rPr>
                        <a:t>Mechanism is "pressed" triggering transformation to </a:t>
                      </a:r>
                      <a:r>
                        <a:rPr lang="en-US" dirty="0" err="1">
                          <a:latin typeface="Times New Roman" panose="02020603050405020304" pitchFamily="18" charset="0"/>
                          <a:cs typeface="Times New Roman" panose="02020603050405020304" pitchFamily="18" charset="0"/>
                        </a:rPr>
                        <a:t>Wheg</a:t>
                      </a:r>
                      <a:r>
                        <a:rPr lang="en-US" dirty="0">
                          <a:latin typeface="Times New Roman" panose="02020603050405020304" pitchFamily="18" charset="0"/>
                          <a:cs typeface="Times New Roman" panose="02020603050405020304" pitchFamily="18" charset="0"/>
                        </a:rPr>
                        <a:t>.</a:t>
                      </a:r>
                    </a:p>
                  </a:txBody>
                  <a:tcPr/>
                </a:tc>
                <a:tc>
                  <a:txBody>
                    <a:bodyPr/>
                    <a:lstStyle/>
                    <a:p>
                      <a:pPr algn="just"/>
                      <a:r>
                        <a:rPr lang="en-US" dirty="0" err="1">
                          <a:latin typeface="Times New Roman" panose="02020603050405020304" pitchFamily="18" charset="0"/>
                          <a:cs typeface="Times New Roman" panose="02020603050405020304" pitchFamily="18" charset="0"/>
                        </a:rPr>
                        <a:t>Whegs</a:t>
                      </a:r>
                      <a:r>
                        <a:rPr lang="en-US" dirty="0">
                          <a:latin typeface="Times New Roman" panose="02020603050405020304" pitchFamily="18" charset="0"/>
                          <a:cs typeface="Times New Roman" panose="02020603050405020304" pitchFamily="18" charset="0"/>
                        </a:rPr>
                        <a:t> deploy hooks for "climbing" without motors.</a:t>
                      </a:r>
                    </a:p>
                  </a:txBody>
                  <a:tcPr/>
                </a:tc>
                <a:extLst>
                  <a:ext uri="{0D108BD9-81ED-4DB2-BD59-A6C34878D82A}">
                    <a16:rowId xmlns:a16="http://schemas.microsoft.com/office/drawing/2014/main" val="1103240990"/>
                  </a:ext>
                </a:extLst>
              </a:tr>
              <a:tr h="639097">
                <a:tc>
                  <a:txBody>
                    <a:bodyPr/>
                    <a:lstStyle/>
                    <a:p>
                      <a:pPr algn="ctr"/>
                      <a:r>
                        <a:rPr lang="en-US" dirty="0">
                          <a:latin typeface="Times New Roman" panose="02020603050405020304" pitchFamily="18" charset="0"/>
                          <a:cs typeface="Times New Roman" panose="02020603050405020304" pitchFamily="18" charset="0"/>
                        </a:rPr>
                        <a:t>Reset</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Wheel returns to a full circle after clearing obstacle.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Efficient flat-surface travel resumed.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92008463"/>
                  </a:ext>
                </a:extLst>
              </a:tr>
            </a:tbl>
          </a:graphicData>
        </a:graphic>
      </p:graphicFrame>
      <p:sp>
        <p:nvSpPr>
          <p:cNvPr id="10" name="Title 1">
            <a:extLst>
              <a:ext uri="{FF2B5EF4-FFF2-40B4-BE49-F238E27FC236}">
                <a16:creationId xmlns:a16="http://schemas.microsoft.com/office/drawing/2014/main" id="{286ADA0A-D2C8-44B5-91C1-5D9B4E0DD070}"/>
              </a:ext>
            </a:extLst>
          </p:cNvPr>
          <p:cNvSpPr txBox="1">
            <a:spLocks/>
          </p:cNvSpPr>
          <p:nvPr/>
        </p:nvSpPr>
        <p:spPr>
          <a:xfrm>
            <a:off x="707105" y="2896584"/>
            <a:ext cx="8596668" cy="57027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solidFill>
                  <a:schemeClr val="tx1"/>
                </a:solidFill>
                <a:latin typeface="Times New Roman" panose="02020603050405020304" pitchFamily="18" charset="0"/>
                <a:cs typeface="Times New Roman" panose="02020603050405020304" pitchFamily="18" charset="0"/>
              </a:rPr>
              <a:t>Experience</a:t>
            </a:r>
          </a:p>
        </p:txBody>
      </p:sp>
      <p:graphicFrame>
        <p:nvGraphicFramePr>
          <p:cNvPr id="11" name="Table 10">
            <a:extLst>
              <a:ext uri="{FF2B5EF4-FFF2-40B4-BE49-F238E27FC236}">
                <a16:creationId xmlns:a16="http://schemas.microsoft.com/office/drawing/2014/main" id="{21F91FC4-3BD4-FE68-0FE7-15037E2A7F75}"/>
              </a:ext>
            </a:extLst>
          </p:cNvPr>
          <p:cNvGraphicFramePr>
            <a:graphicFrameLocks noGrp="1"/>
          </p:cNvGraphicFramePr>
          <p:nvPr>
            <p:extLst>
              <p:ext uri="{D42A27DB-BD31-4B8C-83A1-F6EECF244321}">
                <p14:modId xmlns:p14="http://schemas.microsoft.com/office/powerpoint/2010/main" val="52888330"/>
              </p:ext>
            </p:extLst>
          </p:nvPr>
        </p:nvGraphicFramePr>
        <p:xfrm>
          <a:off x="334297" y="3383772"/>
          <a:ext cx="8969476" cy="2590800"/>
        </p:xfrm>
        <a:graphic>
          <a:graphicData uri="http://schemas.openxmlformats.org/drawingml/2006/table">
            <a:tbl>
              <a:tblPr firstRow="1" bandRow="1">
                <a:tableStyleId>{5940675A-B579-460E-94D1-54222C63F5DA}</a:tableStyleId>
              </a:tblPr>
              <a:tblGrid>
                <a:gridCol w="1461133">
                  <a:extLst>
                    <a:ext uri="{9D8B030D-6E8A-4147-A177-3AD203B41FA5}">
                      <a16:colId xmlns:a16="http://schemas.microsoft.com/office/drawing/2014/main" val="1474282177"/>
                    </a:ext>
                  </a:extLst>
                </a:gridCol>
                <a:gridCol w="2806067">
                  <a:extLst>
                    <a:ext uri="{9D8B030D-6E8A-4147-A177-3AD203B41FA5}">
                      <a16:colId xmlns:a16="http://schemas.microsoft.com/office/drawing/2014/main" val="2278116432"/>
                    </a:ext>
                  </a:extLst>
                </a:gridCol>
                <a:gridCol w="2084438">
                  <a:extLst>
                    <a:ext uri="{9D8B030D-6E8A-4147-A177-3AD203B41FA5}">
                      <a16:colId xmlns:a16="http://schemas.microsoft.com/office/drawing/2014/main" val="559971369"/>
                    </a:ext>
                  </a:extLst>
                </a:gridCol>
                <a:gridCol w="2617838">
                  <a:extLst>
                    <a:ext uri="{9D8B030D-6E8A-4147-A177-3AD203B41FA5}">
                      <a16:colId xmlns:a16="http://schemas.microsoft.com/office/drawing/2014/main" val="2881643052"/>
                    </a:ext>
                  </a:extLst>
                </a:gridCol>
              </a:tblGrid>
              <a:tr h="393759">
                <a:tc>
                  <a:txBody>
                    <a:bodyPr/>
                    <a:lstStyle/>
                    <a:p>
                      <a:pPr algn="ctr"/>
                      <a:r>
                        <a:rPr lang="en-IN" sz="2000" dirty="0">
                          <a:latin typeface="Times New Roman" panose="02020603050405020304" pitchFamily="18" charset="0"/>
                          <a:cs typeface="Times New Roman" panose="02020603050405020304" pitchFamily="18" charset="0"/>
                        </a:rPr>
                        <a:t>Stage</a:t>
                      </a:r>
                    </a:p>
                  </a:txBody>
                  <a:tcPr/>
                </a:tc>
                <a:tc>
                  <a:txBody>
                    <a:bodyPr/>
                    <a:lstStyle/>
                    <a:p>
                      <a:pPr algn="ctr"/>
                      <a:r>
                        <a:rPr lang="en-US" sz="2000" dirty="0">
                          <a:latin typeface="Times New Roman" panose="02020603050405020304" pitchFamily="18" charset="0"/>
                          <a:cs typeface="Times New Roman" panose="02020603050405020304" pitchFamily="18" charset="0"/>
                        </a:rPr>
                        <a:t>State</a:t>
                      </a:r>
                    </a:p>
                  </a:txBody>
                  <a:tcPr/>
                </a:tc>
                <a:tc>
                  <a:txBody>
                    <a:bodyPr/>
                    <a:lstStyle/>
                    <a:p>
                      <a:pPr algn="ctr"/>
                      <a:r>
                        <a:rPr lang="en-US" sz="2000" dirty="0">
                          <a:latin typeface="Times New Roman" panose="02020603050405020304" pitchFamily="18" charset="0"/>
                          <a:cs typeface="Times New Roman" panose="02020603050405020304" pitchFamily="18" charset="0"/>
                        </a:rPr>
                        <a:t>Feeling</a:t>
                      </a:r>
                    </a:p>
                  </a:txBody>
                  <a:tcPr/>
                </a:tc>
                <a:tc>
                  <a:txBody>
                    <a:bodyPr/>
                    <a:lstStyle/>
                    <a:p>
                      <a:pPr algn="ctr"/>
                      <a:r>
                        <a:rPr lang="en-US" sz="2000" dirty="0">
                          <a:latin typeface="Times New Roman" panose="02020603050405020304" pitchFamily="18" charset="0"/>
                          <a:cs typeface="Times New Roman" panose="02020603050405020304" pitchFamily="18" charset="0"/>
                        </a:rPr>
                        <a:t>Solution</a:t>
                      </a:r>
                    </a:p>
                  </a:txBody>
                  <a:tcPr/>
                </a:tc>
                <a:extLst>
                  <a:ext uri="{0D108BD9-81ED-4DB2-BD59-A6C34878D82A}">
                    <a16:rowId xmlns:a16="http://schemas.microsoft.com/office/drawing/2014/main" val="1576943186"/>
                  </a:ext>
                </a:extLst>
              </a:tr>
              <a:tr h="636072">
                <a:tc>
                  <a:txBody>
                    <a:bodyPr/>
                    <a:lstStyle/>
                    <a:p>
                      <a:pPr algn="ctr"/>
                      <a:r>
                        <a:rPr lang="en-IN" dirty="0">
                          <a:latin typeface="Times New Roman" panose="02020603050405020304" pitchFamily="18" charset="0"/>
                          <a:cs typeface="Times New Roman" panose="02020603050405020304" pitchFamily="18" charset="0"/>
                        </a:rPr>
                        <a:t>State</a:t>
                      </a:r>
                    </a:p>
                  </a:txBody>
                  <a:tcPr/>
                </a:tc>
                <a:tc>
                  <a:txBody>
                    <a:bodyPr/>
                    <a:lstStyle/>
                    <a:p>
                      <a:pPr algn="just"/>
                      <a:r>
                        <a:rPr lang="en-US" dirty="0">
                          <a:latin typeface="Times New Roman" panose="02020603050405020304" pitchFamily="18" charset="0"/>
                          <a:cs typeface="Times New Roman" panose="02020603050405020304" pitchFamily="18" charset="0"/>
                        </a:rPr>
                        <a:t>Frustrated by failure to ascend.</a:t>
                      </a:r>
                    </a:p>
                  </a:txBody>
                  <a:tcPr/>
                </a:tc>
                <a:tc>
                  <a:txBody>
                    <a:bodyPr/>
                    <a:lstStyle/>
                    <a:p>
                      <a:pPr algn="just"/>
                      <a:r>
                        <a:rPr lang="en-US" dirty="0">
                          <a:latin typeface="Times New Roman" panose="02020603050405020304" pitchFamily="18" charset="0"/>
                          <a:cs typeface="Times New Roman" panose="02020603050405020304" pitchFamily="18" charset="0"/>
                        </a:rPr>
                        <a:t>Stuck, powerless.</a:t>
                      </a:r>
                    </a:p>
                  </a:txBody>
                  <a:tcPr/>
                </a:tc>
                <a:tc>
                  <a:txBody>
                    <a:bodyPr/>
                    <a:lstStyle/>
                    <a:p>
                      <a:pPr algn="just">
                        <a:lnSpc>
                          <a:spcPct val="100000"/>
                        </a:lnSpc>
                      </a:pPr>
                      <a:r>
                        <a:rPr lang="en-US" dirty="0">
                          <a:latin typeface="Times New Roman" panose="02020603050405020304" pitchFamily="18" charset="0"/>
                          <a:cs typeface="Times New Roman" panose="02020603050405020304" pitchFamily="18" charset="0"/>
                        </a:rPr>
                        <a:t>A need for transformable, passive design.</a:t>
                      </a:r>
                    </a:p>
                  </a:txBody>
                  <a:tcPr/>
                </a:tc>
                <a:extLst>
                  <a:ext uri="{0D108BD9-81ED-4DB2-BD59-A6C34878D82A}">
                    <a16:rowId xmlns:a16="http://schemas.microsoft.com/office/drawing/2014/main" val="464664713"/>
                  </a:ext>
                </a:extLst>
              </a:tr>
              <a:tr h="745950">
                <a:tc>
                  <a:txBody>
                    <a:bodyPr/>
                    <a:lstStyle/>
                    <a:p>
                      <a:pPr algn="ctr"/>
                      <a:r>
                        <a:rPr lang="en-IN" dirty="0">
                          <a:latin typeface="Times New Roman" panose="02020603050405020304" pitchFamily="18" charset="0"/>
                          <a:cs typeface="Times New Roman" panose="02020603050405020304" pitchFamily="18" charset="0"/>
                        </a:rPr>
                        <a:t>Feeling</a:t>
                      </a:r>
                    </a:p>
                  </a:txBody>
                  <a:tcPr/>
                </a:tc>
                <a:tc>
                  <a:txBody>
                    <a:bodyPr/>
                    <a:lstStyle/>
                    <a:p>
                      <a:pPr algn="just"/>
                      <a:r>
                        <a:rPr lang="en-US" dirty="0">
                          <a:latin typeface="Times New Roman" panose="02020603050405020304" pitchFamily="18" charset="0"/>
                          <a:cs typeface="Times New Roman" panose="02020603050405020304" pitchFamily="18" charset="0"/>
                        </a:rPr>
                        <a:t>Engaged by automatic, efficient mechanics.</a:t>
                      </a:r>
                    </a:p>
                  </a:txBody>
                  <a:tcPr/>
                </a:tc>
                <a:tc>
                  <a:txBody>
                    <a:bodyPr/>
                    <a:lstStyle/>
                    <a:p>
                      <a:pPr algn="just"/>
                      <a:r>
                        <a:rPr lang="en-US" dirty="0">
                          <a:latin typeface="Times New Roman" panose="02020603050405020304" pitchFamily="18" charset="0"/>
                          <a:cs typeface="Times New Roman" panose="02020603050405020304" pitchFamily="18" charset="0"/>
                        </a:rPr>
                        <a:t>Cunningly capable, automated.</a:t>
                      </a:r>
                    </a:p>
                  </a:txBody>
                  <a:tcPr/>
                </a:tc>
                <a:tc>
                  <a:txBody>
                    <a:bodyPr/>
                    <a:lstStyle/>
                    <a:p>
                      <a:pPr algn="just">
                        <a:lnSpc>
                          <a:spcPct val="100000"/>
                        </a:lnSpc>
                      </a:pPr>
                      <a:r>
                        <a:rPr lang="en-US" dirty="0">
                          <a:latin typeface="Times New Roman" panose="02020603050405020304" pitchFamily="18" charset="0"/>
                          <a:cs typeface="Times New Roman" panose="02020603050405020304" pitchFamily="18" charset="0"/>
                        </a:rPr>
                        <a:t>PATS Hybrid achieves 70% diameter step-climbing.</a:t>
                      </a:r>
                    </a:p>
                  </a:txBody>
                  <a:tcPr/>
                </a:tc>
                <a:extLst>
                  <a:ext uri="{0D108BD9-81ED-4DB2-BD59-A6C34878D82A}">
                    <a16:rowId xmlns:a16="http://schemas.microsoft.com/office/drawing/2014/main" val="201202"/>
                  </a:ext>
                </a:extLst>
              </a:tr>
              <a:tr h="636072">
                <a:tc>
                  <a:txBody>
                    <a:bodyPr/>
                    <a:lstStyle/>
                    <a:p>
                      <a:pPr algn="ctr"/>
                      <a:r>
                        <a:rPr lang="en-IN" dirty="0">
                          <a:latin typeface="Times New Roman" panose="02020603050405020304" pitchFamily="18" charset="0"/>
                          <a:cs typeface="Times New Roman" panose="02020603050405020304" pitchFamily="18" charset="0"/>
                        </a:rPr>
                        <a:t>Solution</a:t>
                      </a:r>
                    </a:p>
                  </a:txBody>
                  <a:tcPr/>
                </a:tc>
                <a:tc>
                  <a:txBody>
                    <a:bodyPr/>
                    <a:lstStyle/>
                    <a:p>
                      <a:pPr algn="just"/>
                      <a:r>
                        <a:rPr lang="en-US" dirty="0">
                          <a:latin typeface="Times New Roman" panose="02020603050405020304" pitchFamily="18" charset="0"/>
                          <a:cs typeface="Times New Roman" panose="02020603050405020304" pitchFamily="18" charset="0"/>
                        </a:rPr>
                        <a:t>Optimized for high-speed efficiency.</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Efficient, optimized.</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dirty="0">
                          <a:latin typeface="Times New Roman" panose="02020603050405020304" pitchFamily="18" charset="0"/>
                          <a:cs typeface="Times New Roman" panose="02020603050405020304" pitchFamily="18" charset="0"/>
                        </a:rPr>
                        <a:t>Dual mode is optimized for speed and obstacles.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0039571"/>
                  </a:ext>
                </a:extLst>
              </a:tr>
            </a:tbl>
          </a:graphicData>
        </a:graphic>
      </p:graphicFrame>
    </p:spTree>
    <p:extLst>
      <p:ext uri="{BB962C8B-B14F-4D97-AF65-F5344CB8AC3E}">
        <p14:creationId xmlns:p14="http://schemas.microsoft.com/office/powerpoint/2010/main" val="4067744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77F693F-6474-B43F-9E4E-D3B0263F0CC6}"/>
              </a:ext>
            </a:extLst>
          </p:cNvPr>
          <p:cNvSpPr>
            <a:spLocks noGrp="1"/>
          </p:cNvSpPr>
          <p:nvPr>
            <p:ph idx="1"/>
          </p:nvPr>
        </p:nvSpPr>
        <p:spPr>
          <a:xfrm>
            <a:off x="677334" y="0"/>
            <a:ext cx="8596668" cy="6857999"/>
          </a:xfrm>
        </p:spPr>
        <p:txBody>
          <a:bodyPr>
            <a:normAutofit/>
          </a:bodyPr>
          <a:lstStyle/>
          <a:p>
            <a:pPr marL="0" indent="0" algn="ctr">
              <a:buNone/>
            </a:pPr>
            <a:r>
              <a:rPr lang="en-IN" sz="2400" dirty="0">
                <a:latin typeface="Times New Roman" panose="02020603050405020304" pitchFamily="18" charset="0"/>
                <a:cs typeface="Times New Roman" panose="02020603050405020304" pitchFamily="18" charset="0"/>
              </a:rPr>
              <a:t>Operational performance</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CF57048-7A6B-B14D-52DA-A95DD96FC81B}"/>
              </a:ext>
            </a:extLst>
          </p:cNvPr>
          <p:cNvPicPr>
            <a:picLocks noChangeAspect="1"/>
          </p:cNvPicPr>
          <p:nvPr/>
        </p:nvPicPr>
        <p:blipFill>
          <a:blip r:embed="rId2"/>
          <a:stretch>
            <a:fillRect/>
          </a:stretch>
        </p:blipFill>
        <p:spPr>
          <a:xfrm>
            <a:off x="677334" y="633873"/>
            <a:ext cx="8596668" cy="2197817"/>
          </a:xfrm>
          <a:prstGeom prst="rect">
            <a:avLst/>
          </a:prstGeom>
        </p:spPr>
      </p:pic>
      <p:sp>
        <p:nvSpPr>
          <p:cNvPr id="10" name="TextBox 9">
            <a:extLst>
              <a:ext uri="{FF2B5EF4-FFF2-40B4-BE49-F238E27FC236}">
                <a16:creationId xmlns:a16="http://schemas.microsoft.com/office/drawing/2014/main" id="{4C2F1022-80DE-090F-1052-ADD04E6B0C75}"/>
              </a:ext>
            </a:extLst>
          </p:cNvPr>
          <p:cNvSpPr txBox="1"/>
          <p:nvPr/>
        </p:nvSpPr>
        <p:spPr>
          <a:xfrm>
            <a:off x="677334" y="2831690"/>
            <a:ext cx="2576052"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Obstacle approach: Wheel Mode</a:t>
            </a:r>
          </a:p>
        </p:txBody>
      </p:sp>
      <p:sp>
        <p:nvSpPr>
          <p:cNvPr id="11" name="TextBox 10">
            <a:extLst>
              <a:ext uri="{FF2B5EF4-FFF2-40B4-BE49-F238E27FC236}">
                <a16:creationId xmlns:a16="http://schemas.microsoft.com/office/drawing/2014/main" id="{ED2F7177-22B4-D49F-21C6-E514851B027F}"/>
              </a:ext>
            </a:extLst>
          </p:cNvPr>
          <p:cNvSpPr txBox="1"/>
          <p:nvPr/>
        </p:nvSpPr>
        <p:spPr>
          <a:xfrm>
            <a:off x="3602430" y="2831690"/>
            <a:ext cx="2576052"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Passive 'Press' Contact </a:t>
            </a:r>
            <a:r>
              <a:rPr lang="en-IN" dirty="0" err="1">
                <a:latin typeface="Times New Roman" panose="02020603050405020304" pitchFamily="18" charset="0"/>
                <a:cs typeface="Times New Roman" panose="02020603050405020304" pitchFamily="18" charset="0"/>
              </a:rPr>
              <a:t>Transformats</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77DC038-005E-4E54-B150-021504BB1E27}"/>
              </a:ext>
            </a:extLst>
          </p:cNvPr>
          <p:cNvSpPr txBox="1"/>
          <p:nvPr/>
        </p:nvSpPr>
        <p:spPr>
          <a:xfrm>
            <a:off x="6527527" y="2869719"/>
            <a:ext cx="2576052"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Automated Ascent: </a:t>
            </a:r>
            <a:r>
              <a:rPr lang="en-IN" dirty="0" err="1">
                <a:latin typeface="Times New Roman" panose="02020603050405020304" pitchFamily="18" charset="0"/>
                <a:cs typeface="Times New Roman" panose="02020603050405020304" pitchFamily="18" charset="0"/>
              </a:rPr>
              <a:t>Wheg</a:t>
            </a:r>
            <a:r>
              <a:rPr lang="en-IN" dirty="0">
                <a:latin typeface="Times New Roman" panose="02020603050405020304" pitchFamily="18" charset="0"/>
                <a:cs typeface="Times New Roman" panose="02020603050405020304" pitchFamily="18" charset="0"/>
              </a:rPr>
              <a:t> Mode</a:t>
            </a:r>
          </a:p>
        </p:txBody>
      </p:sp>
      <p:pic>
        <p:nvPicPr>
          <p:cNvPr id="15" name="Picture 14">
            <a:extLst>
              <a:ext uri="{FF2B5EF4-FFF2-40B4-BE49-F238E27FC236}">
                <a16:creationId xmlns:a16="http://schemas.microsoft.com/office/drawing/2014/main" id="{1239964E-DAAB-EDC9-C5FE-1180235C505C}"/>
              </a:ext>
            </a:extLst>
          </p:cNvPr>
          <p:cNvPicPr>
            <a:picLocks noChangeAspect="1"/>
          </p:cNvPicPr>
          <p:nvPr/>
        </p:nvPicPr>
        <p:blipFill>
          <a:blip r:embed="rId3"/>
          <a:stretch>
            <a:fillRect/>
          </a:stretch>
        </p:blipFill>
        <p:spPr>
          <a:xfrm>
            <a:off x="606219" y="4026311"/>
            <a:ext cx="5843741" cy="1774721"/>
          </a:xfrm>
          <a:prstGeom prst="rect">
            <a:avLst/>
          </a:prstGeom>
        </p:spPr>
      </p:pic>
      <p:sp>
        <p:nvSpPr>
          <p:cNvPr id="16" name="TextBox 15">
            <a:extLst>
              <a:ext uri="{FF2B5EF4-FFF2-40B4-BE49-F238E27FC236}">
                <a16:creationId xmlns:a16="http://schemas.microsoft.com/office/drawing/2014/main" id="{3662B853-CA4F-82B3-A010-34047741B8C1}"/>
              </a:ext>
            </a:extLst>
          </p:cNvPr>
          <p:cNvSpPr txBox="1"/>
          <p:nvPr/>
        </p:nvSpPr>
        <p:spPr>
          <a:xfrm>
            <a:off x="870701" y="3643777"/>
            <a:ext cx="257605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"Pure" Wheel Limitation</a:t>
            </a:r>
            <a:endParaRPr lang="en-I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60B31D6-AF63-632E-8AE5-889FED51B74F}"/>
              </a:ext>
            </a:extLst>
          </p:cNvPr>
          <p:cNvSpPr txBox="1"/>
          <p:nvPr/>
        </p:nvSpPr>
        <p:spPr>
          <a:xfrm>
            <a:off x="3873908" y="3613664"/>
            <a:ext cx="257605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PATS Hybrid Capability</a:t>
            </a:r>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8FC795B-6B0F-25C6-E0D5-D6676F8786C9}"/>
              </a:ext>
            </a:extLst>
          </p:cNvPr>
          <p:cNvSpPr txBox="1"/>
          <p:nvPr/>
        </p:nvSpPr>
        <p:spPr>
          <a:xfrm>
            <a:off x="606218" y="5844347"/>
            <a:ext cx="2996211"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"Pure" Wheel Limitation</a:t>
            </a:r>
          </a:p>
          <a:p>
            <a:pPr algn="just"/>
            <a:r>
              <a:rPr lang="en-US" dirty="0">
                <a:latin typeface="Times New Roman" panose="02020603050405020304" pitchFamily="18" charset="0"/>
                <a:cs typeface="Times New Roman" panose="02020603050405020304" pitchFamily="18" charset="0"/>
              </a:rPr>
              <a:t>Stuck. Fails to ascend.</a:t>
            </a:r>
          </a:p>
          <a:p>
            <a:pPr algn="just"/>
            <a:r>
              <a:rPr lang="en-US" dirty="0">
                <a:latin typeface="Times New Roman" panose="02020603050405020304" pitchFamily="18" charset="0"/>
                <a:cs typeface="Times New Roman" panose="02020603050405020304" pitchFamily="18" charset="0"/>
              </a:rPr>
              <a:t>Requires external intervention</a:t>
            </a:r>
          </a:p>
        </p:txBody>
      </p:sp>
      <p:sp>
        <p:nvSpPr>
          <p:cNvPr id="19" name="TextBox 18">
            <a:extLst>
              <a:ext uri="{FF2B5EF4-FFF2-40B4-BE49-F238E27FC236}">
                <a16:creationId xmlns:a16="http://schemas.microsoft.com/office/drawing/2014/main" id="{85220434-327E-D653-22B1-921390BDF3B0}"/>
              </a:ext>
            </a:extLst>
          </p:cNvPr>
          <p:cNvSpPr txBox="1"/>
          <p:nvPr/>
        </p:nvSpPr>
        <p:spPr>
          <a:xfrm>
            <a:off x="3673544" y="5844347"/>
            <a:ext cx="2576052"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PTS Hybrid Capability</a:t>
            </a:r>
          </a:p>
          <a:p>
            <a:pPr algn="ctr"/>
            <a:r>
              <a:rPr lang="en-US" dirty="0">
                <a:latin typeface="Times New Roman" panose="02020603050405020304" pitchFamily="18" charset="0"/>
                <a:cs typeface="Times New Roman" panose="02020603050405020304" pitchFamily="18" charset="0"/>
              </a:rPr>
              <a:t>70% OF DIAMETER. CLEARED.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2029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69115-AD76-1D12-57BB-8B2F4E90C1CB}"/>
              </a:ext>
            </a:extLst>
          </p:cNvPr>
          <p:cNvSpPr>
            <a:spLocks noGrp="1"/>
          </p:cNvSpPr>
          <p:nvPr>
            <p:ph type="title"/>
          </p:nvPr>
        </p:nvSpPr>
        <p:spPr>
          <a:xfrm>
            <a:off x="677334" y="1436070"/>
            <a:ext cx="8596668" cy="914400"/>
          </a:xfrm>
        </p:spPr>
        <p:txBody>
          <a:bodyPr/>
          <a:lstStyle/>
          <a:p>
            <a:pPr algn="ctr"/>
            <a:r>
              <a:rPr lang="en-IN" b="1" dirty="0">
                <a:solidFill>
                  <a:schemeClr val="tx1"/>
                </a:solidFill>
                <a:latin typeface="Times New Roman" panose="02020603050405020304" pitchFamily="18" charset="0"/>
                <a:ea typeface="Lato"/>
                <a:cs typeface="Times New Roman" panose="02020603050405020304" pitchFamily="18" charset="0"/>
                <a:sym typeface="Lato"/>
              </a:rPr>
              <a:t>UNDERSTANDING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BAD165-C3A5-F81D-D83D-DCA1E262CC75}"/>
              </a:ext>
            </a:extLst>
          </p:cNvPr>
          <p:cNvSpPr>
            <a:spLocks noGrp="1"/>
          </p:cNvSpPr>
          <p:nvPr>
            <p:ph idx="1"/>
          </p:nvPr>
        </p:nvSpPr>
        <p:spPr>
          <a:xfrm>
            <a:off x="677334" y="2350470"/>
            <a:ext cx="8596668" cy="3966756"/>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A traditional wheel is optimized for flat ground but cannot navigate unstructured terrain. Standard "</a:t>
            </a:r>
            <a:r>
              <a:rPr lang="en-US" sz="2000" dirty="0" err="1">
                <a:latin typeface="Times New Roman" panose="02020603050405020304" pitchFamily="18" charset="0"/>
                <a:cs typeface="Times New Roman" panose="02020603050405020304" pitchFamily="18" charset="0"/>
              </a:rPr>
              <a:t>Wheg</a:t>
            </a:r>
            <a:r>
              <a:rPr lang="en-US" sz="2000" dirty="0">
                <a:latin typeface="Times New Roman" panose="02020603050405020304" pitchFamily="18" charset="0"/>
                <a:cs typeface="Times New Roman" panose="02020603050405020304" pitchFamily="18" charset="0"/>
              </a:rPr>
              <a:t>" systems are inefficient on smooth surfaces. Adding complex sensors and actuators for multi-terrain capability increases cost, weight, and failure points. This project demonstrates a novel approach: using passive mechanical intelligence to solve complex navigation problems without sensors or motors.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002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 xmlns:p14="http://schemas.microsoft.com/office/powerpoint/2010/main" xmlns:aink="http://schemas.microsoft.com/office/drawing/2016/ink" Requires="p14 aink">
          <p:contentPart p14:bwMode="auto" r:id="rId2">
            <p14:nvContentPartPr>
              <p14:cNvPr id="9" name="Ink 8">
                <a:extLst>
                  <a:ext uri="{FF2B5EF4-FFF2-40B4-BE49-F238E27FC236}">
                    <a16:creationId xmlns:a16="http://schemas.microsoft.com/office/drawing/2014/main" id="{0A598676-BF74-10B2-383C-91809D1DD420}"/>
                  </a:ext>
                </a:extLst>
              </p14:cNvPr>
              <p14:cNvContentPartPr/>
              <p14:nvPr/>
            </p14:nvContentPartPr>
            <p14:xfrm>
              <a:off x="-1131143" y="2271108"/>
              <a:ext cx="360" cy="360"/>
            </p14:xfrm>
          </p:contentPart>
        </mc:Choice>
        <mc:Fallback>
          <p:pic>
            <p:nvPicPr>
              <p:cNvPr id="9" name="Ink 8">
                <a:extLst>
                  <a:ext uri="{FF2B5EF4-FFF2-40B4-BE49-F238E27FC236}">
                    <a16:creationId xmlns:a16="http://schemas.microsoft.com/office/drawing/2014/main" id="{0A598676-BF74-10B2-383C-91809D1DD420}"/>
                  </a:ext>
                </a:extLst>
              </p:cNvPr>
              <p:cNvPicPr/>
              <p:nvPr/>
            </p:nvPicPr>
            <p:blipFill>
              <a:blip r:embed="rId3"/>
              <a:stretch>
                <a:fillRect/>
              </a:stretch>
            </p:blipFill>
            <p:spPr>
              <a:xfrm>
                <a:off x="-1139783" y="2217468"/>
                <a:ext cx="18000" cy="108000"/>
              </a:xfrm>
              <a:prstGeom prst="rect">
                <a:avLst/>
              </a:prstGeom>
            </p:spPr>
          </p:pic>
        </mc:Fallback>
      </mc:AlternateContent>
      <p:grpSp>
        <p:nvGrpSpPr>
          <p:cNvPr id="21" name="Group 20">
            <a:extLst>
              <a:ext uri="{FF2B5EF4-FFF2-40B4-BE49-F238E27FC236}">
                <a16:creationId xmlns:a16="http://schemas.microsoft.com/office/drawing/2014/main" id="{1180ED93-66A7-F166-6AC5-218B43E20E28}"/>
              </a:ext>
            </a:extLst>
          </p:cNvPr>
          <p:cNvGrpSpPr/>
          <p:nvPr/>
        </p:nvGrpSpPr>
        <p:grpSpPr>
          <a:xfrm>
            <a:off x="370245" y="1739537"/>
            <a:ext cx="9206374" cy="3378925"/>
            <a:chOff x="232594" y="824680"/>
            <a:chExt cx="9206374" cy="3378925"/>
          </a:xfrm>
        </p:grpSpPr>
        <p:pic>
          <p:nvPicPr>
            <p:cNvPr id="8" name="Picture 7">
              <a:extLst>
                <a:ext uri="{FF2B5EF4-FFF2-40B4-BE49-F238E27FC236}">
                  <a16:creationId xmlns:a16="http://schemas.microsoft.com/office/drawing/2014/main" id="{CE6E7EE9-10F4-C66F-BE67-7E429954F942}"/>
                </a:ext>
              </a:extLst>
            </p:cNvPr>
            <p:cNvPicPr>
              <a:picLocks noChangeAspect="1"/>
            </p:cNvPicPr>
            <p:nvPr/>
          </p:nvPicPr>
          <p:blipFill>
            <a:blip r:embed="rId4"/>
            <a:stretch>
              <a:fillRect/>
            </a:stretch>
          </p:blipFill>
          <p:spPr>
            <a:xfrm>
              <a:off x="232594" y="824680"/>
              <a:ext cx="4667250" cy="3124200"/>
            </a:xfrm>
            <a:prstGeom prst="rect">
              <a:avLst/>
            </a:prstGeom>
            <a:ln>
              <a:solidFill>
                <a:schemeClr val="bg1"/>
              </a:solidFill>
            </a:ln>
          </p:spPr>
        </p:pic>
        <p:sp>
          <p:nvSpPr>
            <p:cNvPr id="11" name="Arrow: Right 10">
              <a:extLst>
                <a:ext uri="{FF2B5EF4-FFF2-40B4-BE49-F238E27FC236}">
                  <a16:creationId xmlns:a16="http://schemas.microsoft.com/office/drawing/2014/main" id="{D1411CCF-FCB9-3EA0-1BA3-0003C0247F2F}"/>
                </a:ext>
              </a:extLst>
            </p:cNvPr>
            <p:cNvSpPr/>
            <p:nvPr/>
          </p:nvSpPr>
          <p:spPr>
            <a:xfrm>
              <a:off x="5260258" y="2340077"/>
              <a:ext cx="1002963" cy="53094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3" name="Picture 12">
              <a:extLst>
                <a:ext uri="{FF2B5EF4-FFF2-40B4-BE49-F238E27FC236}">
                  <a16:creationId xmlns:a16="http://schemas.microsoft.com/office/drawing/2014/main" id="{FD995361-A366-A416-7EC4-4E1E4C22E524}"/>
                </a:ext>
              </a:extLst>
            </p:cNvPr>
            <p:cNvPicPr>
              <a:picLocks noChangeAspect="1"/>
            </p:cNvPicPr>
            <p:nvPr/>
          </p:nvPicPr>
          <p:blipFill>
            <a:blip r:embed="rId5"/>
            <a:stretch>
              <a:fillRect/>
            </a:stretch>
          </p:blipFill>
          <p:spPr>
            <a:xfrm>
              <a:off x="6700721" y="1376823"/>
              <a:ext cx="2438400" cy="2457450"/>
            </a:xfrm>
            <a:prstGeom prst="rect">
              <a:avLst/>
            </a:prstGeom>
          </p:spPr>
        </p:pic>
        <p:sp>
          <p:nvSpPr>
            <p:cNvPr id="18" name="TextBox 17">
              <a:extLst>
                <a:ext uri="{FF2B5EF4-FFF2-40B4-BE49-F238E27FC236}">
                  <a16:creationId xmlns:a16="http://schemas.microsoft.com/office/drawing/2014/main" id="{8B8FF2BD-5EB1-4B0B-17ED-BF6243E11A4C}"/>
                </a:ext>
              </a:extLst>
            </p:cNvPr>
            <p:cNvSpPr txBox="1"/>
            <p:nvPr/>
          </p:nvSpPr>
          <p:spPr>
            <a:xfrm>
              <a:off x="6823587" y="824680"/>
              <a:ext cx="2202426"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Climbing Height (%Diameter)</a:t>
              </a:r>
            </a:p>
          </p:txBody>
        </p:sp>
        <p:sp>
          <p:nvSpPr>
            <p:cNvPr id="19" name="TextBox 18">
              <a:extLst>
                <a:ext uri="{FF2B5EF4-FFF2-40B4-BE49-F238E27FC236}">
                  <a16:creationId xmlns:a16="http://schemas.microsoft.com/office/drawing/2014/main" id="{4C180A9B-84FB-C84E-D794-36DA6C015191}"/>
                </a:ext>
              </a:extLst>
            </p:cNvPr>
            <p:cNvSpPr txBox="1"/>
            <p:nvPr/>
          </p:nvSpPr>
          <p:spPr>
            <a:xfrm>
              <a:off x="6823587" y="3834273"/>
              <a:ext cx="261538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Wheel   </a:t>
              </a:r>
              <a:r>
                <a:rPr lang="en-IN" dirty="0" err="1">
                  <a:latin typeface="Times New Roman" panose="02020603050405020304" pitchFamily="18" charset="0"/>
                  <a:cs typeface="Times New Roman" panose="02020603050405020304" pitchFamily="18" charset="0"/>
                </a:rPr>
                <a:t>Wheg</a:t>
              </a:r>
              <a:r>
                <a:rPr lang="en-IN" dirty="0">
                  <a:latin typeface="Times New Roman" panose="02020603050405020304" pitchFamily="18" charset="0"/>
                  <a:cs typeface="Times New Roman" panose="02020603050405020304" pitchFamily="18" charset="0"/>
                </a:rPr>
                <a:t>   Hybrid</a:t>
              </a:r>
            </a:p>
          </p:txBody>
        </p:sp>
      </p:grpSp>
    </p:spTree>
    <p:extLst>
      <p:ext uri="{BB962C8B-B14F-4D97-AF65-F5344CB8AC3E}">
        <p14:creationId xmlns:p14="http://schemas.microsoft.com/office/powerpoint/2010/main" val="69584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5E001-9906-A8E8-2711-FF17F25C7A84}"/>
              </a:ext>
            </a:extLst>
          </p:cNvPr>
          <p:cNvSpPr>
            <a:spLocks noGrp="1"/>
          </p:cNvSpPr>
          <p:nvPr>
            <p:ph type="title"/>
          </p:nvPr>
        </p:nvSpPr>
        <p:spPr>
          <a:xfrm>
            <a:off x="677334" y="245806"/>
            <a:ext cx="8596668" cy="825910"/>
          </a:xfrm>
        </p:spPr>
        <p:txBody>
          <a:bodyPr/>
          <a:lstStyle/>
          <a:p>
            <a:pPr algn="ctr"/>
            <a:r>
              <a:rPr lang="en-IN" b="1" dirty="0">
                <a:solidFill>
                  <a:schemeClr val="tx1"/>
                </a:solidFill>
                <a:latin typeface="Times New Roman" panose="02020603050405020304" pitchFamily="18" charset="0"/>
                <a:ea typeface="EB Garamond"/>
                <a:cs typeface="Times New Roman" panose="02020603050405020304" pitchFamily="18" charset="0"/>
                <a:sym typeface="EB Garamond"/>
              </a:rPr>
              <a:t>DEFINE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086258-12A9-369D-8CCD-69862FD70689}"/>
              </a:ext>
            </a:extLst>
          </p:cNvPr>
          <p:cNvSpPr>
            <a:spLocks noGrp="1"/>
          </p:cNvSpPr>
          <p:nvPr>
            <p:ph idx="1"/>
          </p:nvPr>
        </p:nvSpPr>
        <p:spPr>
          <a:xfrm>
            <a:off x="677334" y="1071716"/>
            <a:ext cx="8596668" cy="542249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1. What is the problem?</a:t>
            </a:r>
          </a:p>
          <a:p>
            <a:pPr marL="0" indent="0" algn="just">
              <a:buNone/>
            </a:pPr>
            <a:r>
              <a:rPr lang="en-US" dirty="0">
                <a:latin typeface="Times New Roman" panose="02020603050405020304" pitchFamily="18" charset="0"/>
                <a:cs typeface="Times New Roman" panose="02020603050405020304" pitchFamily="18" charset="0"/>
              </a:rPr>
              <a:t>Traditional robot wheels cannot climb stairs or large obstacles.							</a:t>
            </a:r>
          </a:p>
          <a:p>
            <a:pPr marL="0" indent="0" algn="just">
              <a:buNone/>
            </a:pPr>
            <a:r>
              <a:rPr lang="en-US" dirty="0">
                <a:latin typeface="Times New Roman" panose="02020603050405020304" pitchFamily="18" charset="0"/>
                <a:cs typeface="Times New Roman" panose="02020603050405020304" pitchFamily="18" charset="0"/>
              </a:rPr>
              <a:t>2. Where does the problem occur?</a:t>
            </a:r>
          </a:p>
          <a:p>
            <a:pPr marL="0" indent="0" algn="just">
              <a:buNone/>
            </a:pPr>
            <a:r>
              <a:rPr lang="en-US" dirty="0">
                <a:latin typeface="Times New Roman" panose="02020603050405020304" pitchFamily="18" charset="0"/>
                <a:cs typeface="Times New Roman" panose="02020603050405020304" pitchFamily="18" charset="0"/>
              </a:rPr>
              <a:t>In rough terrains, disaster zones, uneven surfaces, and staircases.							</a:t>
            </a:r>
          </a:p>
          <a:p>
            <a:pPr marL="0" indent="0" algn="just">
              <a:buNone/>
            </a:pPr>
            <a:r>
              <a:rPr lang="en-US" dirty="0">
                <a:latin typeface="Times New Roman" panose="02020603050405020304" pitchFamily="18" charset="0"/>
                <a:cs typeface="Times New Roman" panose="02020603050405020304" pitchFamily="18" charset="0"/>
              </a:rPr>
              <a:t>3. Why does it happen?</a:t>
            </a:r>
          </a:p>
          <a:p>
            <a:pPr marL="0" indent="0" algn="just">
              <a:buNone/>
            </a:pPr>
            <a:r>
              <a:rPr lang="en-US" dirty="0">
                <a:latin typeface="Times New Roman" panose="02020603050405020304" pitchFamily="18" charset="0"/>
                <a:cs typeface="Times New Roman" panose="02020603050405020304" pitchFamily="18" charset="0"/>
              </a:rPr>
              <a:t>Normal wheels do not have enough grip or adaptability.								</a:t>
            </a:r>
          </a:p>
          <a:p>
            <a:pPr marL="0" indent="0" algn="just">
              <a:buNone/>
            </a:pPr>
            <a:r>
              <a:rPr lang="en-US" dirty="0">
                <a:latin typeface="Times New Roman" panose="02020603050405020304" pitchFamily="18" charset="0"/>
                <a:cs typeface="Times New Roman" panose="02020603050405020304" pitchFamily="18" charset="0"/>
              </a:rPr>
              <a:t>4. Who is affected?</a:t>
            </a:r>
          </a:p>
          <a:p>
            <a:pPr marL="0" indent="0" algn="just">
              <a:buNone/>
            </a:pPr>
            <a:r>
              <a:rPr lang="en-US" dirty="0">
                <a:latin typeface="Times New Roman" panose="02020603050405020304" pitchFamily="18" charset="0"/>
                <a:cs typeface="Times New Roman" panose="02020603050405020304" pitchFamily="18" charset="0"/>
              </a:rPr>
              <a:t>Robots used in rescue operations, military surveillance, and exploration.					</a:t>
            </a:r>
          </a:p>
          <a:p>
            <a:pPr marL="0" indent="0" algn="just">
              <a:buNone/>
            </a:pPr>
            <a:r>
              <a:rPr lang="en-US" dirty="0">
                <a:latin typeface="Times New Roman" panose="02020603050405020304" pitchFamily="18" charset="0"/>
                <a:cs typeface="Times New Roman" panose="02020603050405020304" pitchFamily="18" charset="0"/>
              </a:rPr>
              <a:t>5. What is the solution?</a:t>
            </a:r>
          </a:p>
          <a:p>
            <a:pPr marL="0" indent="0" algn="just">
              <a:buNone/>
            </a:pPr>
            <a:r>
              <a:rPr lang="en-US" dirty="0">
                <a:latin typeface="Times New Roman" panose="02020603050405020304" pitchFamily="18" charset="0"/>
                <a:cs typeface="Times New Roman" panose="02020603050405020304" pitchFamily="18" charset="0"/>
              </a:rPr>
              <a:t>Designing a reinvented wheel with expandable or claw-like structures.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999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9FC0D-AA86-96A1-0581-791CC07F145E}"/>
              </a:ext>
            </a:extLst>
          </p:cNvPr>
          <p:cNvSpPr>
            <a:spLocks noGrp="1"/>
          </p:cNvSpPr>
          <p:nvPr>
            <p:ph type="title"/>
          </p:nvPr>
        </p:nvSpPr>
        <p:spPr>
          <a:xfrm>
            <a:off x="677334" y="609600"/>
            <a:ext cx="8596668" cy="806245"/>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IDEATION</a:t>
            </a:r>
            <a:br>
              <a:rPr lang="en-IN" dirty="0">
                <a:solidFill>
                  <a:schemeClr val="tx1"/>
                </a:solidFill>
              </a:rPr>
            </a:br>
            <a:endParaRPr lang="en-IN" dirty="0">
              <a:solidFill>
                <a:schemeClr val="tx1"/>
              </a:solidFill>
            </a:endParaRPr>
          </a:p>
        </p:txBody>
      </p:sp>
      <p:sp>
        <p:nvSpPr>
          <p:cNvPr id="3" name="Content Placeholder 2">
            <a:extLst>
              <a:ext uri="{FF2B5EF4-FFF2-40B4-BE49-F238E27FC236}">
                <a16:creationId xmlns:a16="http://schemas.microsoft.com/office/drawing/2014/main" id="{E5410AC4-E76B-16FA-8C92-08B2651960A2}"/>
              </a:ext>
            </a:extLst>
          </p:cNvPr>
          <p:cNvSpPr>
            <a:spLocks noGrp="1"/>
          </p:cNvSpPr>
          <p:nvPr>
            <p:ph idx="1"/>
          </p:nvPr>
        </p:nvSpPr>
        <p:spPr>
          <a:xfrm>
            <a:off x="1031295" y="2379407"/>
            <a:ext cx="3275234" cy="2497394"/>
          </a:xfrm>
        </p:spPr>
        <p:txBody>
          <a:bodyPr>
            <a:normAutofit/>
          </a:bodyPr>
          <a:lstStyle/>
          <a:p>
            <a:pPr>
              <a:lnSpc>
                <a:spcPct val="150000"/>
              </a:lnSpc>
              <a:buClrTx/>
              <a:buSzPct val="110000"/>
              <a:buFont typeface="Wingdings" panose="05000000000000000000" pitchFamily="2" charset="2"/>
              <a:buChar char="q"/>
            </a:pPr>
            <a:r>
              <a:rPr lang="en-US" sz="2200" dirty="0">
                <a:solidFill>
                  <a:schemeClr val="tx1"/>
                </a:solidFill>
                <a:latin typeface="Times New Roman" panose="02020603050405020304" pitchFamily="18" charset="0"/>
                <a:cs typeface="Times New Roman" panose="02020603050405020304" pitchFamily="18" charset="0"/>
              </a:rPr>
              <a:t>BRAIN WRITING</a:t>
            </a:r>
          </a:p>
          <a:p>
            <a:pPr>
              <a:lnSpc>
                <a:spcPct val="150000"/>
              </a:lnSpc>
              <a:buClrTx/>
              <a:buSzPct val="110000"/>
              <a:buFont typeface="Wingdings" panose="05000000000000000000" pitchFamily="2" charset="2"/>
              <a:buChar char="q"/>
            </a:pPr>
            <a:r>
              <a:rPr lang="en-US" sz="2200" dirty="0">
                <a:solidFill>
                  <a:schemeClr val="tx1"/>
                </a:solidFill>
                <a:latin typeface="Times New Roman" panose="02020603050405020304" pitchFamily="18" charset="0"/>
                <a:cs typeface="Times New Roman" panose="02020603050405020304" pitchFamily="18" charset="0"/>
              </a:rPr>
              <a:t>BRAIN STORMING</a:t>
            </a:r>
          </a:p>
          <a:p>
            <a:pPr>
              <a:lnSpc>
                <a:spcPct val="150000"/>
              </a:lnSpc>
              <a:buClrTx/>
              <a:buSzPct val="110000"/>
              <a:buFont typeface="Wingdings" panose="05000000000000000000" pitchFamily="2" charset="2"/>
              <a:buChar char="q"/>
            </a:pPr>
            <a:r>
              <a:rPr lang="en-US" sz="2200" dirty="0">
                <a:solidFill>
                  <a:schemeClr val="tx1"/>
                </a:solidFill>
                <a:latin typeface="Times New Roman" panose="02020603050405020304" pitchFamily="18" charset="0"/>
                <a:cs typeface="Times New Roman" panose="02020603050405020304" pitchFamily="18" charset="0"/>
              </a:rPr>
              <a:t>DOT VOTING</a:t>
            </a:r>
          </a:p>
          <a:p>
            <a:pPr marL="0" indent="0">
              <a:buClrTx/>
              <a:buSzPct val="90000"/>
              <a:buNone/>
            </a:pPr>
            <a:endParaRPr lang="en-IN" dirty="0">
              <a:solidFill>
                <a:schemeClr val="tx1"/>
              </a:solidFill>
              <a:latin typeface="Times New Roman" panose="02020603050405020304" pitchFamily="18" charset="0"/>
              <a:cs typeface="Times New Roman" panose="02020603050405020304" pitchFamily="18" charset="0"/>
            </a:endParaRPr>
          </a:p>
        </p:txBody>
      </p:sp>
      <p:pic>
        <p:nvPicPr>
          <p:cNvPr id="5" name="Google Shape;295;g1fd66114a7814a48_30">
            <a:extLst>
              <a:ext uri="{FF2B5EF4-FFF2-40B4-BE49-F238E27FC236}">
                <a16:creationId xmlns:a16="http://schemas.microsoft.com/office/drawing/2014/main" id="{2AE52804-9B78-DC07-FE02-3AA8D071D6A9}"/>
              </a:ext>
            </a:extLst>
          </p:cNvPr>
          <p:cNvPicPr preferRelativeResize="0"/>
          <p:nvPr/>
        </p:nvPicPr>
        <p:blipFill>
          <a:blip r:embed="rId2">
            <a:alphaModFix/>
          </a:blip>
          <a:stretch>
            <a:fillRect/>
          </a:stretch>
        </p:blipFill>
        <p:spPr>
          <a:xfrm>
            <a:off x="4380376" y="1561382"/>
            <a:ext cx="5166746" cy="3977516"/>
          </a:xfrm>
          <a:prstGeom prst="rect">
            <a:avLst/>
          </a:prstGeom>
          <a:noFill/>
          <a:ln>
            <a:solidFill>
              <a:schemeClr val="bg1"/>
            </a:solidFill>
          </a:ln>
        </p:spPr>
      </p:pic>
    </p:spTree>
    <p:extLst>
      <p:ext uri="{BB962C8B-B14F-4D97-AF65-F5344CB8AC3E}">
        <p14:creationId xmlns:p14="http://schemas.microsoft.com/office/powerpoint/2010/main" val="962855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6AF095A-6116-559B-08B5-57C67295FA7A}"/>
              </a:ext>
            </a:extLst>
          </p:cNvPr>
          <p:cNvSpPr txBox="1"/>
          <p:nvPr/>
        </p:nvSpPr>
        <p:spPr>
          <a:xfrm>
            <a:off x="1935192" y="624699"/>
            <a:ext cx="5948516"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BRAIN STORMING</a:t>
            </a:r>
          </a:p>
        </p:txBody>
      </p:sp>
      <p:pic>
        <p:nvPicPr>
          <p:cNvPr id="9" name="Picture 8">
            <a:extLst>
              <a:ext uri="{FF2B5EF4-FFF2-40B4-BE49-F238E27FC236}">
                <a16:creationId xmlns:a16="http://schemas.microsoft.com/office/drawing/2014/main" id="{ACC542A5-2B92-1BD4-E7FD-2139A463CE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8723" y="1271030"/>
            <a:ext cx="4661453" cy="2640920"/>
          </a:xfrm>
          <a:prstGeom prst="rect">
            <a:avLst/>
          </a:prstGeom>
        </p:spPr>
      </p:pic>
      <p:sp>
        <p:nvSpPr>
          <p:cNvPr id="11" name="TextBox 10">
            <a:extLst>
              <a:ext uri="{FF2B5EF4-FFF2-40B4-BE49-F238E27FC236}">
                <a16:creationId xmlns:a16="http://schemas.microsoft.com/office/drawing/2014/main" id="{04953E88-BE60-189F-FE33-C8AB0D755633}"/>
              </a:ext>
            </a:extLst>
          </p:cNvPr>
          <p:cNvSpPr txBox="1"/>
          <p:nvPr/>
        </p:nvSpPr>
        <p:spPr>
          <a:xfrm>
            <a:off x="569178" y="4075331"/>
            <a:ext cx="9163665"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Brainstorming is a group problem-solving technique that involves sharing creative ideas from all members of the team.</a:t>
            </a:r>
          </a:p>
          <a:p>
            <a:pPr algn="just"/>
            <a:r>
              <a:rPr lang="en-US" dirty="0">
                <a:latin typeface="Times New Roman" panose="02020603050405020304" pitchFamily="18" charset="0"/>
                <a:cs typeface="Times New Roman" panose="02020603050405020304" pitchFamily="18" charset="0"/>
              </a:rPr>
              <a:t>In this project, brainstorming helps generate solutions for improving robot wheels so they can climb stairs, move over rocks, and travel smoothly on uneven surfaces.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7250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7686-DDFE-A2A6-015B-CBF87584D428}"/>
              </a:ext>
            </a:extLst>
          </p:cNvPr>
          <p:cNvSpPr>
            <a:spLocks noGrp="1"/>
          </p:cNvSpPr>
          <p:nvPr>
            <p:ph type="title"/>
          </p:nvPr>
        </p:nvSpPr>
        <p:spPr>
          <a:xfrm>
            <a:off x="794228" y="2850898"/>
            <a:ext cx="8596668" cy="747252"/>
          </a:xfrm>
        </p:spPr>
        <p:txBody>
          <a:bodyPr anchor="ctr"/>
          <a:lstStyle/>
          <a:p>
            <a:pPr algn="ctr"/>
            <a:r>
              <a:rPr lang="en-IN" b="1" dirty="0">
                <a:solidFill>
                  <a:schemeClr val="tx1"/>
                </a:solidFill>
                <a:latin typeface="Times New Roman" panose="02020603050405020304" pitchFamily="18" charset="0"/>
                <a:cs typeface="Times New Roman" panose="02020603050405020304" pitchFamily="18" charset="0"/>
              </a:rPr>
              <a:t>DOT VOTING </a:t>
            </a:r>
          </a:p>
        </p:txBody>
      </p:sp>
      <p:sp>
        <p:nvSpPr>
          <p:cNvPr id="3" name="Content Placeholder 2">
            <a:extLst>
              <a:ext uri="{FF2B5EF4-FFF2-40B4-BE49-F238E27FC236}">
                <a16:creationId xmlns:a16="http://schemas.microsoft.com/office/drawing/2014/main" id="{82E2917C-6EFB-D8CE-ADF3-D29E2842F53E}"/>
              </a:ext>
            </a:extLst>
          </p:cNvPr>
          <p:cNvSpPr>
            <a:spLocks noGrp="1"/>
          </p:cNvSpPr>
          <p:nvPr>
            <p:ph idx="1"/>
          </p:nvPr>
        </p:nvSpPr>
        <p:spPr>
          <a:xfrm>
            <a:off x="1298321" y="1503122"/>
            <a:ext cx="7588482" cy="1721403"/>
          </a:xfrm>
        </p:spPr>
        <p:txBody>
          <a:bodyPr>
            <a:normAutofit lnSpcReduction="10000"/>
          </a:bodyPr>
          <a:lstStyle/>
          <a:p>
            <a:pPr marL="0" indent="0" algn="just">
              <a:spcBef>
                <a:spcPts val="0"/>
              </a:spcBef>
              <a:buNone/>
            </a:pPr>
            <a:r>
              <a:rPr lang="en-US" dirty="0">
                <a:latin typeface="Times New Roman" panose="02020603050405020304" pitchFamily="18" charset="0"/>
                <a:cs typeface="Times New Roman" panose="02020603050405020304" pitchFamily="18" charset="0"/>
              </a:rPr>
              <a:t>	Brainwriting is an idea generation technique where team members write down their ideas to solve a problem without discussion. </a:t>
            </a:r>
          </a:p>
          <a:p>
            <a:pPr marL="0" indent="0" algn="just">
              <a:spcBef>
                <a:spcPts val="0"/>
              </a:spcBef>
              <a:buNone/>
            </a:pPr>
            <a:r>
              <a:rPr lang="en-US" dirty="0">
                <a:latin typeface="Times New Roman" panose="02020603050405020304" pitchFamily="18" charset="0"/>
                <a:cs typeface="Times New Roman" panose="02020603050405020304" pitchFamily="18" charset="0"/>
              </a:rPr>
              <a:t>For this project, participants suggest different ideas to improve robot movement on rough terrain and obstacles. These written ideas help in developing an innovative solution such as a reinvented or transformable wheel mechanism for better mobility.</a:t>
            </a:r>
            <a:endParaRPr lang="en-IN"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5AF3A785-C147-8F24-0310-3CC29ADF6F89}"/>
              </a:ext>
            </a:extLst>
          </p:cNvPr>
          <p:cNvSpPr txBox="1">
            <a:spLocks/>
          </p:cNvSpPr>
          <p:nvPr/>
        </p:nvSpPr>
        <p:spPr>
          <a:xfrm>
            <a:off x="946628" y="908270"/>
            <a:ext cx="8596668" cy="74725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b="1" dirty="0">
                <a:solidFill>
                  <a:schemeClr val="tx1"/>
                </a:solidFill>
                <a:latin typeface="Times New Roman" panose="02020603050405020304" pitchFamily="18" charset="0"/>
                <a:cs typeface="Times New Roman" panose="02020603050405020304" pitchFamily="18" charset="0"/>
              </a:rPr>
              <a:t>BRAIN  WRITING</a:t>
            </a:r>
          </a:p>
        </p:txBody>
      </p:sp>
      <p:sp>
        <p:nvSpPr>
          <p:cNvPr id="9" name="TextBox 8">
            <a:extLst>
              <a:ext uri="{FF2B5EF4-FFF2-40B4-BE49-F238E27FC236}">
                <a16:creationId xmlns:a16="http://schemas.microsoft.com/office/drawing/2014/main" id="{F6B7BFE8-45CC-D70C-2771-1E86C72C52A9}"/>
              </a:ext>
            </a:extLst>
          </p:cNvPr>
          <p:cNvSpPr txBox="1"/>
          <p:nvPr/>
        </p:nvSpPr>
        <p:spPr>
          <a:xfrm>
            <a:off x="1298321" y="3429000"/>
            <a:ext cx="7740882" cy="3098284"/>
          </a:xfrm>
          <a:prstGeom prst="rect">
            <a:avLst/>
          </a:prstGeom>
          <a:noFill/>
          <a:ln>
            <a:noFill/>
          </a:ln>
        </p:spPr>
        <p:txBody>
          <a:bodyPr wrap="square">
            <a:spAutoFit/>
          </a:bodyPr>
          <a:lstStyle/>
          <a:p>
            <a:pPr algn="just" rtl="0">
              <a:spcAft>
                <a:spcPts val="8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       After generating several ideas, we applied the Dot Voting method to prioritize the most effective solution. This method helped us select ideas based on team agreement and practical value. </a:t>
            </a:r>
            <a:r>
              <a:rPr lang="en-IN" dirty="0">
                <a:effectLst/>
                <a:latin typeface="Times New Roman" panose="02020603050405020304" pitchFamily="18" charset="0"/>
                <a:cs typeface="Times New Roman" panose="02020603050405020304" pitchFamily="18" charset="0"/>
              </a:rPr>
              <a:t>Our ideas are :- </a:t>
            </a:r>
          </a:p>
          <a:p>
            <a:pPr marL="342900" indent="-342900" algn="just" rtl="0">
              <a:spcAft>
                <a:spcPts val="800"/>
              </a:spcAft>
              <a:buFont typeface="+mj-lt"/>
              <a:buAutoNum type="arabicPeriod"/>
            </a:pPr>
            <a:r>
              <a:rPr lang="en-IN" dirty="0">
                <a:effectLst/>
                <a:latin typeface="Times New Roman" panose="02020603050405020304" pitchFamily="18" charset="0"/>
                <a:cs typeface="Times New Roman" panose="02020603050405020304" pitchFamily="18" charset="0"/>
              </a:rPr>
              <a:t>PATS Transformable Wheels            ✓ ✓ ✓ ✓ ✓ 
Shape-Morphing Robotic Wheels     ✓ ✓ ✓ 
Amphibious Transformable Wheel    ✓ ✓ 
Stair-Climbing Wheel Mechanism     ✓ ✓ ✓</a:t>
            </a:r>
          </a:p>
          <a:p>
            <a:pPr algn="just" rtl="0">
              <a:spcAft>
                <a:spcPts val="800"/>
              </a:spcAft>
            </a:pPr>
            <a:r>
              <a:rPr lang="en-IN" dirty="0">
                <a:effectLst/>
                <a:latin typeface="Times New Roman" panose="02020603050405020304" pitchFamily="18" charset="0"/>
                <a:cs typeface="Times New Roman" panose="02020603050405020304" pitchFamily="18" charset="0"/>
              </a:rPr>
              <a:t>By this dot voting we have decided that to select the project PATS Transformable wheels as </a:t>
            </a:r>
            <a:r>
              <a:rPr lang="en-IN">
                <a:effectLst/>
                <a:latin typeface="Times New Roman" panose="02020603050405020304" pitchFamily="18" charset="0"/>
                <a:cs typeface="Times New Roman" panose="02020603050405020304" pitchFamily="18" charset="0"/>
              </a:rPr>
              <a:t>our DTI project.</a:t>
            </a:r>
            <a:endParaRPr lang="en-IN"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7783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E87CD-AD1F-BFD0-422A-07CF6B0A4B81}"/>
              </a:ext>
            </a:extLst>
          </p:cNvPr>
          <p:cNvSpPr>
            <a:spLocks noGrp="1"/>
          </p:cNvSpPr>
          <p:nvPr>
            <p:ph type="title"/>
          </p:nvPr>
        </p:nvSpPr>
        <p:spPr>
          <a:xfrm>
            <a:off x="677334" y="304800"/>
            <a:ext cx="8596668" cy="845574"/>
          </a:xfrm>
        </p:spPr>
        <p:txBody>
          <a:bodyPr>
            <a:normAutofit fontScale="90000"/>
          </a:bodyPr>
          <a:lstStyle/>
          <a:p>
            <a:pPr algn="ctr"/>
            <a:r>
              <a:rPr lang="en-IN" b="1" dirty="0">
                <a:solidFill>
                  <a:schemeClr val="tx1"/>
                </a:solidFill>
                <a:latin typeface="Times New Roman" panose="02020603050405020304" pitchFamily="18" charset="0"/>
                <a:cs typeface="Times New Roman" panose="02020603050405020304" pitchFamily="18" charset="0"/>
              </a:rPr>
              <a:t>IDEATION</a:t>
            </a:r>
            <a:br>
              <a:rPr lang="en-IN" dirty="0">
                <a:solidFill>
                  <a:schemeClr val="tx1"/>
                </a:solidFill>
              </a:rPr>
            </a:br>
            <a:endParaRPr lang="en-IN" dirty="0">
              <a:solidFill>
                <a:schemeClr val="tx1"/>
              </a:solidFill>
            </a:endParaRPr>
          </a:p>
        </p:txBody>
      </p:sp>
      <p:sp>
        <p:nvSpPr>
          <p:cNvPr id="3" name="Content Placeholder 2">
            <a:extLst>
              <a:ext uri="{FF2B5EF4-FFF2-40B4-BE49-F238E27FC236}">
                <a16:creationId xmlns:a16="http://schemas.microsoft.com/office/drawing/2014/main" id="{B8BDD7CD-9363-4F53-0BFD-02FC1374F7E8}"/>
              </a:ext>
            </a:extLst>
          </p:cNvPr>
          <p:cNvSpPr>
            <a:spLocks noGrp="1"/>
          </p:cNvSpPr>
          <p:nvPr>
            <p:ph idx="1"/>
          </p:nvPr>
        </p:nvSpPr>
        <p:spPr>
          <a:xfrm>
            <a:off x="677334" y="1010215"/>
            <a:ext cx="8596668" cy="5542985"/>
          </a:xfrm>
        </p:spPr>
        <p:txBody>
          <a:bodyPr>
            <a:normAutofit fontScale="70000" lnSpcReduction="20000"/>
          </a:bodyPr>
          <a:lstStyle/>
          <a:p>
            <a:pPr marL="0" indent="0" algn="just">
              <a:lnSpc>
                <a:spcPct val="120000"/>
              </a:lnSpc>
              <a:buNone/>
            </a:pPr>
            <a:r>
              <a:rPr lang="en-IN" sz="3100" b="1" dirty="0">
                <a:latin typeface="Times New Roman" panose="02020603050405020304" pitchFamily="18" charset="0"/>
                <a:cs typeface="Times New Roman" panose="02020603050405020304" pitchFamily="18" charset="0"/>
              </a:rPr>
              <a:t>The Solution:</a:t>
            </a:r>
          </a:p>
          <a:p>
            <a:pPr marL="0" indent="0" algn="just">
              <a:lnSpc>
                <a:spcPct val="120000"/>
              </a:lnSpc>
              <a:buNone/>
            </a:pPr>
            <a:r>
              <a:rPr lang="en-US" sz="2900" b="1" dirty="0">
                <a:latin typeface="Times New Roman" panose="02020603050405020304" pitchFamily="18" charset="0"/>
                <a:cs typeface="Times New Roman" panose="02020603050405020304" pitchFamily="18" charset="0"/>
              </a:rPr>
              <a:t>Flexible Wheel Design: </a:t>
            </a:r>
            <a:r>
              <a:rPr lang="en-US" sz="2600" dirty="0">
                <a:latin typeface="Times New Roman" panose="02020603050405020304" pitchFamily="18" charset="0"/>
                <a:cs typeface="Times New Roman" panose="02020603050405020304" pitchFamily="18" charset="0"/>
              </a:rPr>
              <a:t>One of the initial ideas was to develop wheels using flexible materials that can slightly adjust their shape according to the terrain. This approach can improve movement on uneven surfaces, but it may not be sufficient for climbing obstacles like stairs.</a:t>
            </a:r>
          </a:p>
          <a:p>
            <a:pPr marL="0" indent="0" algn="just">
              <a:lnSpc>
                <a:spcPct val="120000"/>
              </a:lnSpc>
              <a:buNone/>
            </a:pPr>
            <a:r>
              <a:rPr lang="en-US" sz="2900" b="1" dirty="0">
                <a:latin typeface="Times New Roman" panose="02020603050405020304" pitchFamily="18" charset="0"/>
                <a:cs typeface="Times New Roman" panose="02020603050405020304" pitchFamily="18" charset="0"/>
              </a:rPr>
              <a:t>Advanced Suspension System: </a:t>
            </a:r>
            <a:r>
              <a:rPr lang="en-US" sz="2600" dirty="0">
                <a:latin typeface="Times New Roman" panose="02020603050405020304" pitchFamily="18" charset="0"/>
                <a:cs typeface="Times New Roman" panose="02020603050405020304" pitchFamily="18" charset="0"/>
              </a:rPr>
              <a:t>Another solution was to improve the suspension system of the vehicle so that it can absorb shocks and maintain stability on rough roads. While this helps in comfort and smooth movement, it does not fully solve the problem of mobility on extreme terrains.</a:t>
            </a:r>
          </a:p>
          <a:p>
            <a:pPr marL="0" indent="0" algn="just">
              <a:lnSpc>
                <a:spcPct val="120000"/>
              </a:lnSpc>
              <a:buNone/>
            </a:pPr>
            <a:r>
              <a:rPr lang="en-US" sz="2900" b="1" dirty="0">
                <a:latin typeface="Times New Roman" panose="02020603050405020304" pitchFamily="18" charset="0"/>
                <a:cs typeface="Times New Roman" panose="02020603050405020304" pitchFamily="18" charset="0"/>
              </a:rPr>
              <a:t>Multi-Wheel Mechanism: </a:t>
            </a:r>
            <a:r>
              <a:rPr lang="en-US" sz="2600" dirty="0">
                <a:latin typeface="Times New Roman" panose="02020603050405020304" pitchFamily="18" charset="0"/>
                <a:cs typeface="Times New Roman" panose="02020603050405020304" pitchFamily="18" charset="0"/>
              </a:rPr>
              <a:t>The team also considered using multiple wheels arranged in a special configuration to assist in climbing obstacles. This method can improve support, but it increases the complexity and cost of the system.</a:t>
            </a:r>
          </a:p>
          <a:p>
            <a:pPr marL="0" indent="0" algn="just">
              <a:lnSpc>
                <a:spcPct val="120000"/>
              </a:lnSpc>
              <a:buNone/>
            </a:pPr>
            <a:r>
              <a:rPr lang="en-US" sz="2900" b="1" dirty="0">
                <a:latin typeface="Times New Roman" panose="02020603050405020304" pitchFamily="18" charset="0"/>
                <a:cs typeface="Times New Roman" panose="02020603050405020304" pitchFamily="18" charset="0"/>
              </a:rPr>
              <a:t>Mechanical Transformation System: </a:t>
            </a:r>
            <a:r>
              <a:rPr lang="en-US" sz="2600" dirty="0">
                <a:latin typeface="Times New Roman" panose="02020603050405020304" pitchFamily="18" charset="0"/>
                <a:cs typeface="Times New Roman" panose="02020603050405020304" pitchFamily="18" charset="0"/>
              </a:rPr>
              <a:t>A more innovative idea was to design a mechanism that allows the wheel to physically change its structure based on the terrain. This concept provides better adaptability and opens the possibility for multi-terrain movement.</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283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91E5-0C20-0C04-87AC-566171F8D016}"/>
              </a:ext>
            </a:extLst>
          </p:cNvPr>
          <p:cNvSpPr>
            <a:spLocks noGrp="1"/>
          </p:cNvSpPr>
          <p:nvPr>
            <p:ph type="title"/>
          </p:nvPr>
        </p:nvSpPr>
        <p:spPr>
          <a:xfrm>
            <a:off x="677334" y="609600"/>
            <a:ext cx="8596668" cy="1002890"/>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Proposed Solution</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50D8C7-DDDA-F39E-C502-7F0B8E528506}"/>
              </a:ext>
            </a:extLst>
          </p:cNvPr>
          <p:cNvSpPr>
            <a:spLocks noGrp="1"/>
          </p:cNvSpPr>
          <p:nvPr>
            <p:ph idx="1"/>
          </p:nvPr>
        </p:nvSpPr>
        <p:spPr>
          <a:xfrm>
            <a:off x="677334" y="1488614"/>
            <a:ext cx="8596668" cy="1608548"/>
          </a:xfrm>
        </p:spPr>
        <p:txBody>
          <a:bodyPr/>
          <a:lstStyle/>
          <a:p>
            <a:pPr marL="0" indent="0" algn="just">
              <a:buNone/>
            </a:pPr>
            <a:r>
              <a:rPr lang="en-US" dirty="0">
                <a:latin typeface="Times New Roman" panose="02020603050405020304" pitchFamily="18" charset="0"/>
                <a:cs typeface="Times New Roman" panose="02020603050405020304" pitchFamily="18" charset="0"/>
              </a:rPr>
              <a:t>After evaluating all ideas, the best solution selected was the PATS transformable wheel. This wheel can change from a circular shape for normal roads to a triangular shape for climbing stairs and rough surfaces. This solution provides better grip, stability, and efficiency, making it highly suitable for real-world applications.</a:t>
            </a:r>
          </a:p>
          <a:p>
            <a:pPr marL="0" indent="0">
              <a:buNone/>
            </a:pPr>
            <a:endParaRPr lang="en-IN" dirty="0"/>
          </a:p>
        </p:txBody>
      </p:sp>
      <p:pic>
        <p:nvPicPr>
          <p:cNvPr id="1026" name="Picture 2" descr="PaTS-Wheel: A Passively-Transformable ...">
            <a:extLst>
              <a:ext uri="{FF2B5EF4-FFF2-40B4-BE49-F238E27FC236}">
                <a16:creationId xmlns:a16="http://schemas.microsoft.com/office/drawing/2014/main" id="{ABD68B53-4B23-6D9E-2088-CF3550B24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167" y="3097162"/>
            <a:ext cx="5279001" cy="2997251"/>
          </a:xfrm>
          <a:prstGeom prst="rect">
            <a:avLst/>
          </a:prstGeom>
          <a:noFill/>
          <a:ln w="3175">
            <a:solidFill>
              <a:srgbClr val="FFFFFF"/>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826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53FF6-D52B-2B5E-C049-474130112370}"/>
              </a:ext>
            </a:extLst>
          </p:cNvPr>
          <p:cNvSpPr>
            <a:spLocks noGrp="1"/>
          </p:cNvSpPr>
          <p:nvPr>
            <p:ph type="title"/>
          </p:nvPr>
        </p:nvSpPr>
        <p:spPr>
          <a:xfrm>
            <a:off x="696999" y="1324411"/>
            <a:ext cx="8596668" cy="884903"/>
          </a:xfrm>
        </p:spPr>
        <p:txBody>
          <a:bodyPr/>
          <a:lstStyle/>
          <a:p>
            <a:pPr algn="ctr"/>
            <a:r>
              <a:rPr lang="en-IN" b="1" u="sng" dirty="0">
                <a:solidFill>
                  <a:schemeClr val="tx1"/>
                </a:solidFill>
                <a:latin typeface="Times New Roman" panose="02020603050405020304" pitchFamily="18" charset="0"/>
                <a:cs typeface="Times New Roman" panose="02020603050405020304" pitchFamily="18" charset="0"/>
              </a:rPr>
              <a:t>Required components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F2666E-281B-9A1B-7BAC-722728D50448}"/>
              </a:ext>
            </a:extLst>
          </p:cNvPr>
          <p:cNvSpPr>
            <a:spLocks noGrp="1"/>
          </p:cNvSpPr>
          <p:nvPr>
            <p:ph idx="1"/>
          </p:nvPr>
        </p:nvSpPr>
        <p:spPr>
          <a:xfrm>
            <a:off x="470856" y="2209314"/>
            <a:ext cx="8596668" cy="3211206"/>
          </a:xfrm>
        </p:spPr>
        <p:txBody>
          <a:bodyPr>
            <a:normAutofit/>
          </a:bodyPr>
          <a:lstStyle/>
          <a:p>
            <a:pPr lvl="5" algn="just">
              <a:lnSpc>
                <a:spcPct val="150000"/>
              </a:lnSpc>
              <a:buClr>
                <a:schemeClr val="tx1"/>
              </a:buClr>
              <a:buSzPct val="100000"/>
              <a:buFont typeface="Arial" panose="020B0604020202020204" pitchFamily="34" charset="0"/>
              <a:buChar char="•"/>
            </a:pPr>
            <a:r>
              <a:rPr lang="en-IN" sz="2400" dirty="0"/>
              <a:t>N20 Motors</a:t>
            </a:r>
          </a:p>
          <a:p>
            <a:pPr lvl="5" algn="just">
              <a:lnSpc>
                <a:spcPct val="150000"/>
              </a:lnSpc>
              <a:buClr>
                <a:schemeClr val="tx1"/>
              </a:buClr>
              <a:buSzPct val="100000"/>
              <a:buFont typeface="Arial" panose="020B0604020202020204" pitchFamily="34" charset="0"/>
              <a:buChar char="•"/>
            </a:pPr>
            <a:r>
              <a:rPr lang="en-IN" sz="2400" dirty="0"/>
              <a:t>Motor Driver or MOSFET</a:t>
            </a:r>
          </a:p>
          <a:p>
            <a:pPr lvl="5" algn="just">
              <a:lnSpc>
                <a:spcPct val="150000"/>
              </a:lnSpc>
              <a:buClr>
                <a:schemeClr val="tx1"/>
              </a:buClr>
              <a:buSzPct val="100000"/>
              <a:buFont typeface="Arial" panose="020B0604020202020204" pitchFamily="34" charset="0"/>
              <a:buChar char="•"/>
            </a:pPr>
            <a:r>
              <a:rPr lang="en-IN" sz="2400" dirty="0"/>
              <a:t>Battery </a:t>
            </a:r>
          </a:p>
          <a:p>
            <a:pPr lvl="5" algn="just">
              <a:lnSpc>
                <a:spcPct val="150000"/>
              </a:lnSpc>
              <a:buClr>
                <a:schemeClr val="tx1"/>
              </a:buClr>
              <a:buSzPct val="100000"/>
              <a:buFont typeface="Arial" panose="020B0604020202020204" pitchFamily="34" charset="0"/>
              <a:buChar char="•"/>
            </a:pPr>
            <a:r>
              <a:rPr lang="en-IN" sz="2400" dirty="0"/>
              <a:t>ESP32</a:t>
            </a:r>
          </a:p>
        </p:txBody>
      </p:sp>
    </p:spTree>
    <p:extLst>
      <p:ext uri="{BB962C8B-B14F-4D97-AF65-F5344CB8AC3E}">
        <p14:creationId xmlns:p14="http://schemas.microsoft.com/office/powerpoint/2010/main" val="3402402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ECAAE-3559-26FF-7E8D-C1E0A4AC4750}"/>
              </a:ext>
            </a:extLst>
          </p:cNvPr>
          <p:cNvSpPr>
            <a:spLocks noGrp="1"/>
          </p:cNvSpPr>
          <p:nvPr>
            <p:ph type="title"/>
          </p:nvPr>
        </p:nvSpPr>
        <p:spPr>
          <a:xfrm>
            <a:off x="677334" y="206476"/>
            <a:ext cx="8596668" cy="921725"/>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N20 MOTOR</a:t>
            </a:r>
          </a:p>
        </p:txBody>
      </p:sp>
      <p:sp>
        <p:nvSpPr>
          <p:cNvPr id="3" name="Content Placeholder 2">
            <a:extLst>
              <a:ext uri="{FF2B5EF4-FFF2-40B4-BE49-F238E27FC236}">
                <a16:creationId xmlns:a16="http://schemas.microsoft.com/office/drawing/2014/main" id="{7C0B3A3C-6651-CE07-6D7F-1C93FFA25F6C}"/>
              </a:ext>
            </a:extLst>
          </p:cNvPr>
          <p:cNvSpPr>
            <a:spLocks noGrp="1"/>
          </p:cNvSpPr>
          <p:nvPr>
            <p:ph idx="1"/>
          </p:nvPr>
        </p:nvSpPr>
        <p:spPr>
          <a:xfrm>
            <a:off x="677334" y="862731"/>
            <a:ext cx="5831621" cy="2322921"/>
          </a:xfrm>
        </p:spPr>
        <p:txBody>
          <a:bodyPr>
            <a:normAutofit fontScale="92500" lnSpcReduction="10000"/>
          </a:bodyPr>
          <a:lstStyle/>
          <a:p>
            <a:pPr algn="just">
              <a:buClr>
                <a:schemeClr val="tx1"/>
              </a:buClr>
              <a:buSzPct val="90000"/>
              <a:buFont typeface="Wingdings" panose="05000000000000000000" pitchFamily="2" charset="2"/>
              <a:buChar char="v"/>
            </a:pPr>
            <a:r>
              <a:rPr lang="en-IN" sz="2000" dirty="0">
                <a:solidFill>
                  <a:schemeClr val="tx1"/>
                </a:solidFill>
                <a:latin typeface="Times New Roman" panose="02020603050405020304" pitchFamily="18" charset="0"/>
                <a:cs typeface="Times New Roman" panose="02020603050405020304" pitchFamily="18" charset="0"/>
              </a:rPr>
              <a:t>Purpose: Provides controlled rotational motion to drive the wheel mechanism with high torque and low speed.</a:t>
            </a:r>
          </a:p>
          <a:p>
            <a:pPr algn="just">
              <a:buClr>
                <a:schemeClr val="tx1"/>
              </a:buClr>
              <a:buSzPct val="90000"/>
              <a:buFont typeface="Wingdings" panose="05000000000000000000" pitchFamily="2" charset="2"/>
              <a:buChar char="v"/>
            </a:pPr>
            <a:r>
              <a:rPr lang="en-IN" sz="2000" dirty="0">
                <a:solidFill>
                  <a:schemeClr val="tx1"/>
                </a:solidFill>
                <a:latin typeface="Times New Roman" panose="02020603050405020304" pitchFamily="18" charset="0"/>
                <a:cs typeface="Times New Roman" panose="02020603050405020304" pitchFamily="18" charset="0"/>
              </a:rPr>
              <a:t>The N20 DC gear motor is used to rotate the expandable wheel. Its high torque helps the robot climb obstacles and move on rough terrains effectively, making it more suitable than a normal DC motor.</a:t>
            </a:r>
            <a:endParaRPr lang="en-US" sz="2000" dirty="0">
              <a:solidFill>
                <a:schemeClr val="tx1"/>
              </a:solidFill>
              <a:latin typeface="Times New Roman" panose="02020603050405020304" pitchFamily="18" charset="0"/>
              <a:cs typeface="Times New Roman" panose="02020603050405020304" pitchFamily="18" charset="0"/>
            </a:endParaRPr>
          </a:p>
          <a:p>
            <a:pPr marL="0" indent="0" algn="just">
              <a:buClr>
                <a:schemeClr val="tx1"/>
              </a:buClr>
              <a:buSzPct val="90000"/>
              <a:buNone/>
            </a:pPr>
            <a:endParaRPr lang="en-IN" dirty="0">
              <a:solidFill>
                <a:schemeClr val="tx1"/>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169D9166-0AA3-AF13-463B-86FEFFED5A13}"/>
              </a:ext>
            </a:extLst>
          </p:cNvPr>
          <p:cNvSpPr txBox="1">
            <a:spLocks/>
          </p:cNvSpPr>
          <p:nvPr/>
        </p:nvSpPr>
        <p:spPr>
          <a:xfrm>
            <a:off x="677334" y="3185652"/>
            <a:ext cx="8596668" cy="90456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latin typeface="Times New Roman" panose="02020603050405020304" pitchFamily="18" charset="0"/>
                <a:cs typeface="Times New Roman" panose="02020603050405020304" pitchFamily="18" charset="0"/>
              </a:rPr>
              <a:t>Motor Driver</a:t>
            </a:r>
          </a:p>
        </p:txBody>
      </p:sp>
      <p:sp>
        <p:nvSpPr>
          <p:cNvPr id="8" name="Content Placeholder 2">
            <a:extLst>
              <a:ext uri="{FF2B5EF4-FFF2-40B4-BE49-F238E27FC236}">
                <a16:creationId xmlns:a16="http://schemas.microsoft.com/office/drawing/2014/main" id="{C19FB7EC-51AB-9E64-448F-3C60435FEF3C}"/>
              </a:ext>
            </a:extLst>
          </p:cNvPr>
          <p:cNvSpPr txBox="1">
            <a:spLocks/>
          </p:cNvSpPr>
          <p:nvPr/>
        </p:nvSpPr>
        <p:spPr>
          <a:xfrm>
            <a:off x="512369" y="3841906"/>
            <a:ext cx="5831621" cy="314826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ClrTx/>
              <a:buSzPct val="900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motor driver is an essential power amplifier circuit that acts as an interface between a low-power microcontroller (like Arduino) and high-power motors, managing speed, direction, and braking.</a:t>
            </a:r>
          </a:p>
          <a:p>
            <a:pPr algn="just">
              <a:buClrTx/>
              <a:buSzPct val="900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Using an H-bridge configuration, it allows motors to rotate forward/backward and supports Pulse Width Modulation (PWM) for precise speed control. </a:t>
            </a:r>
          </a:p>
          <a:p>
            <a:pPr algn="just">
              <a:buClrTx/>
              <a:buSzPct val="900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Prevents motor burnout and protects microcontrollers from overcurrent.</a:t>
            </a:r>
            <a:endParaRPr lang="en-IN" dirty="0">
              <a:latin typeface="Times New Roman" panose="02020603050405020304" pitchFamily="18" charset="0"/>
              <a:cs typeface="Times New Roman" panose="02020603050405020304" pitchFamily="18" charset="0"/>
            </a:endParaRPr>
          </a:p>
        </p:txBody>
      </p:sp>
      <p:pic>
        <p:nvPicPr>
          <p:cNvPr id="9" name="Picture 8" descr="L298N Motor Driver Module – MAJESTRONICZ">
            <a:extLst>
              <a:ext uri="{FF2B5EF4-FFF2-40B4-BE49-F238E27FC236}">
                <a16:creationId xmlns:a16="http://schemas.microsoft.com/office/drawing/2014/main" id="{8B8F5F2A-B986-3297-73ED-DD0A17EA841F}"/>
              </a:ext>
            </a:extLst>
          </p:cNvPr>
          <p:cNvPicPr>
            <a:picLocks noChangeAspect="1"/>
          </p:cNvPicPr>
          <p:nvPr/>
        </p:nvPicPr>
        <p:blipFill>
          <a:blip r:embed="rId2"/>
          <a:srcRect l="8071" t="5174" r="6727" b="6878"/>
          <a:stretch>
            <a:fillRect/>
          </a:stretch>
        </p:blipFill>
        <p:spPr>
          <a:xfrm>
            <a:off x="6508955" y="3487084"/>
            <a:ext cx="2192593" cy="2530135"/>
          </a:xfrm>
          <a:prstGeom prst="rect">
            <a:avLst/>
          </a:prstGeom>
        </p:spPr>
      </p:pic>
      <p:pic>
        <p:nvPicPr>
          <p:cNvPr id="4" name="Picture 3">
            <a:extLst>
              <a:ext uri="{FF2B5EF4-FFF2-40B4-BE49-F238E27FC236}">
                <a16:creationId xmlns:a16="http://schemas.microsoft.com/office/drawing/2014/main" id="{40DF37A5-0F24-7763-2369-CF7BE5E2B619}"/>
              </a:ext>
            </a:extLst>
          </p:cNvPr>
          <p:cNvPicPr>
            <a:picLocks noChangeAspect="1"/>
          </p:cNvPicPr>
          <p:nvPr/>
        </p:nvPicPr>
        <p:blipFill>
          <a:blip r:embed="rId3">
            <a:extLst>
              <a:ext uri="{28A0092B-C50C-407E-A947-70E740481C1C}">
                <a14:useLocalDpi xmlns:a14="http://schemas.microsoft.com/office/drawing/2010/main" val="0"/>
              </a:ext>
            </a:extLst>
          </a:blip>
          <a:srcRect l="10531" t="25573" r="10230" b="13616"/>
          <a:stretch>
            <a:fillRect/>
          </a:stretch>
        </p:blipFill>
        <p:spPr>
          <a:xfrm>
            <a:off x="6804488" y="1209957"/>
            <a:ext cx="2469514" cy="1628467"/>
          </a:xfrm>
          <a:prstGeom prst="rect">
            <a:avLst/>
          </a:prstGeom>
        </p:spPr>
      </p:pic>
    </p:spTree>
    <p:extLst>
      <p:ext uri="{BB962C8B-B14F-4D97-AF65-F5344CB8AC3E}">
        <p14:creationId xmlns:p14="http://schemas.microsoft.com/office/powerpoint/2010/main" val="2628721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A9F0F43-DC5A-48D2-B53C-C79D2C64AED0}"/>
              </a:ext>
            </a:extLst>
          </p:cNvPr>
          <p:cNvSpPr>
            <a:spLocks noGrp="1"/>
          </p:cNvSpPr>
          <p:nvPr>
            <p:ph type="title"/>
          </p:nvPr>
        </p:nvSpPr>
        <p:spPr>
          <a:xfrm>
            <a:off x="383452" y="0"/>
            <a:ext cx="5584723" cy="816077"/>
          </a:xfrm>
        </p:spPr>
        <p:txBody>
          <a:bodyPr/>
          <a:lstStyle/>
          <a:p>
            <a:r>
              <a:rPr lang="en-IN" b="1" dirty="0">
                <a:solidFill>
                  <a:schemeClr val="tx1"/>
                </a:solidFill>
                <a:latin typeface="Times New Roman" panose="02020603050405020304" pitchFamily="18" charset="0"/>
                <a:cs typeface="Times New Roman" panose="02020603050405020304" pitchFamily="18" charset="0"/>
              </a:rPr>
              <a:t>Lithium Ion Battery</a:t>
            </a:r>
          </a:p>
        </p:txBody>
      </p:sp>
      <p:pic>
        <p:nvPicPr>
          <p:cNvPr id="11" name="Picture 10">
            <a:extLst>
              <a:ext uri="{FF2B5EF4-FFF2-40B4-BE49-F238E27FC236}">
                <a16:creationId xmlns:a16="http://schemas.microsoft.com/office/drawing/2014/main" id="{EBB40AEA-F4FC-12D5-FA1A-C2529CABD2F8}"/>
              </a:ext>
            </a:extLst>
          </p:cNvPr>
          <p:cNvPicPr>
            <a:picLocks noChangeAspect="1"/>
          </p:cNvPicPr>
          <p:nvPr/>
        </p:nvPicPr>
        <p:blipFill>
          <a:blip r:embed="rId3">
            <a:extLst>
              <a:ext uri="{28A0092B-C50C-407E-A947-70E740481C1C}">
                <a14:useLocalDpi xmlns:a14="http://schemas.microsoft.com/office/drawing/2010/main" val="0"/>
              </a:ext>
            </a:extLst>
          </a:blip>
          <a:srcRect l="27402" r="27296"/>
          <a:stretch>
            <a:fillRect/>
          </a:stretch>
        </p:blipFill>
        <p:spPr>
          <a:xfrm>
            <a:off x="7599870" y="493190"/>
            <a:ext cx="1722380" cy="2969471"/>
          </a:xfrm>
          <a:prstGeom prst="rect">
            <a:avLst/>
          </a:prstGeom>
        </p:spPr>
      </p:pic>
      <p:sp>
        <p:nvSpPr>
          <p:cNvPr id="12" name="Content Placeholder 2">
            <a:extLst>
              <a:ext uri="{FF2B5EF4-FFF2-40B4-BE49-F238E27FC236}">
                <a16:creationId xmlns:a16="http://schemas.microsoft.com/office/drawing/2014/main" id="{7F9AA229-5A9F-8828-653C-6E21B35142BF}"/>
              </a:ext>
            </a:extLst>
          </p:cNvPr>
          <p:cNvSpPr>
            <a:spLocks noGrp="1"/>
          </p:cNvSpPr>
          <p:nvPr>
            <p:ph idx="1"/>
          </p:nvPr>
        </p:nvSpPr>
        <p:spPr>
          <a:xfrm>
            <a:off x="383452" y="737564"/>
            <a:ext cx="7109233" cy="3293806"/>
          </a:xfrm>
        </p:spPr>
        <p:txBody>
          <a:bodyPr/>
          <a:lstStyle/>
          <a:p>
            <a:pPr algn="just">
              <a:buClr>
                <a:schemeClr val="tx1"/>
              </a:buClr>
              <a:buSzPct val="900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Lithium-ion (Li-ion) batteries are rechargeable energy storage devices utilizing lithium ions moving between cathodes and anodes to generate electrical energy, commonly used in electronics and electric vehicles.</a:t>
            </a:r>
          </a:p>
          <a:p>
            <a:pPr algn="just">
              <a:buClr>
                <a:schemeClr val="tx1"/>
              </a:buClr>
              <a:buSzPct val="900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They offer high energy density, low weight, and no memory effect but face limitations regarding cost, thermal runaway risks, and sensitivity to degradation.</a:t>
            </a:r>
          </a:p>
          <a:p>
            <a:pPr algn="just">
              <a:buClr>
                <a:schemeClr val="tx1"/>
              </a:buClr>
              <a:buSzPct val="90000"/>
              <a:buFont typeface="Wingdings" panose="05000000000000000000" pitchFamily="2" charset="2"/>
              <a:buChar char="v"/>
            </a:pPr>
            <a:r>
              <a:rPr lang="en-US" dirty="0">
                <a:solidFill>
                  <a:schemeClr val="tx1"/>
                </a:solidFill>
                <a:latin typeface="Times New Roman" panose="02020603050405020304" pitchFamily="18" charset="0"/>
                <a:cs typeface="Times New Roman" panose="02020603050405020304" pitchFamily="18" charset="0"/>
              </a:rPr>
              <a:t>During discharge, Lithium ions flow from the anode (usually graphite) to the cathode (metal oxide) through an electrolyte, while electrons move through an external circuit, generating electricity.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7D2E10A9-78A1-B223-10A8-40EAB778C420}"/>
              </a:ext>
            </a:extLst>
          </p:cNvPr>
          <p:cNvSpPr txBox="1">
            <a:spLocks/>
          </p:cNvSpPr>
          <p:nvPr/>
        </p:nvSpPr>
        <p:spPr>
          <a:xfrm>
            <a:off x="428111" y="3629954"/>
            <a:ext cx="8596668" cy="769663"/>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latin typeface="Times New Roman" panose="02020603050405020304" pitchFamily="18" charset="0"/>
                <a:cs typeface="Times New Roman" panose="02020603050405020304" pitchFamily="18" charset="0"/>
              </a:rPr>
              <a:t>ESP32 MODULE</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A12D20B9-5D85-6CFC-8484-F1F6158FA857}"/>
              </a:ext>
            </a:extLst>
          </p:cNvPr>
          <p:cNvSpPr txBox="1">
            <a:spLocks/>
          </p:cNvSpPr>
          <p:nvPr/>
        </p:nvSpPr>
        <p:spPr>
          <a:xfrm>
            <a:off x="383451" y="4102244"/>
            <a:ext cx="7109233" cy="32938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Clr>
                <a:schemeClr val="tx1"/>
              </a:buClr>
              <a:buSzPct val="90000"/>
              <a:buFont typeface="Wingdings" panose="05000000000000000000" pitchFamily="2" charset="2"/>
              <a:buChar char="v"/>
            </a:pPr>
            <a:endParaRPr lang="en-IN" dirty="0">
              <a:solidFill>
                <a:schemeClr val="tx1"/>
              </a:solidFill>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7B931BFF-1A4B-687E-0428-7F188D2B4EA3}"/>
              </a:ext>
            </a:extLst>
          </p:cNvPr>
          <p:cNvSpPr txBox="1">
            <a:spLocks/>
          </p:cNvSpPr>
          <p:nvPr/>
        </p:nvSpPr>
        <p:spPr>
          <a:xfrm>
            <a:off x="428111" y="4269537"/>
            <a:ext cx="7216419" cy="191006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Clr>
                <a:schemeClr val="tx1"/>
              </a:buClr>
              <a:buSzPct val="900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It has built-in Wi-Fi and Bluetooth connectivity.</a:t>
            </a:r>
          </a:p>
          <a:p>
            <a:pPr algn="just">
              <a:buClr>
                <a:schemeClr val="tx1"/>
              </a:buClr>
              <a:buSzPct val="90000"/>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ESP32 is widely used in IOT, robotics, automation, and smart projects.
 It supports multiple sensors, motors, and communication protocols.
 It is faster and more efficient compared to many basic microcontrollers.</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2A928F5C-6E9D-7DE5-B058-4047653891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8140" y="3429000"/>
            <a:ext cx="1565839" cy="2672275"/>
          </a:xfrm>
          <a:prstGeom prst="rect">
            <a:avLst/>
          </a:prstGeom>
        </p:spPr>
      </p:pic>
    </p:spTree>
    <p:extLst>
      <p:ext uri="{BB962C8B-B14F-4D97-AF65-F5344CB8AC3E}">
        <p14:creationId xmlns:p14="http://schemas.microsoft.com/office/powerpoint/2010/main" val="1791637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C5911-5A98-F641-A4E2-7E4E27A6F6A2}"/>
              </a:ext>
            </a:extLst>
          </p:cNvPr>
          <p:cNvSpPr>
            <a:spLocks noGrp="1"/>
          </p:cNvSpPr>
          <p:nvPr>
            <p:ph type="title"/>
          </p:nvPr>
        </p:nvSpPr>
        <p:spPr>
          <a:xfrm>
            <a:off x="677334" y="609600"/>
            <a:ext cx="8596668" cy="914400"/>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Conclusion</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97F71E4-2E6B-E7CB-D1A4-F83F59A98BAC}"/>
              </a:ext>
            </a:extLst>
          </p:cNvPr>
          <p:cNvSpPr>
            <a:spLocks noGrp="1"/>
          </p:cNvSpPr>
          <p:nvPr>
            <p:ph idx="1"/>
          </p:nvPr>
        </p:nvSpPr>
        <p:spPr>
          <a:xfrm>
            <a:off x="805153" y="1570654"/>
            <a:ext cx="8596668" cy="3880773"/>
          </a:xfrm>
        </p:spPr>
        <p:txBody>
          <a:bodyPr/>
          <a:lstStyle/>
          <a:p>
            <a:pPr marL="0" indent="0" algn="just">
              <a:lnSpc>
                <a:spcPct val="150000"/>
              </a:lnSpc>
              <a:buNone/>
            </a:pPr>
            <a:r>
              <a:rPr lang="en-US" dirty="0">
                <a:solidFill>
                  <a:schemeClr val="tx1"/>
                </a:solidFill>
                <a:latin typeface="Times New Roman" panose="02020603050405020304" pitchFamily="18" charset="0"/>
                <a:cs typeface="Times New Roman" panose="02020603050405020304" pitchFamily="18" charset="0"/>
              </a:rPr>
              <a:t>By "reinventing the wheel," this design successfully bridges the functional gap between high-speed efficiency on flat ground and high-torque traversal over rugged obstacles.​The core achievement lies in the geometric synergy between the base frame, the compression-spring-loaded linkages, and the transformable outer rim. Unlike traditional designs that require active motors to change shape, the PATS wheel utilizes passive energy storage. When the wheel encounters an obstacle, the impact force triggers a bistable snapping mechanism, instantly deploying claws that allow the robot to scale heights up to 70% of its own diameter. This project proves that through clever engineering and simple physics, we can create machines that are more capable, durable, and energy-efficient than ever before.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3517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TotalTime>405</TotalTime>
  <Words>1972</Words>
  <Application>Microsoft Office PowerPoint</Application>
  <PresentationFormat>Widescreen</PresentationFormat>
  <Paragraphs>195</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Facet</vt:lpstr>
      <vt:lpstr>DESIGN THINKING AND PRODUCT INNOVATION</vt:lpstr>
      <vt:lpstr>“THE PATS TRANSFORMABLE WHEELS”</vt:lpstr>
      <vt:lpstr>CONTENTS </vt:lpstr>
      <vt:lpstr>What is design thinking and innovation? </vt:lpstr>
      <vt:lpstr>PowerPoint Presentation</vt:lpstr>
      <vt:lpstr>PROBLEM STATEMENT</vt:lpstr>
      <vt:lpstr>EMPATHY</vt:lpstr>
      <vt:lpstr>5 WHY’S </vt:lpstr>
      <vt:lpstr> INTERVIEW QUESTIONS</vt:lpstr>
      <vt:lpstr>PowerPoint Presentation</vt:lpstr>
      <vt:lpstr>PowerPoint Presentation</vt:lpstr>
      <vt:lpstr>User Journey</vt:lpstr>
      <vt:lpstr>PowerPoint Presentation</vt:lpstr>
      <vt:lpstr>UNDERSTANDING</vt:lpstr>
      <vt:lpstr>PowerPoint Presentation</vt:lpstr>
      <vt:lpstr>DEFINE</vt:lpstr>
      <vt:lpstr>IDEATION </vt:lpstr>
      <vt:lpstr>PowerPoint Presentation</vt:lpstr>
      <vt:lpstr>DOT VOTING </vt:lpstr>
      <vt:lpstr>IDEATION </vt:lpstr>
      <vt:lpstr>Proposed Solution </vt:lpstr>
      <vt:lpstr>Required components </vt:lpstr>
      <vt:lpstr>N20 MOTOR</vt:lpstr>
      <vt:lpstr>Lithium Ion Battery</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AND PRODUCT INNOVATION</dc:title>
  <dc:creator>BHOGAPURAPU VENNELA</dc:creator>
  <cp:lastModifiedBy>Rajesh Challa</cp:lastModifiedBy>
  <cp:revision>22</cp:revision>
  <dcterms:created xsi:type="dcterms:W3CDTF">2026-03-13T13:48:34Z</dcterms:created>
  <dcterms:modified xsi:type="dcterms:W3CDTF">2026-06-16T15:41:41Z</dcterms:modified>
</cp:coreProperties>
</file>