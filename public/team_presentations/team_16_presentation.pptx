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Roboto"/>
      <p:regular r:id="rId24"/>
      <p:bold r:id="rId25"/>
      <p:italic r:id="rId26"/>
      <p:boldItalic r:id="rId27"/>
    </p:embeddedFont>
    <p:embeddedFont>
      <p:font typeface="Montserrat"/>
      <p:regular r:id="rId28"/>
      <p:bold r:id="rId29"/>
      <p:italic r:id="rId30"/>
      <p:boldItalic r:id="rId31"/>
    </p:embeddedFont>
    <p:embeddedFont>
      <p:font typeface="La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Montserrat-regular.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boldItalic.fntdata"/><Relationship Id="rId30" Type="http://schemas.openxmlformats.org/officeDocument/2006/relationships/font" Target="fonts/Montserrat-italic.fntdata"/><Relationship Id="rId11" Type="http://schemas.openxmlformats.org/officeDocument/2006/relationships/slide" Target="slides/slide6.xml"/><Relationship Id="rId33" Type="http://schemas.openxmlformats.org/officeDocument/2006/relationships/font" Target="fonts/Lato-bold.fntdata"/><Relationship Id="rId10" Type="http://schemas.openxmlformats.org/officeDocument/2006/relationships/slide" Target="slides/slide5.xml"/><Relationship Id="rId32" Type="http://schemas.openxmlformats.org/officeDocument/2006/relationships/font" Target="fonts/Lato-regular.fntdata"/><Relationship Id="rId13" Type="http://schemas.openxmlformats.org/officeDocument/2006/relationships/slide" Target="slides/slide8.xml"/><Relationship Id="rId35" Type="http://schemas.openxmlformats.org/officeDocument/2006/relationships/font" Target="fonts/Lato-boldItalic.fntdata"/><Relationship Id="rId12" Type="http://schemas.openxmlformats.org/officeDocument/2006/relationships/slide" Target="slides/slide7.xml"/><Relationship Id="rId34" Type="http://schemas.openxmlformats.org/officeDocument/2006/relationships/font" Target="fonts/Lat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516451ad82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516451ad82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516451ad82_0_2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516451ad82_0_2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53200d1bb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53200d1bb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516451ad82_0_2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516451ad82_0_2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a3eff4a1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5a3eff4a1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5a3eff4a16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5a3eff4a16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5a3eff4a16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5a3eff4a16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5a3eff4a16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5a3eff4a16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53200d1bb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53200d1bb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3200d1bb4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53200d1bb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53200d1bb4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53200d1bb4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53200d1bb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53200d1bb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53200d1bb4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53200d1bb4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53200d1bb4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53200d1bb4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53200d1bb4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53200d1bb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5a3eff4a16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5a3eff4a16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53200d1bb4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53200d1bb4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8.jpg"/><Relationship Id="rId4"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502525" y="394913"/>
            <a:ext cx="4255500" cy="1872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DESIGN THINKING AND INNOVATION</a:t>
            </a:r>
            <a:endParaRPr/>
          </a:p>
        </p:txBody>
      </p:sp>
      <p:sp>
        <p:nvSpPr>
          <p:cNvPr id="135" name="Google Shape;135;p13"/>
          <p:cNvSpPr txBox="1"/>
          <p:nvPr>
            <p:ph idx="1" type="subTitle"/>
          </p:nvPr>
        </p:nvSpPr>
        <p:spPr>
          <a:xfrm>
            <a:off x="143725" y="3100700"/>
            <a:ext cx="4614300" cy="148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PRESENTED BY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G.KAVITHA (23KD1A0239)</a:t>
            </a:r>
            <a:endParaRPr/>
          </a:p>
          <a:p>
            <a:pPr indent="0" lvl="0" marL="0" rtl="0" algn="l">
              <a:spcBef>
                <a:spcPts val="0"/>
              </a:spcBef>
              <a:spcAft>
                <a:spcPts val="0"/>
              </a:spcAft>
              <a:buNone/>
            </a:pPr>
            <a:r>
              <a:rPr lang="en-GB"/>
              <a:t>G.SANDHYA (23KD1A0236)</a:t>
            </a:r>
            <a:endParaRPr/>
          </a:p>
          <a:p>
            <a:pPr indent="0" lvl="0" marL="0" rtl="0" algn="l">
              <a:spcBef>
                <a:spcPts val="0"/>
              </a:spcBef>
              <a:spcAft>
                <a:spcPts val="0"/>
              </a:spcAft>
              <a:buNone/>
            </a:pPr>
            <a:r>
              <a:rPr lang="en-GB"/>
              <a:t>K.LAKSHMAN KUMAR (23KD1A0256)</a:t>
            </a:r>
            <a:endParaRPr/>
          </a:p>
          <a:p>
            <a:pPr indent="0" lvl="0" marL="0" rtl="0" algn="l">
              <a:spcBef>
                <a:spcPts val="0"/>
              </a:spcBef>
              <a:spcAft>
                <a:spcPts val="0"/>
              </a:spcAft>
              <a:buNone/>
            </a:pPr>
            <a:r>
              <a:rPr lang="en-GB"/>
              <a:t>A.SAI MOUNIKA (23KD1A0205)</a:t>
            </a:r>
            <a:endParaRPr sz="2600"/>
          </a:p>
        </p:txBody>
      </p:sp>
      <p:pic>
        <p:nvPicPr>
          <p:cNvPr descr="People Icons Think Different Idea Design Free Stock Photo - Public ..." id="136" name="Google Shape;136;p13"/>
          <p:cNvPicPr preferRelativeResize="0"/>
          <p:nvPr/>
        </p:nvPicPr>
        <p:blipFill>
          <a:blip r:embed="rId3">
            <a:alphaModFix/>
          </a:blip>
          <a:stretch>
            <a:fillRect/>
          </a:stretch>
        </p:blipFill>
        <p:spPr>
          <a:xfrm>
            <a:off x="5285450" y="1183575"/>
            <a:ext cx="3759699" cy="250646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idx="1" type="body"/>
          </p:nvPr>
        </p:nvSpPr>
        <p:spPr>
          <a:xfrm>
            <a:off x="4018250" y="1841375"/>
            <a:ext cx="5237400" cy="19020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sz="1800"/>
              <a:t>UNDER  THE GUIDENCE OF:</a:t>
            </a:r>
            <a:endParaRPr sz="1800"/>
          </a:p>
          <a:p>
            <a:pPr indent="0" lvl="0" marL="0" rtl="0" algn="l">
              <a:spcBef>
                <a:spcPts val="1200"/>
              </a:spcBef>
              <a:spcAft>
                <a:spcPts val="0"/>
              </a:spcAft>
              <a:buNone/>
            </a:pPr>
            <a:r>
              <a:rPr lang="en-GB" sz="1800"/>
              <a:t>             MR. B. RAM VARA PRASAD,(</a:t>
            </a:r>
            <a:r>
              <a:rPr lang="en-GB" sz="1400"/>
              <a:t>Ph.D)</a:t>
            </a:r>
            <a:endParaRPr sz="1400"/>
          </a:p>
          <a:p>
            <a:pPr indent="0" lvl="0" marL="0" rtl="0" algn="l">
              <a:spcBef>
                <a:spcPts val="1200"/>
              </a:spcBef>
              <a:spcAft>
                <a:spcPts val="0"/>
              </a:spcAft>
              <a:buNone/>
            </a:pPr>
            <a:r>
              <a:rPr lang="en-GB" sz="1400"/>
              <a:t>                 </a:t>
            </a:r>
            <a:r>
              <a:rPr lang="en-GB" sz="1800"/>
              <a:t>Assistant   professor,</a:t>
            </a:r>
            <a:endParaRPr sz="1800"/>
          </a:p>
          <a:p>
            <a:pPr indent="0" lvl="0" marL="0" rtl="0" algn="l">
              <a:spcBef>
                <a:spcPts val="1200"/>
              </a:spcBef>
              <a:spcAft>
                <a:spcPts val="0"/>
              </a:spcAft>
              <a:buNone/>
            </a:pPr>
            <a:r>
              <a:rPr lang="en-GB" sz="1800"/>
              <a:t>             Department of EEE</a:t>
            </a:r>
            <a:endParaRPr sz="1800"/>
          </a:p>
          <a:p>
            <a:pPr indent="0" lvl="0" marL="0" rtl="0" algn="l">
              <a:spcBef>
                <a:spcPts val="1200"/>
              </a:spcBef>
              <a:spcAft>
                <a:spcPts val="1200"/>
              </a:spcAft>
              <a:buNone/>
            </a:pPr>
            <a:r>
              <a:t/>
            </a:r>
            <a:endParaRPr sz="1800"/>
          </a:p>
        </p:txBody>
      </p:sp>
      <p:sp>
        <p:nvSpPr>
          <p:cNvPr id="142" name="Google Shape;142;p14"/>
          <p:cNvSpPr txBox="1"/>
          <p:nvPr/>
        </p:nvSpPr>
        <p:spPr>
          <a:xfrm>
            <a:off x="361650" y="1526975"/>
            <a:ext cx="3603000" cy="2216400"/>
          </a:xfrm>
          <a:prstGeom prst="rect">
            <a:avLst/>
          </a:prstGeom>
          <a:solidFill>
            <a:schemeClr val="dk1"/>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sz="4400">
                <a:solidFill>
                  <a:schemeClr val="dk2"/>
                </a:solidFill>
                <a:latin typeface="Roboto"/>
                <a:ea typeface="Roboto"/>
                <a:cs typeface="Roboto"/>
                <a:sym typeface="Roboto"/>
              </a:rPr>
              <a:t>SMART </a:t>
            </a:r>
            <a:endParaRPr sz="4400">
              <a:solidFill>
                <a:schemeClr val="dk2"/>
              </a:solidFill>
              <a:latin typeface="Roboto"/>
              <a:ea typeface="Roboto"/>
              <a:cs typeface="Roboto"/>
              <a:sym typeface="Roboto"/>
            </a:endParaRPr>
          </a:p>
          <a:p>
            <a:pPr indent="0" lvl="0" marL="0" rtl="0" algn="l">
              <a:spcBef>
                <a:spcPts val="0"/>
              </a:spcBef>
              <a:spcAft>
                <a:spcPts val="0"/>
              </a:spcAft>
              <a:buNone/>
            </a:pPr>
            <a:r>
              <a:rPr lang="en-GB" sz="4400">
                <a:solidFill>
                  <a:schemeClr val="dk2"/>
                </a:solidFill>
                <a:latin typeface="Roboto"/>
                <a:ea typeface="Roboto"/>
                <a:cs typeface="Roboto"/>
                <a:sym typeface="Roboto"/>
              </a:rPr>
              <a:t>    PARKING</a:t>
            </a:r>
            <a:endParaRPr sz="4400">
              <a:solidFill>
                <a:schemeClr val="dk2"/>
              </a:solidFill>
              <a:latin typeface="Roboto"/>
              <a:ea typeface="Roboto"/>
              <a:cs typeface="Roboto"/>
              <a:sym typeface="Roboto"/>
            </a:endParaRPr>
          </a:p>
          <a:p>
            <a:pPr indent="0" lvl="0" marL="0" rtl="0" algn="l">
              <a:spcBef>
                <a:spcPts val="0"/>
              </a:spcBef>
              <a:spcAft>
                <a:spcPts val="0"/>
              </a:spcAft>
              <a:buNone/>
            </a:pPr>
            <a:r>
              <a:rPr lang="en-GB" sz="4400">
                <a:solidFill>
                  <a:schemeClr val="dk2"/>
                </a:solidFill>
                <a:latin typeface="Roboto"/>
                <a:ea typeface="Roboto"/>
                <a:cs typeface="Roboto"/>
                <a:sym typeface="Roboto"/>
              </a:rPr>
              <a:t>      SYSTEM</a:t>
            </a:r>
            <a:endParaRPr sz="4400">
              <a:solidFill>
                <a:schemeClr val="dk2"/>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CONTENTS</a:t>
            </a:r>
            <a:endParaRPr/>
          </a:p>
        </p:txBody>
      </p:sp>
      <p:sp>
        <p:nvSpPr>
          <p:cNvPr id="148" name="Google Shape;148;p15"/>
          <p:cNvSpPr txBox="1"/>
          <p:nvPr>
            <p:ph idx="1" type="body"/>
          </p:nvPr>
        </p:nvSpPr>
        <p:spPr>
          <a:xfrm>
            <a:off x="1297500" y="1567550"/>
            <a:ext cx="7038900" cy="2892900"/>
          </a:xfrm>
          <a:prstGeom prst="rect">
            <a:avLst/>
          </a:prstGeom>
        </p:spPr>
        <p:txBody>
          <a:bodyPr anchorCtr="0" anchor="t" bIns="91425" lIns="91425" spcFirstLastPara="1" rIns="91425" wrap="square" tIns="91425">
            <a:normAutofit fontScale="77500" lnSpcReduction="20000"/>
          </a:bodyPr>
          <a:lstStyle/>
          <a:p>
            <a:pPr indent="-317182" lvl="0" marL="457200" rtl="0" algn="l">
              <a:spcBef>
                <a:spcPts val="0"/>
              </a:spcBef>
              <a:spcAft>
                <a:spcPts val="0"/>
              </a:spcAft>
              <a:buSzPct val="100000"/>
              <a:buChar char="●"/>
            </a:pPr>
            <a:r>
              <a:rPr lang="en-GB" sz="1800"/>
              <a:t>INTRODUCTION  TO DESIGN THINKING</a:t>
            </a:r>
            <a:endParaRPr sz="1800"/>
          </a:p>
          <a:p>
            <a:pPr indent="-317182" lvl="0" marL="457200" rtl="0" algn="l">
              <a:spcBef>
                <a:spcPts val="0"/>
              </a:spcBef>
              <a:spcAft>
                <a:spcPts val="0"/>
              </a:spcAft>
              <a:buSzPct val="100000"/>
              <a:buChar char="●"/>
            </a:pPr>
            <a:r>
              <a:rPr lang="en-GB" sz="1800"/>
              <a:t>PROBLEM STATEMENT</a:t>
            </a:r>
            <a:endParaRPr sz="1800"/>
          </a:p>
          <a:p>
            <a:pPr indent="-317182" lvl="0" marL="457200" rtl="0" algn="l">
              <a:spcBef>
                <a:spcPts val="0"/>
              </a:spcBef>
              <a:spcAft>
                <a:spcPts val="0"/>
              </a:spcAft>
              <a:buSzPct val="100000"/>
              <a:buChar char="●"/>
            </a:pPr>
            <a:r>
              <a:rPr lang="en-GB" sz="1800"/>
              <a:t>DESIGN THINKING AND INNOVATION  STEPS </a:t>
            </a:r>
            <a:endParaRPr sz="1800"/>
          </a:p>
          <a:p>
            <a:pPr indent="-317182" lvl="0" marL="457200" rtl="0" algn="l">
              <a:spcBef>
                <a:spcPts val="0"/>
              </a:spcBef>
              <a:spcAft>
                <a:spcPts val="0"/>
              </a:spcAft>
              <a:buSzPct val="100000"/>
              <a:buChar char="●"/>
            </a:pPr>
            <a:r>
              <a:rPr lang="en-GB" sz="1800"/>
              <a:t>OBJECTIVE</a:t>
            </a:r>
            <a:endParaRPr sz="1800"/>
          </a:p>
          <a:p>
            <a:pPr indent="-317182" lvl="0" marL="457200" rtl="0" algn="l">
              <a:spcBef>
                <a:spcPts val="0"/>
              </a:spcBef>
              <a:spcAft>
                <a:spcPts val="0"/>
              </a:spcAft>
              <a:buSzPct val="100000"/>
              <a:buChar char="●"/>
            </a:pPr>
            <a:r>
              <a:rPr lang="en-GB" sz="1800"/>
              <a:t>STEP - BY - FUNCTIONALITY</a:t>
            </a:r>
            <a:endParaRPr sz="1800"/>
          </a:p>
          <a:p>
            <a:pPr indent="-317182" lvl="0" marL="457200" rtl="0" algn="l">
              <a:spcBef>
                <a:spcPts val="0"/>
              </a:spcBef>
              <a:spcAft>
                <a:spcPts val="0"/>
              </a:spcAft>
              <a:buSzPct val="100000"/>
              <a:buChar char="●"/>
            </a:pPr>
            <a:r>
              <a:rPr lang="en-GB" sz="1800"/>
              <a:t>COMPONENTS</a:t>
            </a:r>
            <a:endParaRPr sz="1800"/>
          </a:p>
          <a:p>
            <a:pPr indent="-317182" lvl="0" marL="457200" rtl="0" algn="l">
              <a:spcBef>
                <a:spcPts val="0"/>
              </a:spcBef>
              <a:spcAft>
                <a:spcPts val="0"/>
              </a:spcAft>
              <a:buSzPct val="100000"/>
              <a:buChar char="●"/>
            </a:pPr>
            <a:r>
              <a:rPr lang="en-GB" sz="1800"/>
              <a:t>ADVANTAGES</a:t>
            </a:r>
            <a:endParaRPr sz="1800"/>
          </a:p>
          <a:p>
            <a:pPr indent="-317182" lvl="0" marL="457200" rtl="0" algn="l">
              <a:spcBef>
                <a:spcPts val="0"/>
              </a:spcBef>
              <a:spcAft>
                <a:spcPts val="0"/>
              </a:spcAft>
              <a:buSzPct val="100000"/>
              <a:buChar char="●"/>
            </a:pPr>
            <a:r>
              <a:rPr lang="en-GB" sz="1800"/>
              <a:t>CHALLENGES</a:t>
            </a:r>
            <a:endParaRPr sz="1800"/>
          </a:p>
          <a:p>
            <a:pPr indent="-317182" lvl="0" marL="457200" rtl="0" algn="l">
              <a:spcBef>
                <a:spcPts val="0"/>
              </a:spcBef>
              <a:spcAft>
                <a:spcPts val="0"/>
              </a:spcAft>
              <a:buSzPct val="100000"/>
              <a:buChar char="●"/>
            </a:pPr>
            <a:r>
              <a:rPr lang="en-GB" sz="1800"/>
              <a:t>REAL TIME EXAMPLES</a:t>
            </a:r>
            <a:endParaRPr sz="1800"/>
          </a:p>
          <a:p>
            <a:pPr indent="-317182" lvl="0" marL="457200" rtl="0" algn="l">
              <a:spcBef>
                <a:spcPts val="0"/>
              </a:spcBef>
              <a:spcAft>
                <a:spcPts val="0"/>
              </a:spcAft>
              <a:buSzPct val="100000"/>
              <a:buChar char="●"/>
            </a:pPr>
            <a:r>
              <a:rPr lang="en-GB" sz="1800"/>
              <a:t>CONCLUSION</a:t>
            </a:r>
            <a:endParaRPr sz="1800"/>
          </a:p>
          <a:p>
            <a:pPr indent="-317182" lvl="0" marL="457200" rtl="0" algn="l">
              <a:spcBef>
                <a:spcPts val="0"/>
              </a:spcBef>
              <a:spcAft>
                <a:spcPts val="0"/>
              </a:spcAft>
              <a:buSzPct val="100000"/>
              <a:buChar char="●"/>
            </a:pPr>
            <a:r>
              <a:rPr lang="en-GB" sz="1800"/>
              <a:t>THANKYOU</a:t>
            </a:r>
            <a:endParaRPr sz="1800"/>
          </a:p>
          <a:p>
            <a:pPr indent="0" lvl="0" marL="457200" rtl="0" algn="l">
              <a:spcBef>
                <a:spcPts val="1200"/>
              </a:spcBef>
              <a:spcAft>
                <a:spcPts val="1200"/>
              </a:spcAft>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PROBLEM STATEMENT :</a:t>
            </a:r>
            <a:endParaRPr/>
          </a:p>
        </p:txBody>
      </p:sp>
      <p:sp>
        <p:nvSpPr>
          <p:cNvPr id="154" name="Google Shape;154;p16"/>
          <p:cNvSpPr txBox="1"/>
          <p:nvPr>
            <p:ph idx="1" type="body"/>
          </p:nvPr>
        </p:nvSpPr>
        <p:spPr>
          <a:xfrm>
            <a:off x="148575" y="1567550"/>
            <a:ext cx="6550200" cy="2252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n-GB" sz="1800"/>
              <a:t>Urban  areas face parking issues due to lack of real time </a:t>
            </a:r>
            <a:r>
              <a:rPr lang="en-GB" sz="1800"/>
              <a:t>monitoring</a:t>
            </a:r>
            <a:r>
              <a:rPr lang="en-GB" sz="1800"/>
              <a:t> </a:t>
            </a:r>
            <a:endParaRPr sz="1800"/>
          </a:p>
          <a:p>
            <a:pPr indent="0" lvl="0" marL="0" rtl="0" algn="l">
              <a:spcBef>
                <a:spcPts val="1200"/>
              </a:spcBef>
              <a:spcAft>
                <a:spcPts val="0"/>
              </a:spcAft>
              <a:buNone/>
            </a:pPr>
            <a:r>
              <a:rPr lang="en-GB" sz="1800"/>
              <a:t>and  inefficient space usage. This  project aims to build a low-cost ,</a:t>
            </a:r>
            <a:endParaRPr sz="1800"/>
          </a:p>
          <a:p>
            <a:pPr indent="0" lvl="0" marL="0" rtl="0" algn="l">
              <a:spcBef>
                <a:spcPts val="1200"/>
              </a:spcBef>
              <a:spcAft>
                <a:spcPts val="0"/>
              </a:spcAft>
              <a:buNone/>
            </a:pPr>
            <a:r>
              <a:rPr lang="en-GB" sz="1800"/>
              <a:t>AI-based smart parking system using the ESP32-CAM to detect and</a:t>
            </a:r>
            <a:endParaRPr sz="1800"/>
          </a:p>
          <a:p>
            <a:pPr indent="0" lvl="0" marL="0" rtl="0" algn="l">
              <a:spcBef>
                <a:spcPts val="1200"/>
              </a:spcBef>
              <a:spcAft>
                <a:spcPts val="1200"/>
              </a:spcAft>
              <a:buNone/>
            </a:pPr>
            <a:r>
              <a:rPr lang="en-GB" sz="1800"/>
              <a:t>manage parking space occupancy effectively.</a:t>
            </a:r>
            <a:endParaRPr sz="1800"/>
          </a:p>
        </p:txBody>
      </p:sp>
      <p:pic>
        <p:nvPicPr>
          <p:cNvPr descr="Parking Madness At Lintas Plaza, Kota Kinabalu | You thought… | Flickr" id="155" name="Google Shape;155;p16"/>
          <p:cNvPicPr preferRelativeResize="0"/>
          <p:nvPr/>
        </p:nvPicPr>
        <p:blipFill>
          <a:blip r:embed="rId3">
            <a:alphaModFix/>
          </a:blip>
          <a:stretch>
            <a:fillRect/>
          </a:stretch>
        </p:blipFill>
        <p:spPr>
          <a:xfrm>
            <a:off x="6046150" y="2886900"/>
            <a:ext cx="3038825" cy="21496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7"/>
          <p:cNvSpPr txBox="1"/>
          <p:nvPr>
            <p:ph type="title"/>
          </p:nvPr>
        </p:nvSpPr>
        <p:spPr>
          <a:xfrm>
            <a:off x="919396" y="393750"/>
            <a:ext cx="52020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161" name="Google Shape;161;p17"/>
          <p:cNvSpPr txBox="1"/>
          <p:nvPr>
            <p:ph idx="1" type="body"/>
          </p:nvPr>
        </p:nvSpPr>
        <p:spPr>
          <a:xfrm>
            <a:off x="683125" y="393700"/>
            <a:ext cx="5438100" cy="4085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design thinking steps process from empathize define ideate prototype test (provided by Getty Images)" id="162" name="Google Shape;162;p17"/>
          <p:cNvPicPr preferRelativeResize="0"/>
          <p:nvPr/>
        </p:nvPicPr>
        <p:blipFill>
          <a:blip r:embed="rId3">
            <a:alphaModFix/>
          </a:blip>
          <a:stretch>
            <a:fillRect/>
          </a:stretch>
        </p:blipFill>
        <p:spPr>
          <a:xfrm>
            <a:off x="58525" y="393700"/>
            <a:ext cx="9015199" cy="4422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Empathize</a:t>
            </a:r>
            <a:endParaRPr/>
          </a:p>
        </p:txBody>
      </p:sp>
      <p:sp>
        <p:nvSpPr>
          <p:cNvPr id="168" name="Google Shape;168;p18"/>
          <p:cNvSpPr txBox="1"/>
          <p:nvPr>
            <p:ph idx="1" type="body"/>
          </p:nvPr>
        </p:nvSpPr>
        <p:spPr>
          <a:xfrm>
            <a:off x="283625" y="1567550"/>
            <a:ext cx="55038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In the Empathize stage of developing a Smart Parking System, we focused on understanding the real needs and challenges of users such as daily commuters, tourists, delivery drivers, and people with disabilities. Through interviews, surveys, and field observations, we identified common pain points including difficulty finding available spots, time wasted searching, and frustration from unclear signage and outdated payment methods. Emotional responses like stress, anxiety, and confusion were frequently expressed, especially in busy urban areas. Additionally, we noted environmental concerns such as increased emissions from circling vehicles and accessibility issues for differently-abled users. This deep understanding will guide user-centered design solutions in the next stages.</a:t>
            </a:r>
            <a:endParaRPr/>
          </a:p>
        </p:txBody>
      </p:sp>
      <p:pic>
        <p:nvPicPr>
          <p:cNvPr descr="Multi-storey car park 1080P, 2K, 4K, 5K HD wallpapers free ..." id="169" name="Google Shape;169;p18"/>
          <p:cNvPicPr preferRelativeResize="0"/>
          <p:nvPr/>
        </p:nvPicPr>
        <p:blipFill>
          <a:blip r:embed="rId3">
            <a:alphaModFix/>
          </a:blip>
          <a:stretch>
            <a:fillRect/>
          </a:stretch>
        </p:blipFill>
        <p:spPr>
          <a:xfrm>
            <a:off x="5787425" y="793500"/>
            <a:ext cx="3366199" cy="3685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Define</a:t>
            </a:r>
            <a:endParaRPr/>
          </a:p>
        </p:txBody>
      </p:sp>
      <p:sp>
        <p:nvSpPr>
          <p:cNvPr id="175" name="Google Shape;175;p19"/>
          <p:cNvSpPr txBox="1"/>
          <p:nvPr>
            <p:ph idx="1" type="body"/>
          </p:nvPr>
        </p:nvSpPr>
        <p:spPr>
          <a:xfrm>
            <a:off x="216100" y="1567550"/>
            <a:ext cx="48060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In the Define stage, we synthesized insights gathered during the Empathize phase to clearly articulate the core problems users face with current parking systems. We identified the central need as a smart, real-time solution that helps drivers find available parking quickly and easily while reducing stress, time loss, and environmental impact. Our problem statement centers on improving parking efficiency by addressing poor availability visibility, inconvenient payment options, and lack of support for special user groups like people with disabilities. This user-centered problem definition will serve as the foundation for ideating effective and practical solutions.</a:t>
            </a:r>
            <a:endParaRPr/>
          </a:p>
        </p:txBody>
      </p:sp>
      <p:pic>
        <p:nvPicPr>
          <p:cNvPr descr="White and orange parking lot | free photos | UIHere" id="176" name="Google Shape;176;p19"/>
          <p:cNvPicPr preferRelativeResize="0"/>
          <p:nvPr/>
        </p:nvPicPr>
        <p:blipFill>
          <a:blip r:embed="rId3">
            <a:alphaModFix/>
          </a:blip>
          <a:stretch>
            <a:fillRect/>
          </a:stretch>
        </p:blipFill>
        <p:spPr>
          <a:xfrm>
            <a:off x="4920650" y="1433875"/>
            <a:ext cx="3837925" cy="2442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Ideate</a:t>
            </a:r>
            <a:endParaRPr/>
          </a:p>
        </p:txBody>
      </p:sp>
      <p:sp>
        <p:nvSpPr>
          <p:cNvPr id="182" name="Google Shape;182;p20"/>
          <p:cNvSpPr txBox="1"/>
          <p:nvPr>
            <p:ph idx="1" type="body"/>
          </p:nvPr>
        </p:nvSpPr>
        <p:spPr>
          <a:xfrm>
            <a:off x="339900" y="1567550"/>
            <a:ext cx="51885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In the Ideate stage, we generated a wide range of creative solutions to address the core parking challenges identified in the Define phase. Focusing on real-time availability, convenience, and user inclusivity, ideas included an AI-powered mobile app that shows live parking spot availability, smart sensors in parking lots, dynamic pricing to reduce congestion, and a reservation system for guaranteed spots. We also considered features like voice-guided navigation to the nearest space, integration with digital payment platforms, and special accommodations for disabled users. These ideas aim to transform parking into a faster, smoother, and more user-friendly experience.</a:t>
            </a:r>
            <a:endParaRPr/>
          </a:p>
        </p:txBody>
      </p:sp>
      <p:pic>
        <p:nvPicPr>
          <p:cNvPr descr="Free Images : car, motor vehicle, automotive design 6016x4016 ..." id="183" name="Google Shape;183;p20"/>
          <p:cNvPicPr preferRelativeResize="0"/>
          <p:nvPr/>
        </p:nvPicPr>
        <p:blipFill>
          <a:blip r:embed="rId3">
            <a:alphaModFix/>
          </a:blip>
          <a:stretch>
            <a:fillRect/>
          </a:stretch>
        </p:blipFill>
        <p:spPr>
          <a:xfrm>
            <a:off x="5528425" y="652775"/>
            <a:ext cx="3481774" cy="39572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type="title"/>
          </p:nvPr>
        </p:nvSpPr>
        <p:spPr>
          <a:xfrm>
            <a:off x="1297500" y="393750"/>
            <a:ext cx="16536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Prototype</a:t>
            </a:r>
            <a:endParaRPr/>
          </a:p>
        </p:txBody>
      </p:sp>
      <p:sp>
        <p:nvSpPr>
          <p:cNvPr id="189" name="Google Shape;189;p21"/>
          <p:cNvSpPr txBox="1"/>
          <p:nvPr>
            <p:ph idx="1" type="body"/>
          </p:nvPr>
        </p:nvSpPr>
        <p:spPr>
          <a:xfrm>
            <a:off x="4572000" y="1567550"/>
            <a:ext cx="37644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Car parking at Chatsworth Horse Trials © Jonathan Hutchins ..." id="190" name="Google Shape;190;p21"/>
          <p:cNvPicPr preferRelativeResize="0"/>
          <p:nvPr/>
        </p:nvPicPr>
        <p:blipFill>
          <a:blip r:embed="rId3">
            <a:alphaModFix/>
          </a:blip>
          <a:stretch>
            <a:fillRect/>
          </a:stretch>
        </p:blipFill>
        <p:spPr>
          <a:xfrm>
            <a:off x="745050" y="1705213"/>
            <a:ext cx="3514499" cy="2635874"/>
          </a:xfrm>
          <a:prstGeom prst="rect">
            <a:avLst/>
          </a:prstGeom>
          <a:noFill/>
          <a:ln>
            <a:noFill/>
          </a:ln>
        </p:spPr>
      </p:pic>
      <p:pic>
        <p:nvPicPr>
          <p:cNvPr id="191" name="Google Shape;191;p21"/>
          <p:cNvPicPr preferRelativeResize="0"/>
          <p:nvPr/>
        </p:nvPicPr>
        <p:blipFill>
          <a:blip r:embed="rId4">
            <a:alphaModFix/>
          </a:blip>
          <a:stretch>
            <a:fillRect/>
          </a:stretch>
        </p:blipFill>
        <p:spPr>
          <a:xfrm>
            <a:off x="4572000" y="1520613"/>
            <a:ext cx="3961724" cy="30050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OBJECTIVE :</a:t>
            </a:r>
            <a:endParaRPr/>
          </a:p>
        </p:txBody>
      </p:sp>
      <p:sp>
        <p:nvSpPr>
          <p:cNvPr id="197" name="Google Shape;197;p22"/>
          <p:cNvSpPr txBox="1"/>
          <p:nvPr>
            <p:ph idx="1" type="body"/>
          </p:nvPr>
        </p:nvSpPr>
        <p:spPr>
          <a:xfrm>
            <a:off x="238600" y="1556275"/>
            <a:ext cx="5852700" cy="1858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800"/>
              <a:t>To create an intelligent ,low-cost smart parking solution using the ESP32-CAM and AI that automatically detects vacant parking spots in  real-time , aiming to reduce traffic , save time , and improve urban mobility.</a:t>
            </a:r>
            <a:endParaRPr sz="1800"/>
          </a:p>
        </p:txBody>
      </p:sp>
      <p:pic>
        <p:nvPicPr>
          <p:cNvPr descr="Trailer Park Images | Free Photos, PNG Stickers, Wallpapers ..." id="198" name="Google Shape;198;p22"/>
          <p:cNvPicPr preferRelativeResize="0"/>
          <p:nvPr/>
        </p:nvPicPr>
        <p:blipFill>
          <a:blip r:embed="rId3">
            <a:alphaModFix/>
          </a:blip>
          <a:stretch>
            <a:fillRect/>
          </a:stretch>
        </p:blipFill>
        <p:spPr>
          <a:xfrm>
            <a:off x="6243700" y="1460250"/>
            <a:ext cx="2747900" cy="216740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STEP BY STEP FUNCTIONALITY :</a:t>
            </a:r>
            <a:endParaRPr/>
          </a:p>
        </p:txBody>
      </p:sp>
      <p:sp>
        <p:nvSpPr>
          <p:cNvPr id="204" name="Google Shape;204;p23"/>
          <p:cNvSpPr txBox="1"/>
          <p:nvPr>
            <p:ph idx="1" type="body"/>
          </p:nvPr>
        </p:nvSpPr>
        <p:spPr>
          <a:xfrm>
            <a:off x="262050" y="1398725"/>
            <a:ext cx="9363300" cy="2911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GB" sz="1800"/>
              <a:t>Real - Time image capture</a:t>
            </a:r>
            <a:endParaRPr sz="1800"/>
          </a:p>
          <a:p>
            <a:pPr indent="-342900" lvl="0" marL="457200" rtl="0" algn="l">
              <a:spcBef>
                <a:spcPts val="0"/>
              </a:spcBef>
              <a:spcAft>
                <a:spcPts val="0"/>
              </a:spcAft>
              <a:buSzPts val="1800"/>
              <a:buAutoNum type="arabicPeriod"/>
            </a:pPr>
            <a:r>
              <a:rPr lang="en-GB" sz="1800"/>
              <a:t>AI - Based object detection</a:t>
            </a:r>
            <a:endParaRPr sz="1800"/>
          </a:p>
          <a:p>
            <a:pPr indent="-342900" lvl="0" marL="457200" rtl="0" algn="l">
              <a:spcBef>
                <a:spcPts val="0"/>
              </a:spcBef>
              <a:spcAft>
                <a:spcPts val="0"/>
              </a:spcAft>
              <a:buSzPts val="1800"/>
              <a:buAutoNum type="arabicPeriod"/>
            </a:pPr>
            <a:r>
              <a:rPr lang="en-GB" sz="1800"/>
              <a:t>Occupancy status update</a:t>
            </a:r>
            <a:endParaRPr sz="1800"/>
          </a:p>
          <a:p>
            <a:pPr indent="-342900" lvl="0" marL="457200" rtl="0" algn="l">
              <a:spcBef>
                <a:spcPts val="0"/>
              </a:spcBef>
              <a:spcAft>
                <a:spcPts val="0"/>
              </a:spcAft>
              <a:buSzPts val="1800"/>
              <a:buAutoNum type="arabicPeriod"/>
            </a:pPr>
            <a:r>
              <a:rPr lang="en-GB" sz="1800"/>
              <a:t>Data transmission </a:t>
            </a:r>
            <a:endParaRPr sz="1800"/>
          </a:p>
          <a:p>
            <a:pPr indent="-342900" lvl="0" marL="457200" rtl="0" algn="l">
              <a:spcBef>
                <a:spcPts val="0"/>
              </a:spcBef>
              <a:spcAft>
                <a:spcPts val="0"/>
              </a:spcAft>
              <a:buSzPts val="1800"/>
              <a:buAutoNum type="arabicPeriod"/>
            </a:pPr>
            <a:r>
              <a:rPr lang="en-GB" sz="1800"/>
              <a:t>User interface</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COMPONENTS : </a:t>
            </a:r>
            <a:endParaRPr/>
          </a:p>
        </p:txBody>
      </p:sp>
      <p:sp>
        <p:nvSpPr>
          <p:cNvPr id="210" name="Google Shape;210;p24"/>
          <p:cNvSpPr txBox="1"/>
          <p:nvPr>
            <p:ph idx="1" type="body"/>
          </p:nvPr>
        </p:nvSpPr>
        <p:spPr>
          <a:xfrm>
            <a:off x="182325" y="1567550"/>
            <a:ext cx="4288200" cy="2911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GB" sz="1800"/>
              <a:t>ESP32 CAM</a:t>
            </a:r>
            <a:endParaRPr sz="1800"/>
          </a:p>
          <a:p>
            <a:pPr indent="-342900" lvl="0" marL="457200" rtl="0" algn="l">
              <a:spcBef>
                <a:spcPts val="0"/>
              </a:spcBef>
              <a:spcAft>
                <a:spcPts val="0"/>
              </a:spcAft>
              <a:buSzPts val="1800"/>
              <a:buAutoNum type="arabicPeriod"/>
            </a:pPr>
            <a:r>
              <a:rPr lang="en-GB" sz="1800"/>
              <a:t>SERVO MOTOR</a:t>
            </a:r>
            <a:endParaRPr sz="1800"/>
          </a:p>
          <a:p>
            <a:pPr indent="-342900" lvl="0" marL="457200" rtl="0" algn="l">
              <a:spcBef>
                <a:spcPts val="0"/>
              </a:spcBef>
              <a:spcAft>
                <a:spcPts val="0"/>
              </a:spcAft>
              <a:buSzPts val="1800"/>
              <a:buAutoNum type="arabicPeriod"/>
            </a:pPr>
            <a:r>
              <a:rPr lang="en-GB" sz="1800"/>
              <a:t>IR SENSOR MODULE</a:t>
            </a:r>
            <a:endParaRPr sz="1800"/>
          </a:p>
          <a:p>
            <a:pPr indent="-342900" lvl="0" marL="457200" rtl="0" algn="l">
              <a:spcBef>
                <a:spcPts val="0"/>
              </a:spcBef>
              <a:spcAft>
                <a:spcPts val="0"/>
              </a:spcAft>
              <a:buSzPts val="1800"/>
              <a:buAutoNum type="arabicPeriod"/>
            </a:pPr>
            <a:r>
              <a:rPr lang="en-GB" sz="1800"/>
              <a:t>BREADBOARD</a:t>
            </a:r>
            <a:endParaRPr sz="1800"/>
          </a:p>
          <a:p>
            <a:pPr indent="-342900" lvl="0" marL="457200" rtl="0" algn="l">
              <a:spcBef>
                <a:spcPts val="0"/>
              </a:spcBef>
              <a:spcAft>
                <a:spcPts val="0"/>
              </a:spcAft>
              <a:buSzPts val="1800"/>
              <a:buAutoNum type="arabicPeriod"/>
            </a:pPr>
            <a:r>
              <a:rPr lang="en-GB" sz="1800"/>
              <a:t>USB TO UART CONVERTER</a:t>
            </a:r>
            <a:endParaRPr sz="1800"/>
          </a:p>
          <a:p>
            <a:pPr indent="-342900" lvl="0" marL="457200" rtl="0" algn="l">
              <a:spcBef>
                <a:spcPts val="0"/>
              </a:spcBef>
              <a:spcAft>
                <a:spcPts val="0"/>
              </a:spcAft>
              <a:buSzPts val="1800"/>
              <a:buAutoNum type="arabicPeriod"/>
            </a:pPr>
            <a:r>
              <a:rPr lang="en-GB" sz="1800"/>
              <a:t>JUMPER WIRES</a:t>
            </a:r>
            <a:endParaRPr sz="1800"/>
          </a:p>
        </p:txBody>
      </p:sp>
      <p:pic>
        <p:nvPicPr>
          <p:cNvPr descr="Free photo: circuit, electrical circuits, electronic circuits ..." id="211" name="Google Shape;211;p24"/>
          <p:cNvPicPr preferRelativeResize="0"/>
          <p:nvPr/>
        </p:nvPicPr>
        <p:blipFill>
          <a:blip r:embed="rId3">
            <a:alphaModFix/>
          </a:blip>
          <a:stretch>
            <a:fillRect/>
          </a:stretch>
        </p:blipFill>
        <p:spPr>
          <a:xfrm>
            <a:off x="4622925" y="1460250"/>
            <a:ext cx="4368675" cy="2910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ADVANTAGES :</a:t>
            </a:r>
            <a:endParaRPr/>
          </a:p>
          <a:p>
            <a:pPr indent="0" lvl="0" marL="0" rtl="0" algn="l">
              <a:spcBef>
                <a:spcPts val="0"/>
              </a:spcBef>
              <a:spcAft>
                <a:spcPts val="0"/>
              </a:spcAft>
              <a:buNone/>
            </a:pPr>
            <a:r>
              <a:t/>
            </a:r>
            <a:endParaRPr/>
          </a:p>
        </p:txBody>
      </p:sp>
      <p:sp>
        <p:nvSpPr>
          <p:cNvPr id="217" name="Google Shape;217;p2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sz="1800"/>
              <a:t>Real - time </a:t>
            </a:r>
            <a:r>
              <a:rPr lang="en-GB" sz="1800"/>
              <a:t>monitoring</a:t>
            </a:r>
            <a:endParaRPr sz="1800"/>
          </a:p>
          <a:p>
            <a:pPr indent="-342900" lvl="0" marL="457200" rtl="0" algn="l">
              <a:spcBef>
                <a:spcPts val="0"/>
              </a:spcBef>
              <a:spcAft>
                <a:spcPts val="0"/>
              </a:spcAft>
              <a:buSzPts val="1800"/>
              <a:buChar char="●"/>
            </a:pPr>
            <a:r>
              <a:rPr lang="en-GB" sz="1800"/>
              <a:t>Reduces traffic and fuel consumption</a:t>
            </a:r>
            <a:endParaRPr sz="1800"/>
          </a:p>
          <a:p>
            <a:pPr indent="-342900" lvl="0" marL="457200" rtl="0" algn="l">
              <a:spcBef>
                <a:spcPts val="0"/>
              </a:spcBef>
              <a:spcAft>
                <a:spcPts val="0"/>
              </a:spcAft>
              <a:buSzPts val="1800"/>
              <a:buChar char="●"/>
            </a:pPr>
            <a:r>
              <a:rPr lang="en-GB" sz="1800"/>
              <a:t>Low - cost and scalable</a:t>
            </a:r>
            <a:endParaRPr sz="1800"/>
          </a:p>
          <a:p>
            <a:pPr indent="-342900" lvl="0" marL="457200" rtl="0" algn="l">
              <a:spcBef>
                <a:spcPts val="0"/>
              </a:spcBef>
              <a:spcAft>
                <a:spcPts val="0"/>
              </a:spcAft>
              <a:buSzPts val="1800"/>
              <a:buChar char="●"/>
            </a:pPr>
            <a:r>
              <a:rPr lang="en-GB" sz="1800"/>
              <a:t>Easy cloud integration</a:t>
            </a:r>
            <a:endParaRPr sz="1800"/>
          </a:p>
          <a:p>
            <a:pPr indent="-342900" lvl="0" marL="457200" rtl="0" algn="l">
              <a:spcBef>
                <a:spcPts val="0"/>
              </a:spcBef>
              <a:spcAft>
                <a:spcPts val="0"/>
              </a:spcAft>
              <a:buSzPts val="1800"/>
              <a:buChar char="●"/>
            </a:pPr>
            <a:r>
              <a:rPr lang="en-GB" sz="1800"/>
              <a:t>Enhances smart city planning</a:t>
            </a:r>
            <a:endParaRPr sz="1800"/>
          </a:p>
          <a:p>
            <a:pPr indent="0" lvl="0" marL="457200" rtl="0" algn="l">
              <a:spcBef>
                <a:spcPts val="1200"/>
              </a:spcBef>
              <a:spcAft>
                <a:spcPts val="1200"/>
              </a:spcAft>
              <a:buNone/>
            </a:pPr>
            <a:r>
              <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CHALLENGES : </a:t>
            </a:r>
            <a:endParaRPr/>
          </a:p>
        </p:txBody>
      </p:sp>
      <p:sp>
        <p:nvSpPr>
          <p:cNvPr id="223" name="Google Shape;223;p26"/>
          <p:cNvSpPr txBox="1"/>
          <p:nvPr>
            <p:ph idx="1" type="body"/>
          </p:nvPr>
        </p:nvSpPr>
        <p:spPr>
          <a:xfrm>
            <a:off x="1207050" y="1073725"/>
            <a:ext cx="7219800" cy="415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p>
          <a:p>
            <a:pPr indent="0" lvl="0" marL="0" rtl="0" algn="l">
              <a:spcBef>
                <a:spcPts val="1200"/>
              </a:spcBef>
              <a:spcAft>
                <a:spcPts val="0"/>
              </a:spcAft>
              <a:buNone/>
            </a:pPr>
            <a:r>
              <a:rPr lang="en-GB" sz="1800"/>
              <a:t>                 Lightning and weather conditions affecting detection</a:t>
            </a:r>
            <a:endParaRPr sz="1800"/>
          </a:p>
          <a:p>
            <a:pPr indent="0" lvl="0" marL="0" rtl="0" algn="l">
              <a:spcBef>
                <a:spcPts val="1200"/>
              </a:spcBef>
              <a:spcAft>
                <a:spcPts val="0"/>
              </a:spcAft>
              <a:buNone/>
            </a:pPr>
            <a:r>
              <a:rPr lang="en-GB" sz="1800"/>
              <a:t>                </a:t>
            </a:r>
            <a:endParaRPr sz="1800"/>
          </a:p>
          <a:p>
            <a:pPr indent="0" lvl="0" marL="0" rtl="0" algn="l">
              <a:spcBef>
                <a:spcPts val="1200"/>
              </a:spcBef>
              <a:spcAft>
                <a:spcPts val="0"/>
              </a:spcAft>
              <a:buNone/>
            </a:pPr>
            <a:r>
              <a:rPr lang="en-GB" sz="1800"/>
              <a:t>                    Limited processing power of ESP32 - CAM</a:t>
            </a:r>
            <a:endParaRPr sz="1800"/>
          </a:p>
          <a:p>
            <a:pPr indent="0" lvl="0" marL="0" rtl="0" algn="l">
              <a:spcBef>
                <a:spcPts val="1200"/>
              </a:spcBef>
              <a:spcAft>
                <a:spcPts val="0"/>
              </a:spcAft>
              <a:buNone/>
            </a:pPr>
            <a:r>
              <a:rPr lang="en-GB" sz="1800"/>
              <a:t>                  </a:t>
            </a:r>
            <a:endParaRPr sz="1800"/>
          </a:p>
          <a:p>
            <a:pPr indent="0" lvl="0" marL="0" rtl="0" algn="l">
              <a:spcBef>
                <a:spcPts val="1200"/>
              </a:spcBef>
              <a:spcAft>
                <a:spcPts val="0"/>
              </a:spcAft>
              <a:buNone/>
            </a:pPr>
            <a:r>
              <a:rPr lang="en-GB" sz="1800"/>
              <a:t>                   AI model </a:t>
            </a:r>
            <a:r>
              <a:rPr lang="en-GB" sz="1800"/>
              <a:t>optimization for embedded systems</a:t>
            </a:r>
            <a:r>
              <a:rPr lang="en-GB" sz="1800"/>
              <a:t>  </a:t>
            </a:r>
            <a:endParaRPr sz="1800"/>
          </a:p>
          <a:p>
            <a:pPr indent="0" lvl="0" marL="0" rtl="0" algn="l">
              <a:spcBef>
                <a:spcPts val="1200"/>
              </a:spcBef>
              <a:spcAft>
                <a:spcPts val="0"/>
              </a:spcAft>
              <a:buNone/>
            </a:pPr>
            <a:r>
              <a:rPr lang="en-GB" sz="1800"/>
              <a:t>               </a:t>
            </a:r>
            <a:endParaRPr sz="1800"/>
          </a:p>
          <a:p>
            <a:pPr indent="0" lvl="0" marL="0" rtl="0" algn="l">
              <a:spcBef>
                <a:spcPts val="1200"/>
              </a:spcBef>
              <a:spcAft>
                <a:spcPts val="0"/>
              </a:spcAft>
              <a:buNone/>
            </a:pPr>
            <a:r>
              <a:rPr lang="en-GB" sz="1800"/>
              <a:t>                 Network reliability</a:t>
            </a:r>
            <a:endParaRPr sz="1800"/>
          </a:p>
          <a:p>
            <a:pPr indent="0" lvl="0" marL="0" rtl="0" algn="l">
              <a:spcBef>
                <a:spcPts val="1200"/>
              </a:spcBef>
              <a:spcAft>
                <a:spcPts val="0"/>
              </a:spcAft>
              <a:buNone/>
            </a:pPr>
            <a:r>
              <a:t/>
            </a:r>
            <a:endParaRPr sz="1800"/>
          </a:p>
          <a:p>
            <a:pPr indent="0" lvl="0" marL="0" rtl="0" algn="l">
              <a:spcBef>
                <a:spcPts val="1200"/>
              </a:spcBef>
              <a:spcAft>
                <a:spcPts val="0"/>
              </a:spcAft>
              <a:buNone/>
            </a:pPr>
            <a:r>
              <a:t/>
            </a:r>
            <a:endParaRPr sz="1800"/>
          </a:p>
          <a:p>
            <a:pPr indent="0" lvl="0" marL="0" rtl="0" algn="l">
              <a:spcBef>
                <a:spcPts val="1200"/>
              </a:spcBef>
              <a:spcAft>
                <a:spcPts val="0"/>
              </a:spcAft>
              <a:buNone/>
            </a:pPr>
            <a:r>
              <a:t/>
            </a:r>
            <a:endParaRPr sz="1800"/>
          </a:p>
          <a:p>
            <a:pPr indent="0" lvl="0" marL="0" rtl="0" algn="l">
              <a:spcBef>
                <a:spcPts val="1200"/>
              </a:spcBef>
              <a:spcAft>
                <a:spcPts val="0"/>
              </a:spcAft>
              <a:buNone/>
            </a:pPr>
            <a:r>
              <a:t/>
            </a:r>
            <a:endParaRPr sz="1800"/>
          </a:p>
          <a:p>
            <a:pPr indent="0" lvl="0" marL="0" rtl="0" algn="l">
              <a:spcBef>
                <a:spcPts val="1200"/>
              </a:spcBef>
              <a:spcAft>
                <a:spcPts val="0"/>
              </a:spcAft>
              <a:buNone/>
            </a:pPr>
            <a:r>
              <a:t/>
            </a:r>
            <a:endParaRPr sz="1800"/>
          </a:p>
          <a:p>
            <a:pPr indent="0" lvl="0" marL="0" rtl="0" algn="l">
              <a:spcBef>
                <a:spcPts val="1200"/>
              </a:spcBef>
              <a:spcAft>
                <a:spcPts val="0"/>
              </a:spcAft>
              <a:buNone/>
            </a:pPr>
            <a:r>
              <a:t/>
            </a:r>
            <a:endParaRPr sz="1800"/>
          </a:p>
          <a:p>
            <a:pPr indent="0" lvl="0" marL="0" rtl="0" algn="l">
              <a:spcBef>
                <a:spcPts val="1200"/>
              </a:spcBef>
              <a:spcAft>
                <a:spcPts val="0"/>
              </a:spcAft>
              <a:buNone/>
            </a:pPr>
            <a:r>
              <a:rPr lang="en-GB" sz="1800"/>
              <a:t>  </a:t>
            </a:r>
            <a:endParaRPr sz="1800"/>
          </a:p>
          <a:p>
            <a:pPr indent="0" lvl="0" marL="0" rtl="0" algn="l">
              <a:spcBef>
                <a:spcPts val="1200"/>
              </a:spcBef>
              <a:spcAft>
                <a:spcPts val="0"/>
              </a:spcAft>
              <a:buNone/>
            </a:pPr>
            <a:r>
              <a:t/>
            </a:r>
            <a:endParaRPr sz="1800"/>
          </a:p>
          <a:p>
            <a:pPr indent="0" lvl="0" marL="0" rtl="0" algn="l">
              <a:spcBef>
                <a:spcPts val="1200"/>
              </a:spcBef>
              <a:spcAft>
                <a:spcPts val="0"/>
              </a:spcAft>
              <a:buNone/>
            </a:pPr>
            <a:r>
              <a:rPr lang="en-GB" sz="1800"/>
              <a:t>             </a:t>
            </a:r>
            <a:endParaRPr sz="1800"/>
          </a:p>
          <a:p>
            <a:pPr indent="0" lvl="0" marL="0" rtl="0" algn="l">
              <a:spcBef>
                <a:spcPts val="1200"/>
              </a:spcBef>
              <a:spcAft>
                <a:spcPts val="0"/>
              </a:spcAft>
              <a:buNone/>
            </a:pPr>
            <a:r>
              <a:t/>
            </a:r>
            <a:endParaRPr sz="1800"/>
          </a:p>
          <a:p>
            <a:pPr indent="0" lvl="0" marL="0" rtl="0" algn="l">
              <a:spcBef>
                <a:spcPts val="1200"/>
              </a:spcBef>
              <a:spcAft>
                <a:spcPts val="1200"/>
              </a:spcAft>
              <a:buNone/>
            </a:pPr>
            <a:r>
              <a:rPr lang="en-GB" sz="1800"/>
              <a:t> N </a:t>
            </a:r>
            <a:endParaRPr sz="1800"/>
          </a:p>
        </p:txBody>
      </p:sp>
      <p:sp>
        <p:nvSpPr>
          <p:cNvPr id="224" name="Google Shape;224;p26"/>
          <p:cNvSpPr/>
          <p:nvPr/>
        </p:nvSpPr>
        <p:spPr>
          <a:xfrm>
            <a:off x="1325700" y="1779425"/>
            <a:ext cx="506400" cy="348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5" name="Google Shape;225;p26"/>
          <p:cNvSpPr/>
          <p:nvPr/>
        </p:nvSpPr>
        <p:spPr>
          <a:xfrm>
            <a:off x="1325700" y="2718050"/>
            <a:ext cx="506400" cy="348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6" name="Google Shape;226;p26"/>
          <p:cNvSpPr/>
          <p:nvPr/>
        </p:nvSpPr>
        <p:spPr>
          <a:xfrm>
            <a:off x="1297500" y="3597600"/>
            <a:ext cx="506400" cy="348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7" name="Google Shape;227;p26"/>
          <p:cNvSpPr/>
          <p:nvPr/>
        </p:nvSpPr>
        <p:spPr>
          <a:xfrm>
            <a:off x="1269300" y="4477150"/>
            <a:ext cx="562800" cy="348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7"/>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REAL TIME EXAMPLES :</a:t>
            </a:r>
            <a:endParaRPr/>
          </a:p>
          <a:p>
            <a:pPr indent="0" lvl="0" marL="0" rtl="0" algn="l">
              <a:spcBef>
                <a:spcPts val="0"/>
              </a:spcBef>
              <a:spcAft>
                <a:spcPts val="0"/>
              </a:spcAft>
              <a:buNone/>
            </a:pPr>
            <a:r>
              <a:t/>
            </a:r>
            <a:endParaRPr/>
          </a:p>
        </p:txBody>
      </p:sp>
      <p:sp>
        <p:nvSpPr>
          <p:cNvPr id="233" name="Google Shape;233;p2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File:Manjeri town.jpg - Wikimedia Commons" id="234" name="Google Shape;234;p27"/>
          <p:cNvPicPr preferRelativeResize="0"/>
          <p:nvPr/>
        </p:nvPicPr>
        <p:blipFill>
          <a:blip r:embed="rId3">
            <a:alphaModFix/>
          </a:blip>
          <a:stretch>
            <a:fillRect/>
          </a:stretch>
        </p:blipFill>
        <p:spPr>
          <a:xfrm>
            <a:off x="801350" y="1567550"/>
            <a:ext cx="3770649" cy="3175276"/>
          </a:xfrm>
          <a:prstGeom prst="rect">
            <a:avLst/>
          </a:prstGeom>
          <a:noFill/>
          <a:ln>
            <a:noFill/>
          </a:ln>
        </p:spPr>
      </p:pic>
      <p:pic>
        <p:nvPicPr>
          <p:cNvPr descr="File:Central Park Theater (House of Prayer Church of God In Christ ..." id="235" name="Google Shape;235;p27"/>
          <p:cNvPicPr preferRelativeResize="0"/>
          <p:nvPr/>
        </p:nvPicPr>
        <p:blipFill>
          <a:blip r:embed="rId4">
            <a:alphaModFix/>
          </a:blip>
          <a:stretch>
            <a:fillRect/>
          </a:stretch>
        </p:blipFill>
        <p:spPr>
          <a:xfrm>
            <a:off x="5292075" y="1334913"/>
            <a:ext cx="3286426" cy="33764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CONCLUSION :</a:t>
            </a:r>
            <a:endParaRPr/>
          </a:p>
        </p:txBody>
      </p:sp>
      <p:sp>
        <p:nvSpPr>
          <p:cNvPr id="241" name="Google Shape;241;p28"/>
          <p:cNvSpPr txBox="1"/>
          <p:nvPr>
            <p:ph idx="1" type="body"/>
          </p:nvPr>
        </p:nvSpPr>
        <p:spPr>
          <a:xfrm>
            <a:off x="610025" y="1364950"/>
            <a:ext cx="4715700" cy="3778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GB" sz="1800"/>
              <a:t>The AI-based smart parking system using ESP32-CAM offers a smart, affordable, and scalable solution to modern urban parking challenges. By integrating AI with real-time image processing and IoT, the system enhances parking efficiency, reduces traffic congestion, and supports sustainable smart city development. With further improvements, it has the potential to revolutionize how we manage parking in public and private spaces.</a:t>
            </a:r>
            <a:endParaRPr sz="1800"/>
          </a:p>
        </p:txBody>
      </p:sp>
      <p:pic>
        <p:nvPicPr>
          <p:cNvPr descr="HD wallpaper: Toyota Supra Parking Lot HD, cars | Wallpaper Flare" id="242" name="Google Shape;242;p28"/>
          <p:cNvPicPr preferRelativeResize="0"/>
          <p:nvPr/>
        </p:nvPicPr>
        <p:blipFill>
          <a:blip r:embed="rId3">
            <a:alphaModFix/>
          </a:blip>
          <a:stretch>
            <a:fillRect/>
          </a:stretch>
        </p:blipFill>
        <p:spPr>
          <a:xfrm>
            <a:off x="5478125" y="1460250"/>
            <a:ext cx="3513475" cy="234231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Questions</a:t>
            </a:r>
            <a:endParaRPr/>
          </a:p>
        </p:txBody>
      </p:sp>
      <p:sp>
        <p:nvSpPr>
          <p:cNvPr id="248" name="Google Shape;248;p29"/>
          <p:cNvSpPr txBox="1"/>
          <p:nvPr>
            <p:ph idx="1" type="body"/>
          </p:nvPr>
        </p:nvSpPr>
        <p:spPr>
          <a:xfrm>
            <a:off x="1297500" y="1567550"/>
            <a:ext cx="7038900" cy="38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1. What challenges do you face while finding parking in busy areas?</a:t>
            </a:r>
            <a:endParaRPr/>
          </a:p>
          <a:p>
            <a:pPr indent="0" lvl="0" marL="0" rtl="0" algn="l">
              <a:spcBef>
                <a:spcPts val="1200"/>
              </a:spcBef>
              <a:spcAft>
                <a:spcPts val="0"/>
              </a:spcAft>
              <a:buNone/>
            </a:pPr>
            <a:r>
              <a:rPr lang="en-GB"/>
              <a:t>2. Have you ever used a smart parking system or app before?</a:t>
            </a:r>
            <a:endParaRPr/>
          </a:p>
          <a:p>
            <a:pPr indent="0" lvl="0" marL="0" rtl="0" algn="l">
              <a:spcBef>
                <a:spcPts val="1200"/>
              </a:spcBef>
              <a:spcAft>
                <a:spcPts val="0"/>
              </a:spcAft>
              <a:buNone/>
            </a:pPr>
            <a:r>
              <a:rPr lang="en-GB"/>
              <a:t>3. How do sensors detect the presence of a vehicle?</a:t>
            </a:r>
            <a:endParaRPr/>
          </a:p>
          <a:p>
            <a:pPr indent="0" lvl="0" marL="0" rtl="0" algn="l">
              <a:spcBef>
                <a:spcPts val="1200"/>
              </a:spcBef>
              <a:spcAft>
                <a:spcPts val="0"/>
              </a:spcAft>
              <a:buNone/>
            </a:pPr>
            <a:r>
              <a:rPr lang="en-GB"/>
              <a:t>4. Which communication method is best for real-time updates: Wi-Fi, Bluetooth, or RFID?</a:t>
            </a:r>
            <a:endParaRPr/>
          </a:p>
          <a:p>
            <a:pPr indent="0" lvl="0" marL="0" rtl="0" algn="l">
              <a:spcBef>
                <a:spcPts val="1200"/>
              </a:spcBef>
              <a:spcAft>
                <a:spcPts val="0"/>
              </a:spcAft>
              <a:buNone/>
            </a:pPr>
            <a:r>
              <a:rPr lang="en-GB"/>
              <a:t>5. What key feature would you want in a smart parking system?</a:t>
            </a:r>
            <a:endParaRPr/>
          </a:p>
          <a:p>
            <a:pPr indent="0" lvl="0" marL="0" rtl="0" algn="l">
              <a:spcBef>
                <a:spcPts val="1200"/>
              </a:spcBef>
              <a:spcAft>
                <a:spcPts val="0"/>
              </a:spcAft>
              <a:buNone/>
            </a:pPr>
            <a:r>
              <a:rPr lang="en-GB"/>
              <a:t>6. Do you think this system could work well in your city or area? Why or why not?</a:t>
            </a:r>
            <a:endParaRPr/>
          </a:p>
          <a:p>
            <a:pPr indent="0" lvl="0" marL="0" rtl="0" algn="l">
              <a:spcBef>
                <a:spcPts val="1200"/>
              </a:spcBef>
              <a:spcAft>
                <a:spcPts val="0"/>
              </a:spcAft>
              <a:buNone/>
            </a:pPr>
            <a:r>
              <a:rPr lang="en-GB"/>
              <a:t>7. How could AI improve the effectiveness of smart parking in the future?</a:t>
            </a:r>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54" name="Google Shape;254;p30"/>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descr="File:08 Thank you square sign - thank you message for social media ..." id="255" name="Google Shape;255;p30"/>
          <p:cNvPicPr preferRelativeResize="0"/>
          <p:nvPr/>
        </p:nvPicPr>
        <p:blipFill>
          <a:blip r:embed="rId3">
            <a:alphaModFix/>
          </a:blip>
          <a:stretch>
            <a:fillRect/>
          </a:stretch>
        </p:blipFill>
        <p:spPr>
          <a:xfrm>
            <a:off x="1229025" y="280675"/>
            <a:ext cx="7408973" cy="419807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